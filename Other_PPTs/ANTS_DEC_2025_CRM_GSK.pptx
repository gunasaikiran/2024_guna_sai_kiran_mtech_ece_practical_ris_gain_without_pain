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4"/>
  </p:sldMasterIdLst>
  <p:notesMasterIdLst>
    <p:notesMasterId r:id="rId18"/>
  </p:notesMasterIdLst>
  <p:handoutMasterIdLst>
    <p:handoutMasterId r:id="rId19"/>
  </p:handoutMasterIdLst>
  <p:sldIdLst>
    <p:sldId id="270" r:id="rId5"/>
    <p:sldId id="257" r:id="rId6"/>
    <p:sldId id="283" r:id="rId7"/>
    <p:sldId id="259" r:id="rId8"/>
    <p:sldId id="260" r:id="rId9"/>
    <p:sldId id="258" r:id="rId10"/>
    <p:sldId id="261" r:id="rId11"/>
    <p:sldId id="268" r:id="rId12"/>
    <p:sldId id="266" r:id="rId13"/>
    <p:sldId id="267" r:id="rId14"/>
    <p:sldId id="262" r:id="rId15"/>
    <p:sldId id="263" r:id="rId16"/>
    <p:sldId id="264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C00"/>
    <a:srgbClr val="12870F"/>
    <a:srgbClr val="0DC91F"/>
    <a:srgbClr val="66FF66"/>
    <a:srgbClr val="99FF99"/>
    <a:srgbClr val="0432FF"/>
    <a:srgbClr val="FFD579"/>
    <a:srgbClr val="8EFA00"/>
    <a:srgbClr val="FF0066"/>
    <a:srgbClr val="FF2F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96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3C2FFA5D-87B4-456A-9821-1D502468CF0F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3741" autoAdjust="0"/>
  </p:normalViewPr>
  <p:slideViewPr>
    <p:cSldViewPr snapToGrid="0">
      <p:cViewPr varScale="1">
        <p:scale>
          <a:sx n="66" d="100"/>
          <a:sy n="66" d="100"/>
        </p:scale>
        <p:origin x="66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ekkanti Guna Sai Kiran" userId="12e75ea2-504c-4df3-8e4d-70739fca4bb4" providerId="ADAL" clId="{F14B8772-CDEA-4B75-86D3-12F5A76B02A7}"/>
    <pc:docChg chg="undo custSel addSld delSld modSld sldOrd">
      <pc:chgData name="Nekkanti Guna Sai Kiran" userId="12e75ea2-504c-4df3-8e4d-70739fca4bb4" providerId="ADAL" clId="{F14B8772-CDEA-4B75-86D3-12F5A76B02A7}" dt="2025-12-13T14:19:30.556" v="366"/>
      <pc:docMkLst>
        <pc:docMk/>
      </pc:docMkLst>
      <pc:sldChg chg="modSp mod">
        <pc:chgData name="Nekkanti Guna Sai Kiran" userId="12e75ea2-504c-4df3-8e4d-70739fca4bb4" providerId="ADAL" clId="{F14B8772-CDEA-4B75-86D3-12F5A76B02A7}" dt="2025-12-13T13:46:59.086" v="9" actId="1076"/>
        <pc:sldMkLst>
          <pc:docMk/>
          <pc:sldMk cId="2094298288" sldId="257"/>
        </pc:sldMkLst>
        <pc:spChg chg="mod">
          <ac:chgData name="Nekkanti Guna Sai Kiran" userId="12e75ea2-504c-4df3-8e4d-70739fca4bb4" providerId="ADAL" clId="{F14B8772-CDEA-4B75-86D3-12F5A76B02A7}" dt="2025-12-13T13:46:59.086" v="9" actId="1076"/>
          <ac:spMkLst>
            <pc:docMk/>
            <pc:sldMk cId="2094298288" sldId="257"/>
            <ac:spMk id="17" creationId="{37AE2FAA-9446-5C5D-8EF3-D4579BE71E64}"/>
          </ac:spMkLst>
        </pc:spChg>
      </pc:sldChg>
      <pc:sldChg chg="addSp delSp modSp mod">
        <pc:chgData name="Nekkanti Guna Sai Kiran" userId="12e75ea2-504c-4df3-8e4d-70739fca4bb4" providerId="ADAL" clId="{F14B8772-CDEA-4B75-86D3-12F5A76B02A7}" dt="2025-12-13T14:18:14.388" v="356" actId="1076"/>
        <pc:sldMkLst>
          <pc:docMk/>
          <pc:sldMk cId="1348968837" sldId="260"/>
        </pc:sldMkLst>
        <pc:spChg chg="add mod">
          <ac:chgData name="Nekkanti Guna Sai Kiran" userId="12e75ea2-504c-4df3-8e4d-70739fca4bb4" providerId="ADAL" clId="{F14B8772-CDEA-4B75-86D3-12F5A76B02A7}" dt="2025-12-13T14:17:34.634" v="350" actId="1076"/>
          <ac:spMkLst>
            <pc:docMk/>
            <pc:sldMk cId="1348968837" sldId="260"/>
            <ac:spMk id="2" creationId="{7D8F6311-3021-996C-9606-B30768FFB5E7}"/>
          </ac:spMkLst>
        </pc:spChg>
        <pc:spChg chg="mod">
          <ac:chgData name="Nekkanti Guna Sai Kiran" userId="12e75ea2-504c-4df3-8e4d-70739fca4bb4" providerId="ADAL" clId="{F14B8772-CDEA-4B75-86D3-12F5A76B02A7}" dt="2025-12-13T14:17:41.042" v="351" actId="1076"/>
          <ac:spMkLst>
            <pc:docMk/>
            <pc:sldMk cId="1348968837" sldId="260"/>
            <ac:spMk id="4" creationId="{8E6B421D-7D0C-47EC-F070-B668FD4318FC}"/>
          </ac:spMkLst>
        </pc:spChg>
        <pc:spChg chg="add mod">
          <ac:chgData name="Nekkanti Guna Sai Kiran" userId="12e75ea2-504c-4df3-8e4d-70739fca4bb4" providerId="ADAL" clId="{F14B8772-CDEA-4B75-86D3-12F5A76B02A7}" dt="2025-12-13T14:11:40.244" v="321" actId="404"/>
          <ac:spMkLst>
            <pc:docMk/>
            <pc:sldMk cId="1348968837" sldId="260"/>
            <ac:spMk id="7" creationId="{23447307-A40E-0582-0BDF-D1B80873CEF0}"/>
          </ac:spMkLst>
        </pc:spChg>
        <pc:spChg chg="mod">
          <ac:chgData name="Nekkanti Guna Sai Kiran" userId="12e75ea2-504c-4df3-8e4d-70739fca4bb4" providerId="ADAL" clId="{F14B8772-CDEA-4B75-86D3-12F5A76B02A7}" dt="2025-12-13T14:11:12.531" v="317" actId="1076"/>
          <ac:spMkLst>
            <pc:docMk/>
            <pc:sldMk cId="1348968837" sldId="260"/>
            <ac:spMk id="9" creationId="{B06082C8-1AF1-30B4-F158-B3AE165177EE}"/>
          </ac:spMkLst>
        </pc:spChg>
        <pc:spChg chg="add del mod">
          <ac:chgData name="Nekkanti Guna Sai Kiran" userId="12e75ea2-504c-4df3-8e4d-70739fca4bb4" providerId="ADAL" clId="{F14B8772-CDEA-4B75-86D3-12F5A76B02A7}" dt="2025-12-13T14:07:56.108" v="265" actId="478"/>
          <ac:spMkLst>
            <pc:docMk/>
            <pc:sldMk cId="1348968837" sldId="260"/>
            <ac:spMk id="12" creationId="{AD9A97A6-C45A-9CF3-4031-44CFB8A7451E}"/>
          </ac:spMkLst>
        </pc:spChg>
        <pc:spChg chg="add del mod">
          <ac:chgData name="Nekkanti Guna Sai Kiran" userId="12e75ea2-504c-4df3-8e4d-70739fca4bb4" providerId="ADAL" clId="{F14B8772-CDEA-4B75-86D3-12F5A76B02A7}" dt="2025-12-13T14:09:00.791" v="273" actId="478"/>
          <ac:spMkLst>
            <pc:docMk/>
            <pc:sldMk cId="1348968837" sldId="260"/>
            <ac:spMk id="14" creationId="{B54B7320-B098-A069-50E0-ECA77F349FD3}"/>
          </ac:spMkLst>
        </pc:spChg>
        <pc:spChg chg="add mod">
          <ac:chgData name="Nekkanti Guna Sai Kiran" userId="12e75ea2-504c-4df3-8e4d-70739fca4bb4" providerId="ADAL" clId="{F14B8772-CDEA-4B75-86D3-12F5A76B02A7}" dt="2025-12-13T14:11:51.447" v="324" actId="404"/>
          <ac:spMkLst>
            <pc:docMk/>
            <pc:sldMk cId="1348968837" sldId="260"/>
            <ac:spMk id="16" creationId="{C3B73F0D-E284-4594-643F-2269057DC99D}"/>
          </ac:spMkLst>
        </pc:spChg>
        <pc:spChg chg="add del mod">
          <ac:chgData name="Nekkanti Guna Sai Kiran" userId="12e75ea2-504c-4df3-8e4d-70739fca4bb4" providerId="ADAL" clId="{F14B8772-CDEA-4B75-86D3-12F5A76B02A7}" dt="2025-12-13T14:16:08.150" v="328" actId="478"/>
          <ac:spMkLst>
            <pc:docMk/>
            <pc:sldMk cId="1348968837" sldId="260"/>
            <ac:spMk id="17" creationId="{3CC3A14E-AE60-BB8C-FD55-78604DD39CF8}"/>
          </ac:spMkLst>
        </pc:spChg>
        <pc:spChg chg="mod">
          <ac:chgData name="Nekkanti Guna Sai Kiran" userId="12e75ea2-504c-4df3-8e4d-70739fca4bb4" providerId="ADAL" clId="{F14B8772-CDEA-4B75-86D3-12F5A76B02A7}" dt="2025-12-13T14:11:14.590" v="318" actId="1076"/>
          <ac:spMkLst>
            <pc:docMk/>
            <pc:sldMk cId="1348968837" sldId="260"/>
            <ac:spMk id="18" creationId="{38D111DE-2F66-1041-F75D-F681B5BE0C97}"/>
          </ac:spMkLst>
        </pc:spChg>
        <pc:spChg chg="add del mod">
          <ac:chgData name="Nekkanti Guna Sai Kiran" userId="12e75ea2-504c-4df3-8e4d-70739fca4bb4" providerId="ADAL" clId="{F14B8772-CDEA-4B75-86D3-12F5A76B02A7}" dt="2025-12-13T14:17:23.712" v="347" actId="478"/>
          <ac:spMkLst>
            <pc:docMk/>
            <pc:sldMk cId="1348968837" sldId="260"/>
            <ac:spMk id="19" creationId="{96DE9EBF-02BB-D23B-546C-2CF061D0CD2E}"/>
          </ac:spMkLst>
        </pc:spChg>
        <pc:spChg chg="mod">
          <ac:chgData name="Nekkanti Guna Sai Kiran" userId="12e75ea2-504c-4df3-8e4d-70739fca4bb4" providerId="ADAL" clId="{F14B8772-CDEA-4B75-86D3-12F5A76B02A7}" dt="2025-12-13T14:18:14.388" v="356" actId="1076"/>
          <ac:spMkLst>
            <pc:docMk/>
            <pc:sldMk cId="1348968837" sldId="260"/>
            <ac:spMk id="28" creationId="{F4603C7D-1B84-B550-A5E5-D07FAD50B6E1}"/>
          </ac:spMkLst>
        </pc:spChg>
        <pc:spChg chg="mod">
          <ac:chgData name="Nekkanti Guna Sai Kiran" userId="12e75ea2-504c-4df3-8e4d-70739fca4bb4" providerId="ADAL" clId="{F14B8772-CDEA-4B75-86D3-12F5A76B02A7}" dt="2025-12-13T14:18:09.590" v="355" actId="1076"/>
          <ac:spMkLst>
            <pc:docMk/>
            <pc:sldMk cId="1348968837" sldId="260"/>
            <ac:spMk id="29" creationId="{8814A4D9-DC89-190E-37DF-59AE41E30C15}"/>
          </ac:spMkLst>
        </pc:spChg>
        <pc:spChg chg="mod">
          <ac:chgData name="Nekkanti Guna Sai Kiran" userId="12e75ea2-504c-4df3-8e4d-70739fca4bb4" providerId="ADAL" clId="{F14B8772-CDEA-4B75-86D3-12F5A76B02A7}" dt="2025-12-13T14:18:00.228" v="354" actId="113"/>
          <ac:spMkLst>
            <pc:docMk/>
            <pc:sldMk cId="1348968837" sldId="260"/>
            <ac:spMk id="31" creationId="{6044E602-5BD2-D3BB-1769-6045E120EA63}"/>
          </ac:spMkLst>
        </pc:spChg>
        <pc:spChg chg="mod">
          <ac:chgData name="Nekkanti Guna Sai Kiran" userId="12e75ea2-504c-4df3-8e4d-70739fca4bb4" providerId="ADAL" clId="{F14B8772-CDEA-4B75-86D3-12F5A76B02A7}" dt="2025-12-13T14:17:31.309" v="349" actId="1076"/>
          <ac:spMkLst>
            <pc:docMk/>
            <pc:sldMk cId="1348968837" sldId="260"/>
            <ac:spMk id="33" creationId="{00B53F08-1204-F409-DE34-C7E3F4F611B7}"/>
          </ac:spMkLst>
        </pc:spChg>
        <pc:spChg chg="mod">
          <ac:chgData name="Nekkanti Guna Sai Kiran" userId="12e75ea2-504c-4df3-8e4d-70739fca4bb4" providerId="ADAL" clId="{F14B8772-CDEA-4B75-86D3-12F5A76B02A7}" dt="2025-12-13T14:10:26.919" v="302" actId="1076"/>
          <ac:spMkLst>
            <pc:docMk/>
            <pc:sldMk cId="1348968837" sldId="260"/>
            <ac:spMk id="43" creationId="{56B83131-0272-098F-C6D3-204B7CDD9522}"/>
          </ac:spMkLst>
        </pc:spChg>
        <pc:spChg chg="mod">
          <ac:chgData name="Nekkanti Guna Sai Kiran" userId="12e75ea2-504c-4df3-8e4d-70739fca4bb4" providerId="ADAL" clId="{F14B8772-CDEA-4B75-86D3-12F5A76B02A7}" dt="2025-12-13T14:10:34.618" v="304" actId="1076"/>
          <ac:spMkLst>
            <pc:docMk/>
            <pc:sldMk cId="1348968837" sldId="260"/>
            <ac:spMk id="45" creationId="{B772FF4C-6523-1308-C421-6464F38E7655}"/>
          </ac:spMkLst>
        </pc:spChg>
        <pc:picChg chg="del mod">
          <ac:chgData name="Nekkanti Guna Sai Kiran" userId="12e75ea2-504c-4df3-8e4d-70739fca4bb4" providerId="ADAL" clId="{F14B8772-CDEA-4B75-86D3-12F5A76B02A7}" dt="2025-12-13T14:04:41.992" v="217" actId="478"/>
          <ac:picMkLst>
            <pc:docMk/>
            <pc:sldMk cId="1348968837" sldId="260"/>
            <ac:picMk id="39" creationId="{7A8B197F-B21D-B1BA-1891-485833869433}"/>
          </ac:picMkLst>
        </pc:picChg>
        <pc:picChg chg="del">
          <ac:chgData name="Nekkanti Guna Sai Kiran" userId="12e75ea2-504c-4df3-8e4d-70739fca4bb4" providerId="ADAL" clId="{F14B8772-CDEA-4B75-86D3-12F5A76B02A7}" dt="2025-12-13T14:04:56.683" v="218" actId="478"/>
          <ac:picMkLst>
            <pc:docMk/>
            <pc:sldMk cId="1348968837" sldId="260"/>
            <ac:picMk id="41" creationId="{EEDDA0DE-7237-035F-B6A0-400A111902BB}"/>
          </ac:picMkLst>
        </pc:picChg>
        <pc:picChg chg="del">
          <ac:chgData name="Nekkanti Guna Sai Kiran" userId="12e75ea2-504c-4df3-8e4d-70739fca4bb4" providerId="ADAL" clId="{F14B8772-CDEA-4B75-86D3-12F5A76B02A7}" dt="2025-12-13T14:06:58.743" v="239" actId="478"/>
          <ac:picMkLst>
            <pc:docMk/>
            <pc:sldMk cId="1348968837" sldId="260"/>
            <ac:picMk id="47" creationId="{59167F4B-46A7-7257-B382-D0DAF2108DAA}"/>
          </ac:picMkLst>
        </pc:picChg>
      </pc:sldChg>
      <pc:sldChg chg="delSp modSp del mod">
        <pc:chgData name="Nekkanti Guna Sai Kiran" userId="12e75ea2-504c-4df3-8e4d-70739fca4bb4" providerId="ADAL" clId="{F14B8772-CDEA-4B75-86D3-12F5A76B02A7}" dt="2025-12-13T13:52:41.031" v="33" actId="47"/>
        <pc:sldMkLst>
          <pc:docMk/>
          <pc:sldMk cId="2743345463" sldId="281"/>
        </pc:sldMkLst>
        <pc:spChg chg="del">
          <ac:chgData name="Nekkanti Guna Sai Kiran" userId="12e75ea2-504c-4df3-8e4d-70739fca4bb4" providerId="ADAL" clId="{F14B8772-CDEA-4B75-86D3-12F5A76B02A7}" dt="2025-12-13T13:52:29.910" v="29" actId="21"/>
          <ac:spMkLst>
            <pc:docMk/>
            <pc:sldMk cId="2743345463" sldId="281"/>
            <ac:spMk id="8" creationId="{B479A3A0-4C32-CAC0-B66B-4D99B4CBA8E3}"/>
          </ac:spMkLst>
        </pc:spChg>
        <pc:picChg chg="del mod">
          <ac:chgData name="Nekkanti Guna Sai Kiran" userId="12e75ea2-504c-4df3-8e4d-70739fca4bb4" providerId="ADAL" clId="{F14B8772-CDEA-4B75-86D3-12F5A76B02A7}" dt="2025-12-13T13:52:35.479" v="31" actId="21"/>
          <ac:picMkLst>
            <pc:docMk/>
            <pc:sldMk cId="2743345463" sldId="281"/>
            <ac:picMk id="4" creationId="{97328032-A7F3-C1C7-D2D7-E09801B3AB78}"/>
          </ac:picMkLst>
        </pc:picChg>
        <pc:picChg chg="del mod">
          <ac:chgData name="Nekkanti Guna Sai Kiran" userId="12e75ea2-504c-4df3-8e4d-70739fca4bb4" providerId="ADAL" clId="{F14B8772-CDEA-4B75-86D3-12F5A76B02A7}" dt="2025-12-13T13:52:35.479" v="31" actId="21"/>
          <ac:picMkLst>
            <pc:docMk/>
            <pc:sldMk cId="2743345463" sldId="281"/>
            <ac:picMk id="6" creationId="{01B01D1B-9301-730E-ECB8-D8F9A91E9DE1}"/>
          </ac:picMkLst>
        </pc:picChg>
        <pc:cxnChg chg="del">
          <ac:chgData name="Nekkanti Guna Sai Kiran" userId="12e75ea2-504c-4df3-8e4d-70739fca4bb4" providerId="ADAL" clId="{F14B8772-CDEA-4B75-86D3-12F5A76B02A7}" dt="2025-12-13T13:52:29.910" v="29" actId="21"/>
          <ac:cxnSpMkLst>
            <pc:docMk/>
            <pc:sldMk cId="2743345463" sldId="281"/>
            <ac:cxnSpMk id="10" creationId="{DA9DB692-E6D2-5347-50EB-4BE8AC4AF303}"/>
          </ac:cxnSpMkLst>
        </pc:cxnChg>
      </pc:sldChg>
      <pc:sldChg chg="addSp delSp modSp add mod ord delAnim modAnim">
        <pc:chgData name="Nekkanti Guna Sai Kiran" userId="12e75ea2-504c-4df3-8e4d-70739fca4bb4" providerId="ADAL" clId="{F14B8772-CDEA-4B75-86D3-12F5A76B02A7}" dt="2025-12-13T14:19:30.556" v="366"/>
        <pc:sldMkLst>
          <pc:docMk/>
          <pc:sldMk cId="1891597699" sldId="282"/>
        </pc:sldMkLst>
        <pc:spChg chg="mod">
          <ac:chgData name="Nekkanti Guna Sai Kiran" userId="12e75ea2-504c-4df3-8e4d-70739fca4bb4" providerId="ADAL" clId="{F14B8772-CDEA-4B75-86D3-12F5A76B02A7}" dt="2025-12-13T13:45:50.627" v="3" actId="20577"/>
          <ac:spMkLst>
            <pc:docMk/>
            <pc:sldMk cId="1891597699" sldId="282"/>
            <ac:spMk id="2" creationId="{E06983BA-8CF1-8D17-6198-96003428A7AF}"/>
          </ac:spMkLst>
        </pc:spChg>
        <pc:picChg chg="del">
          <ac:chgData name="Nekkanti Guna Sai Kiran" userId="12e75ea2-504c-4df3-8e4d-70739fca4bb4" providerId="ADAL" clId="{F14B8772-CDEA-4B75-86D3-12F5A76B02A7}" dt="2025-12-13T13:45:42.217" v="1" actId="478"/>
          <ac:picMkLst>
            <pc:docMk/>
            <pc:sldMk cId="1891597699" sldId="282"/>
            <ac:picMk id="4" creationId="{B6D493CF-C090-A0E0-0164-597DCFC92B20}"/>
          </ac:picMkLst>
        </pc:picChg>
        <pc:picChg chg="add mod">
          <ac:chgData name="Nekkanti Guna Sai Kiran" userId="12e75ea2-504c-4df3-8e4d-70739fca4bb4" providerId="ADAL" clId="{F14B8772-CDEA-4B75-86D3-12F5A76B02A7}" dt="2025-12-13T14:19:20.132" v="364" actId="14100"/>
          <ac:picMkLst>
            <pc:docMk/>
            <pc:sldMk cId="1891597699" sldId="282"/>
            <ac:picMk id="5" creationId="{989D48AD-CEC7-BDD1-57DD-DC9EAEDDB527}"/>
          </ac:picMkLst>
        </pc:picChg>
      </pc:sldChg>
      <pc:sldChg chg="add del ord">
        <pc:chgData name="Nekkanti Guna Sai Kiran" userId="12e75ea2-504c-4df3-8e4d-70739fca4bb4" providerId="ADAL" clId="{F14B8772-CDEA-4B75-86D3-12F5A76B02A7}" dt="2025-12-13T13:52:17.913" v="25" actId="47"/>
        <pc:sldMkLst>
          <pc:docMk/>
          <pc:sldMk cId="3014688440" sldId="283"/>
        </pc:sldMkLst>
      </pc:sldChg>
      <pc:sldChg chg="addSp modSp new mod ord">
        <pc:chgData name="Nekkanti Guna Sai Kiran" userId="12e75ea2-504c-4df3-8e4d-70739fca4bb4" providerId="ADAL" clId="{F14B8772-CDEA-4B75-86D3-12F5A76B02A7}" dt="2025-12-13T13:53:04.262" v="41" actId="1076"/>
        <pc:sldMkLst>
          <pc:docMk/>
          <pc:sldMk cId="3434323272" sldId="283"/>
        </pc:sldMkLst>
        <pc:spChg chg="add mod">
          <ac:chgData name="Nekkanti Guna Sai Kiran" userId="12e75ea2-504c-4df3-8e4d-70739fca4bb4" providerId="ADAL" clId="{F14B8772-CDEA-4B75-86D3-12F5A76B02A7}" dt="2025-12-13T13:52:31.816" v="30"/>
          <ac:spMkLst>
            <pc:docMk/>
            <pc:sldMk cId="3434323272" sldId="283"/>
            <ac:spMk id="8" creationId="{B479A3A0-4C32-CAC0-B66B-4D99B4CBA8E3}"/>
          </ac:spMkLst>
        </pc:spChg>
        <pc:picChg chg="add mod">
          <ac:chgData name="Nekkanti Guna Sai Kiran" userId="12e75ea2-504c-4df3-8e4d-70739fca4bb4" providerId="ADAL" clId="{F14B8772-CDEA-4B75-86D3-12F5A76B02A7}" dt="2025-12-13T13:52:59.203" v="40" actId="1076"/>
          <ac:picMkLst>
            <pc:docMk/>
            <pc:sldMk cId="3434323272" sldId="283"/>
            <ac:picMk id="4" creationId="{97328032-A7F3-C1C7-D2D7-E09801B3AB78}"/>
          </ac:picMkLst>
        </pc:picChg>
        <pc:picChg chg="add mod">
          <ac:chgData name="Nekkanti Guna Sai Kiran" userId="12e75ea2-504c-4df3-8e4d-70739fca4bb4" providerId="ADAL" clId="{F14B8772-CDEA-4B75-86D3-12F5A76B02A7}" dt="2025-12-13T13:53:04.262" v="41" actId="1076"/>
          <ac:picMkLst>
            <pc:docMk/>
            <pc:sldMk cId="3434323272" sldId="283"/>
            <ac:picMk id="6" creationId="{01B01D1B-9301-730E-ECB8-D8F9A91E9DE1}"/>
          </ac:picMkLst>
        </pc:picChg>
        <pc:cxnChg chg="add mod">
          <ac:chgData name="Nekkanti Guna Sai Kiran" userId="12e75ea2-504c-4df3-8e4d-70739fca4bb4" providerId="ADAL" clId="{F14B8772-CDEA-4B75-86D3-12F5A76B02A7}" dt="2025-12-13T13:52:31.816" v="30"/>
          <ac:cxnSpMkLst>
            <pc:docMk/>
            <pc:sldMk cId="3434323272" sldId="283"/>
            <ac:cxnSpMk id="10" creationId="{DA9DB692-E6D2-5347-50EB-4BE8AC4AF303}"/>
          </ac:cxnSpMkLst>
        </pc:cxn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D81DDF-98D4-498E-A94D-DDD7A807AD4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91BFCE-55A1-4C09-B4B5-9359AD6F4DF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E4FA28-26D5-4BDF-9A75-C27596ADE055}" type="datetimeFigureOut">
              <a:rPr lang="en-US" smtClean="0"/>
              <a:t>6/5/2026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EEB1F3-97EE-4F0D-B402-E34820EC684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54877F-A04A-4D6A-A0A8-95CC6E2D2A3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507CFE-5866-4B40-8953-42375E9B5DB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525077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FE1D6F-8584-4A53-833D-DCA47225B220}" type="datetimeFigureOut">
              <a:rPr lang="en-US" smtClean="0"/>
              <a:t>6/5/2026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F3874D-A20A-4B3E-9C12-F524953D5B7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530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E20E72-56A1-8488-CF66-41F080F90E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DA2BBF-B6A2-645B-E6B8-C5C70E96CD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A7747B-8E44-7520-7997-02B2103C3C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41134D-F373-3EED-59B1-419F230908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F3874D-A20A-4B3E-9C12-F524953D5B76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23111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F3874D-A20A-4B3E-9C12-F524953D5B76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99729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Universal Software Radio Peripherals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F3874D-A20A-4B3E-9C12-F524953D5B76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93644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F3874D-A20A-4B3E-9C12-F524953D5B76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2836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77464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77464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913821" y="6370429"/>
            <a:ext cx="3500715" cy="309201"/>
          </a:xfrm>
        </p:spPr>
        <p:txBody>
          <a:bodyPr/>
          <a:lstStyle/>
          <a:p>
            <a:fld id="{2D202488-4139-4052-B998-251C9C912739}" type="datetimeFigureOut">
              <a:rPr lang="en-US" noProof="0" smtClean="0"/>
              <a:t>6/5/2026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77464" y="6370430"/>
            <a:ext cx="4973915" cy="309201"/>
          </a:xfrm>
        </p:spPr>
        <p:txBody>
          <a:bodyPr/>
          <a:lstStyle/>
          <a:p>
            <a:r>
              <a:rPr lang="en-US" noProof="0" dirty="0"/>
              <a:t>Add Footer Here</a:t>
            </a:r>
          </a:p>
        </p:txBody>
      </p:sp>
      <p:cxnSp>
        <p:nvCxnSpPr>
          <p:cNvPr id="15" name="Straight Connector 14"/>
          <p:cNvCxnSpPr/>
          <p:nvPr/>
        </p:nvCxnSpPr>
        <p:spPr>
          <a:xfrm>
            <a:off x="1777464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64004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02488-4139-4052-B998-251C9C912739}" type="datetimeFigureOut">
              <a:rPr lang="en-US" noProof="0" smtClean="0"/>
              <a:t>6/5/2026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Footer Here</a:t>
            </a:r>
          </a:p>
        </p:txBody>
      </p:sp>
      <p:cxnSp>
        <p:nvCxnSpPr>
          <p:cNvPr id="33" name="Straight Connector 32"/>
          <p:cNvCxnSpPr/>
          <p:nvPr/>
        </p:nvCxnSpPr>
        <p:spPr>
          <a:xfrm>
            <a:off x="1292239" y="1486603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6" name="Title 5">
            <a:extLst>
              <a:ext uri="{FF2B5EF4-FFF2-40B4-BE49-F238E27FC236}">
                <a16:creationId xmlns:a16="http://schemas.microsoft.com/office/drawing/2014/main" id="{C414FF1F-6558-4E39-87DB-276E44F547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68886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4423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0777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02488-4139-4052-B998-251C9C912739}" type="datetimeFigureOut">
              <a:rPr lang="en-US" noProof="0" smtClean="0"/>
              <a:t>6/5/2026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Footer Here</a:t>
            </a:r>
          </a:p>
        </p:txBody>
      </p:sp>
      <p:cxnSp>
        <p:nvCxnSpPr>
          <p:cNvPr id="15" name="Straight Connector 14"/>
          <p:cNvCxnSpPr/>
          <p:nvPr/>
        </p:nvCxnSpPr>
        <p:spPr>
          <a:xfrm>
            <a:off x="1780777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01365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2239" y="2161853"/>
            <a:ext cx="4645152" cy="3448595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58679" y="2168318"/>
            <a:ext cx="4645152" cy="344152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02488-4139-4052-B998-251C9C912739}" type="datetimeFigureOut">
              <a:rPr lang="en-US" noProof="0" smtClean="0"/>
              <a:t>6/5/2026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Footer Here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715607D-9DE2-4687-AAF8-EF2427252A90}"/>
              </a:ext>
            </a:extLst>
          </p:cNvPr>
          <p:cNvCxnSpPr/>
          <p:nvPr userDrawn="1"/>
        </p:nvCxnSpPr>
        <p:spPr>
          <a:xfrm>
            <a:off x="1292239" y="1486603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2F96D46B-C1B8-46AB-87DF-61A8058B1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77504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87315" y="1950795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87315" y="2755515"/>
            <a:ext cx="4645152" cy="264445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52486" y="1954249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52486" y="2752737"/>
            <a:ext cx="4645152" cy="2637371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02488-4139-4052-B998-251C9C912739}" type="datetimeFigureOut">
              <a:rPr lang="en-US" noProof="0" smtClean="0"/>
              <a:t>6/5/2026</a:t>
            </a:fld>
            <a:endParaRPr lang="en-US" noProof="0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Footer Here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384AA55-1960-47F4-BA3C-E97A6F2D0B19}"/>
              </a:ext>
            </a:extLst>
          </p:cNvPr>
          <p:cNvCxnSpPr/>
          <p:nvPr userDrawn="1"/>
        </p:nvCxnSpPr>
        <p:spPr>
          <a:xfrm>
            <a:off x="1292239" y="1486603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9" name="Title 8">
            <a:extLst>
              <a:ext uri="{FF2B5EF4-FFF2-40B4-BE49-F238E27FC236}">
                <a16:creationId xmlns:a16="http://schemas.microsoft.com/office/drawing/2014/main" id="{09471694-1220-4CFC-A31F-622E5D3DE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817494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02488-4139-4052-B998-251C9C912739}" type="datetimeFigureOut">
              <a:rPr lang="en-US" noProof="0" smtClean="0"/>
              <a:t>6/5/2026</a:t>
            </a:fld>
            <a:endParaRPr lang="en-US" noProof="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Footer Here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B55B52-B62C-4800-AAC1-B15AF2FE1F45}"/>
              </a:ext>
            </a:extLst>
          </p:cNvPr>
          <p:cNvCxnSpPr/>
          <p:nvPr userDrawn="1"/>
        </p:nvCxnSpPr>
        <p:spPr>
          <a:xfrm>
            <a:off x="1292239" y="1486603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" name="Title 4">
            <a:extLst>
              <a:ext uri="{FF2B5EF4-FFF2-40B4-BE49-F238E27FC236}">
                <a16:creationId xmlns:a16="http://schemas.microsoft.com/office/drawing/2014/main" id="{3DF0054B-B64C-418E-A1B8-428EE4A1D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539550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02488-4139-4052-B998-251C9C912739}" type="datetimeFigureOut">
              <a:rPr lang="en-US" noProof="0" smtClean="0"/>
              <a:t>6/5/2026</a:t>
            </a:fld>
            <a:endParaRPr lang="en-US" noProof="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Footer Here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B55B52-B62C-4800-AAC1-B15AF2FE1F45}"/>
              </a:ext>
            </a:extLst>
          </p:cNvPr>
          <p:cNvCxnSpPr/>
          <p:nvPr userDrawn="1"/>
        </p:nvCxnSpPr>
        <p:spPr>
          <a:xfrm>
            <a:off x="1292239" y="1486603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" name="Title 4">
            <a:extLst>
              <a:ext uri="{FF2B5EF4-FFF2-40B4-BE49-F238E27FC236}">
                <a16:creationId xmlns:a16="http://schemas.microsoft.com/office/drawing/2014/main" id="{3DF0054B-B64C-418E-A1B8-428EE4A1D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5A680F6-C147-410B-94DF-19850752D7D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694656" y="1865037"/>
            <a:ext cx="8802688" cy="3127927"/>
          </a:xfrm>
        </p:spPr>
        <p:txBody>
          <a:bodyPr anchor="ctr">
            <a:normAutofit/>
          </a:bodyPr>
          <a:lstStyle>
            <a:lvl1pPr marL="0" indent="0" algn="ctr">
              <a:buNone/>
              <a:defRPr sz="6000"/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102423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02488-4139-4052-B998-251C9C912739}" type="datetimeFigureOut">
              <a:rPr lang="en-US" noProof="0" smtClean="0"/>
              <a:t>6/5/2026</a:t>
            </a:fld>
            <a:endParaRPr lang="en-US" noProof="0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Footer Here </a:t>
            </a:r>
          </a:p>
        </p:txBody>
      </p:sp>
    </p:spTree>
    <p:extLst>
      <p:ext uri="{BB962C8B-B14F-4D97-AF65-F5344CB8AC3E}">
        <p14:creationId xmlns:p14="http://schemas.microsoft.com/office/powerpoint/2010/main" val="37712456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95246" y="1645522"/>
            <a:ext cx="5807176" cy="3840852"/>
          </a:xfrm>
        </p:spPr>
        <p:txBody>
          <a:bodyPr anchor="ctr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0909" y="1645522"/>
            <a:ext cx="3600000" cy="3836725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02488-4139-4052-B998-251C9C912739}" type="datetimeFigureOut">
              <a:rPr lang="en-US" noProof="0" smtClean="0"/>
              <a:t>6/5/2026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Footer Here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CC09F73-0AD6-4A1E-A331-75A00B808982}"/>
              </a:ext>
            </a:extLst>
          </p:cNvPr>
          <p:cNvCxnSpPr/>
          <p:nvPr userDrawn="1"/>
        </p:nvCxnSpPr>
        <p:spPr>
          <a:xfrm>
            <a:off x="1292239" y="1486603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1B74F78C-6D32-47C3-ABB2-6E7092A9C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816539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Gallery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00394" y="3128470"/>
            <a:ext cx="3024000" cy="1906565"/>
          </a:xfrm>
        </p:spPr>
        <p:txBody>
          <a:bodyPr anchor="ctr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873638" y="5144980"/>
            <a:ext cx="3036438" cy="807405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02488-4139-4052-B998-251C9C912739}" type="datetimeFigureOut">
              <a:rPr lang="en-US" noProof="0" smtClean="0"/>
              <a:t>6/5/2026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Footer Here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CC09F73-0AD6-4A1E-A331-75A00B808982}"/>
              </a:ext>
            </a:extLst>
          </p:cNvPr>
          <p:cNvCxnSpPr/>
          <p:nvPr userDrawn="1"/>
        </p:nvCxnSpPr>
        <p:spPr>
          <a:xfrm>
            <a:off x="1292239" y="1486603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DE9A20D-024F-4A17-9B20-526AA4037253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4602108" y="3128470"/>
            <a:ext cx="3024000" cy="1906565"/>
          </a:xfrm>
        </p:spPr>
        <p:txBody>
          <a:bodyPr anchor="ctr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37D8F60F-F9DD-4AAC-BF28-C004CCDF2D69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7873638" y="3128470"/>
            <a:ext cx="3024000" cy="1906565"/>
          </a:xfrm>
        </p:spPr>
        <p:txBody>
          <a:bodyPr anchor="ctr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8F09FDD8-5B1C-4AAA-8EEC-0A77C9E477D1}"/>
              </a:ext>
            </a:extLst>
          </p:cNvPr>
          <p:cNvSpPr>
            <a:spLocks noGrp="1"/>
          </p:cNvSpPr>
          <p:nvPr>
            <p:ph type="body" sz="half" idx="14"/>
          </p:nvPr>
        </p:nvSpPr>
        <p:spPr>
          <a:xfrm>
            <a:off x="4595889" y="5144979"/>
            <a:ext cx="3036438" cy="807405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E6DF0B7E-E17E-4875-966D-4DE67F755B71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1306587" y="5144978"/>
            <a:ext cx="3036438" cy="807405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685D963-B130-47E9-AFCC-AEBED2B1155B}"/>
              </a:ext>
            </a:extLst>
          </p:cNvPr>
          <p:cNvCxnSpPr>
            <a:cxnSpLocks/>
          </p:cNvCxnSpPr>
          <p:nvPr userDrawn="1"/>
        </p:nvCxnSpPr>
        <p:spPr>
          <a:xfrm>
            <a:off x="4484077" y="5144978"/>
            <a:ext cx="0" cy="807405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FA9B6CF-713A-4942-BE35-A61AFCDDFD3D}"/>
              </a:ext>
            </a:extLst>
          </p:cNvPr>
          <p:cNvCxnSpPr>
            <a:cxnSpLocks/>
          </p:cNvCxnSpPr>
          <p:nvPr userDrawn="1"/>
        </p:nvCxnSpPr>
        <p:spPr>
          <a:xfrm>
            <a:off x="7757747" y="5144978"/>
            <a:ext cx="0" cy="807405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93809A32-C7A4-4739-994B-BE492F855AC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90908" y="1617663"/>
            <a:ext cx="9618391" cy="1336675"/>
          </a:xfrm>
        </p:spPr>
        <p:txBody>
          <a:bodyPr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C1ABD52-D5FE-4FC2-8449-5DA0E52853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427037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dirty="0"/>
            </a:p>
          </p:txBody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6069" y="6332578"/>
            <a:ext cx="4315852" cy="320123"/>
          </a:xfrm>
        </p:spPr>
        <p:txBody>
          <a:bodyPr/>
          <a:lstStyle>
            <a:lvl1pPr algn="r">
              <a:defRPr/>
            </a:lvl1pPr>
          </a:lstStyle>
          <a:p>
            <a:fld id="{2D202488-4139-4052-B998-251C9C912739}" type="datetimeFigureOut">
              <a:rPr lang="en-US" noProof="0" smtClean="0"/>
              <a:pPr/>
              <a:t>6/5/2026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6332578"/>
            <a:ext cx="5541004" cy="320931"/>
          </a:xfrm>
        </p:spPr>
        <p:txBody>
          <a:bodyPr/>
          <a:lstStyle/>
          <a:p>
            <a:r>
              <a:rPr lang="en-US" noProof="0" dirty="0"/>
              <a:t>Add Footer Here</a:t>
            </a:r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15891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microsoft.com/office/2007/relationships/hdphoto" Target="../media/hdphoto1.wdp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blipFill dpi="0" rotWithShape="1">
          <a:blip r:embed="rId13" cstate="screen">
            <a:alphaModFix amt="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4" cstate="screen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b="-1562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4363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4363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96923" y="6340793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fld id="{2D202488-4139-4052-B998-251C9C912739}" type="datetimeFigureOut">
              <a:rPr lang="en-US" noProof="0" smtClean="0"/>
              <a:pPr/>
              <a:t>6/5/2026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4364" y="6339730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Add Footer Here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7587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7" r:id="rId7"/>
    <p:sldLayoutId id="2147483691" r:id="rId8"/>
    <p:sldLayoutId id="2147483692" r:id="rId9"/>
    <p:sldLayoutId id="2147483696" r:id="rId10"/>
    <p:sldLayoutId id="214748369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20176D-8EC9-F643-D96D-4B5C69DD3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09E56-719C-7309-390B-CC0192F103B3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468929" y="2355266"/>
            <a:ext cx="11020425" cy="2073275"/>
          </a:xfrm>
        </p:spPr>
        <p:txBody>
          <a:bodyPr>
            <a:noAutofit/>
          </a:bodyPr>
          <a:lstStyle/>
          <a:p>
            <a:pPr algn="ctr"/>
            <a:r>
              <a:rPr lang="en-US" sz="3800" dirty="0"/>
              <a:t>DEMO: Practical RIS Gain without the Pain: Randomization and Opportunistic Scheduling in 5G NR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DD73592-AF29-DAA3-4FD7-6EE746DDB058}"/>
              </a:ext>
            </a:extLst>
          </p:cNvPr>
          <p:cNvCxnSpPr>
            <a:cxnSpLocks/>
          </p:cNvCxnSpPr>
          <p:nvPr/>
        </p:nvCxnSpPr>
        <p:spPr>
          <a:xfrm>
            <a:off x="583861" y="4141551"/>
            <a:ext cx="10530038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0AE2DCC2-89C7-8C8F-AD2F-08FBC02ACFA0}"/>
              </a:ext>
            </a:extLst>
          </p:cNvPr>
          <p:cNvSpPr txBox="1"/>
          <p:nvPr/>
        </p:nvSpPr>
        <p:spPr>
          <a:xfrm>
            <a:off x="3886011" y="4345979"/>
            <a:ext cx="49473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Guna Sai Kiran Nekkanti</a:t>
            </a:r>
            <a:endParaRPr lang="en-IN" sz="2400" b="1" dirty="0">
              <a:solidFill>
                <a:schemeClr val="accent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69BBCAC-CEBD-7795-70B3-08D4299C88FA}"/>
              </a:ext>
            </a:extLst>
          </p:cNvPr>
          <p:cNvSpPr txBox="1"/>
          <p:nvPr/>
        </p:nvSpPr>
        <p:spPr>
          <a:xfrm>
            <a:off x="159994" y="4988693"/>
            <a:ext cx="11638297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dirty="0">
                <a:latin typeface="Times New Roman"/>
                <a:cs typeface="Times New Roman"/>
              </a:rPr>
              <a:t>Joint work with: </a:t>
            </a:r>
            <a:r>
              <a:rPr lang="en-US" b="1" dirty="0">
                <a:solidFill>
                  <a:schemeClr val="accent1"/>
                </a:solidFill>
                <a:latin typeface="Times New Roman"/>
                <a:cs typeface="Times New Roman"/>
              </a:rPr>
              <a:t>L. Yashvanth, Raju Malleboina, Venkatareddy Akumalla, </a:t>
            </a:r>
          </a:p>
          <a:p>
            <a:pPr algn="ctr"/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Prof. Debdeep Sarkar, Prof. Chandra R. Murthy</a:t>
            </a:r>
            <a:endParaRPr lang="en-IN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2ADCACE-8855-CD50-D44F-7D53E11050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378" y="81814"/>
            <a:ext cx="1722923" cy="172292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8E1FD6F-7E1F-25C6-75F3-525372B2DC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33860" y="306134"/>
            <a:ext cx="3558139" cy="1086722"/>
          </a:xfrm>
          <a:prstGeom prst="rect">
            <a:avLst/>
          </a:prstGeom>
        </p:spPr>
      </p:pic>
      <p:sp>
        <p:nvSpPr>
          <p:cNvPr id="5" name="AutoShape 2" descr="IEEE ANTS 2025| IEEE International Conference on Advanced Networks and  Telecommunications Systems | 15–18 December 2025 // Delhi, India">
            <a:extLst>
              <a:ext uri="{FF2B5EF4-FFF2-40B4-BE49-F238E27FC236}">
                <a16:creationId xmlns:a16="http://schemas.microsoft.com/office/drawing/2014/main" id="{54697621-65EF-85EF-BD67-B00C92643EC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969231" y="-1987193"/>
            <a:ext cx="5568593" cy="55685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434B022-647E-94C5-BCC7-5D543A5494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13246" y="136441"/>
            <a:ext cx="4476750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29854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2">
            <a:alphaModFix amt="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24985F8F-F0A8-0F6F-8F1B-946F9E24D2CE}"/>
              </a:ext>
            </a:extLst>
          </p:cNvPr>
          <p:cNvSpPr txBox="1"/>
          <p:nvPr/>
        </p:nvSpPr>
        <p:spPr>
          <a:xfrm>
            <a:off x="96253" y="150365"/>
            <a:ext cx="68238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Intelligent reflecting surfaces (IRS)</a:t>
            </a:r>
            <a:endParaRPr lang="en-IN" sz="3600" dirty="0">
              <a:solidFill>
                <a:schemeClr val="accent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4D2DFD8-4F06-8D80-4AE9-0AEEAF7F39B8}"/>
              </a:ext>
            </a:extLst>
          </p:cNvPr>
          <p:cNvCxnSpPr/>
          <p:nvPr/>
        </p:nvCxnSpPr>
        <p:spPr>
          <a:xfrm>
            <a:off x="96253" y="838836"/>
            <a:ext cx="1172357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CFAC97DA-59D4-EB36-86A9-1C57D78442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4925" y="3337652"/>
            <a:ext cx="3835724" cy="21575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7AE2FAA-9446-5C5D-8EF3-D4579BE71E64}"/>
                  </a:ext>
                </a:extLst>
              </p:cNvPr>
              <p:cNvSpPr txBox="1"/>
              <p:nvPr/>
            </p:nvSpPr>
            <p:spPr>
              <a:xfrm>
                <a:off x="363072" y="5799425"/>
                <a:ext cx="5594966" cy="9373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2000" i="1" dirty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b>
                            <m:sSub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rad>
                      <m:sSubSup>
                        <m:sSubSupPr>
                          <m:ctrlPr>
                            <a:rPr lang="en-US" sz="2000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2,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m:rPr>
                          <m:sty m:val="p"/>
                        </m:rPr>
                        <a:rPr lang="en-US" sz="2000" dirty="0">
                          <a:latin typeface="Cambria Math" panose="02040503050406030204" pitchFamily="18" charset="0"/>
                        </a:rPr>
                        <m:t>Θ</m:t>
                      </m:r>
                      <m:sSub>
                        <m:sSubPr>
                          <m:ctrlPr>
                            <a:rPr lang="en-US" sz="20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rad>
                        <m:radPr>
                          <m:degHide m:val="on"/>
                          <m:ctrlPr>
                            <a:rPr lang="en-US" sz="2000" i="1" dirty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b>
                            <m:sSub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rad>
                      <m:sSub>
                        <m:sSubPr>
                          <m:ctrlPr>
                            <a:rPr lang="en-US" sz="20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IN" sz="2000" b="1" dirty="0">
                  <a:latin typeface="Sans Serif Collection" panose="020B0502040504020204" pitchFamily="34" charset="0"/>
                  <a:ea typeface="Sans Serif Collection" panose="020B0502040504020204" pitchFamily="34" charset="0"/>
                  <a:cs typeface="Sans Serif Collection" panose="020B0502040504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sz="200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IN" sz="2000" b="0" i="0" dirty="0" smtClean="0">
                              <a:latin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IN" sz="2000" b="0" i="0" dirty="0" smtClean="0">
                              <a:latin typeface="Cambria Math" panose="02040503050406030204" pitchFamily="18" charset="0"/>
                            </a:rPr>
                            <m:t>n</m:t>
                          </m:r>
                          <m:r>
                            <a:rPr lang="en-IN" sz="2000" b="0" i="0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IN" sz="2000" b="0" i="0" dirty="0" smtClean="0">
                              <a:latin typeface="Cambria Math" panose="02040503050406030204" pitchFamily="18" charset="0"/>
                            </a:rPr>
                            <m:t>k</m:t>
                          </m:r>
                        </m:sub>
                        <m:sup>
                          <m:r>
                            <a:rPr lang="en-IN" sz="2000" b="0" i="0" dirty="0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en-IN" sz="2000" b="0" i="0" dirty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IN" sz="20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IN" sz="2000" b="0" i="0" dirty="0" smtClean="0"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IN" sz="2000" b="0" i="0" dirty="0" smtClean="0">
                              <a:latin typeface="Cambria Math" panose="02040503050406030204" pitchFamily="18" charset="0"/>
                            </a:rPr>
                            <m:t>j</m:t>
                          </m:r>
                          <m:d>
                            <m:dPr>
                              <m:ctrlPr>
                                <a:rPr lang="en-IN" sz="20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000" b="0" i="0" dirty="0" smtClean="0">
                                  <a:latin typeface="Cambria Math" panose="02040503050406030204" pitchFamily="18" charset="0"/>
                                </a:rPr>
                                <m:t>∠</m:t>
                              </m:r>
                              <m:sSub>
                                <m:sSubPr>
                                  <m:ctrlPr>
                                    <a:rPr lang="en-IN" sz="20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000" b="0" i="0" dirty="0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IN" sz="2000" b="0" i="0" dirty="0" smtClean="0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  <m:r>
                                    <a:rPr lang="en-IN" sz="2000" b="0" i="0" dirty="0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000" b="0" i="0" dirty="0" smtClean="0">
                                      <a:latin typeface="Cambria Math" panose="02040503050406030204" pitchFamily="18" charset="0"/>
                                    </a:rPr>
                                    <m:t>k</m:t>
                                  </m:r>
                                </m:sub>
                              </m:sSub>
                              <m:r>
                                <a:rPr lang="en-IN" sz="2000" b="0" i="0" dirty="0" smtClean="0">
                                  <a:latin typeface="Cambria Math" panose="02040503050406030204" pitchFamily="18" charset="0"/>
                                </a:rPr>
                                <m:t>−∠</m:t>
                              </m:r>
                              <m:d>
                                <m:dPr>
                                  <m:ctrlPr>
                                    <a:rPr lang="en-IN" sz="20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IN" sz="20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IN" sz="2000" b="0" i="0" dirty="0" smtClean="0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e>
                                    <m:sub>
                                      <m:r>
                                        <a:rPr lang="en-IN" sz="2000" b="0" i="0" dirty="0" smtClean="0">
                                          <a:latin typeface="Cambria Math" panose="02040503050406030204" pitchFamily="18" charset="0"/>
                                        </a:rPr>
                                        <m:t>1,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IN" sz="2000" b="0" i="0" dirty="0" smtClean="0">
                                          <a:latin typeface="Cambria Math" panose="02040503050406030204" pitchFamily="18" charset="0"/>
                                        </a:rPr>
                                        <m:t>n</m:t>
                                      </m:r>
                                    </m:sub>
                                  </m:sSub>
                                  <m:r>
                                    <a:rPr lang="en-IN" sz="2000" b="0" i="0" dirty="0" smtClean="0">
                                      <a:latin typeface="Cambria Math" panose="02040503050406030204" pitchFamily="18" charset="0"/>
                                    </a:rPr>
                                    <m:t>×</m:t>
                                  </m:r>
                                  <m:sSub>
                                    <m:sSubPr>
                                      <m:ctrlPr>
                                        <a:rPr lang="en-IN" sz="20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IN" sz="2000" b="0" i="0" dirty="0" smtClean="0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e>
                                    <m:sub>
                                      <m:r>
                                        <a:rPr lang="en-IN" sz="2000" b="0" i="0" dirty="0" smtClean="0">
                                          <a:latin typeface="Cambria Math" panose="02040503050406030204" pitchFamily="18" charset="0"/>
                                        </a:rPr>
                                        <m:t>2,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IN" sz="2000" b="0" i="0" dirty="0" smtClean="0">
                                          <a:latin typeface="Cambria Math" panose="02040503050406030204" pitchFamily="18" charset="0"/>
                                        </a:rPr>
                                        <m:t>k</m:t>
                                      </m:r>
                                      <m:r>
                                        <a:rPr lang="en-IN" sz="2000" b="0" i="0" dirty="0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IN" sz="2000" b="0" i="0" dirty="0" smtClean="0">
                                          <a:latin typeface="Cambria Math" panose="02040503050406030204" pitchFamily="18" charset="0"/>
                                        </a:rPr>
                                        <m:t>n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sup>
                      </m:sSup>
                      <m:r>
                        <a:rPr lang="en-IN" sz="2000" b="0" i="0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lit/>
                        </m:rPr>
                        <a:rPr lang="en-IN" sz="2000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sz="2000" b="0" i="0" dirty="0" smtClean="0"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n-IN" sz="2000" b="0" i="0" dirty="0" smtClean="0"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2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000" b="0" i="0" dirty="0" smtClean="0"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</m:d>
                      <m:r>
                        <a:rPr lang="en-IN" sz="2000" b="0" i="0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en-IN" sz="2000" b="0" i="0" dirty="0" smtClean="0">
                          <a:latin typeface="Cambria Math" panose="02040503050406030204" pitchFamily="18" charset="0"/>
                        </a:rPr>
                        <m:t>k</m:t>
                      </m:r>
                      <m:r>
                        <a:rPr lang="en-IN" sz="2000" b="0" i="0" dirty="0" smtClean="0"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2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000" b="0" i="0" dirty="0" smtClean="0"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</m:d>
                    </m:oMath>
                  </m:oMathPara>
                </a14:m>
                <a:endParaRPr lang="en-IN" sz="2400" dirty="0">
                  <a:latin typeface="Sans Serif Collection" panose="020B0502040504020204" pitchFamily="34" charset="0"/>
                  <a:ea typeface="Sans Serif Collection" panose="020B0502040504020204" pitchFamily="34" charset="0"/>
                  <a:cs typeface="Sans Serif Collection" panose="020B0502040504020204" pitchFamily="34" charset="0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7AE2FAA-9446-5C5D-8EF3-D4579BE71E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072" y="5799425"/>
                <a:ext cx="5594966" cy="93730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Scroll: Horizontal 19">
            <a:extLst>
              <a:ext uri="{FF2B5EF4-FFF2-40B4-BE49-F238E27FC236}">
                <a16:creationId xmlns:a16="http://schemas.microsoft.com/office/drawing/2014/main" id="{B36FAD7C-F98B-951E-5A8C-CF3164930A9C}"/>
              </a:ext>
            </a:extLst>
          </p:cNvPr>
          <p:cNvSpPr/>
          <p:nvPr/>
        </p:nvSpPr>
        <p:spPr>
          <a:xfrm>
            <a:off x="519766" y="4501745"/>
            <a:ext cx="3647975" cy="1517419"/>
          </a:xfrm>
          <a:prstGeom prst="horizontalScroll">
            <a:avLst/>
          </a:prstGeom>
          <a:noFill/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E0EC265-F93B-3132-10B3-D5194502497F}"/>
              </a:ext>
            </a:extLst>
          </p:cNvPr>
          <p:cNvGrpSpPr/>
          <p:nvPr/>
        </p:nvGrpSpPr>
        <p:grpSpPr>
          <a:xfrm>
            <a:off x="6534253" y="1663855"/>
            <a:ext cx="5445034" cy="3926706"/>
            <a:chOff x="241157" y="1871976"/>
            <a:chExt cx="5445034" cy="3926706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6C26CDB5-B859-E2BE-EC66-71F5CA25160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41157" y="1871976"/>
              <a:ext cx="5445034" cy="3926706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4596107-4A97-842F-849F-64822AE1CC3C}"/>
                </a:ext>
              </a:extLst>
            </p:cNvPr>
            <p:cNvSpPr/>
            <p:nvPr/>
          </p:nvSpPr>
          <p:spPr>
            <a:xfrm>
              <a:off x="1561609" y="4792170"/>
              <a:ext cx="1109671" cy="175944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22" name="object 3">
            <a:extLst>
              <a:ext uri="{FF2B5EF4-FFF2-40B4-BE49-F238E27FC236}">
                <a16:creationId xmlns:a16="http://schemas.microsoft.com/office/drawing/2014/main" id="{9BB4051E-B03B-4E01-1136-B114B45A3225}"/>
              </a:ext>
            </a:extLst>
          </p:cNvPr>
          <p:cNvSpPr txBox="1"/>
          <p:nvPr/>
        </p:nvSpPr>
        <p:spPr>
          <a:xfrm>
            <a:off x="194789" y="752208"/>
            <a:ext cx="12039600" cy="2401298"/>
          </a:xfrm>
          <a:prstGeom prst="rect">
            <a:avLst/>
          </a:prstGeom>
        </p:spPr>
        <p:txBody>
          <a:bodyPr vert="horz" wrap="square" lIns="0" tIns="180975" rIns="0" bIns="0" rtlCol="0">
            <a:spAutoFit/>
          </a:bodyPr>
          <a:lstStyle/>
          <a:p>
            <a:pPr marL="354965" indent="-342900">
              <a:spcBef>
                <a:spcPts val="1425"/>
              </a:spcBef>
              <a:buFont typeface="Wingdings" pitchFamily="2" charset="2"/>
              <a:buChar char="Ø"/>
              <a:tabLst>
                <a:tab pos="193040" algn="l"/>
              </a:tabLst>
            </a:pPr>
            <a:r>
              <a:rPr lang="en-US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Also known as </a:t>
            </a:r>
            <a:r>
              <a:rPr lang="en-US" sz="2000" spc="-5" dirty="0">
                <a:solidFill>
                  <a:srgbClr val="0432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reconfigurable intelligent surfaces </a:t>
            </a:r>
            <a:r>
              <a:rPr lang="en-US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(RIS)</a:t>
            </a:r>
          </a:p>
          <a:p>
            <a:pPr marL="354965" indent="-342900">
              <a:spcBef>
                <a:spcPts val="1425"/>
              </a:spcBef>
              <a:buFont typeface="Wingdings" pitchFamily="2" charset="2"/>
              <a:buChar char="Ø"/>
              <a:tabLst>
                <a:tab pos="193040" algn="l"/>
              </a:tabLst>
            </a:pP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Meta</a:t>
            </a:r>
            <a:r>
              <a:rPr lang="en-IN" sz="20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surfaces</a:t>
            </a:r>
            <a:r>
              <a:rPr sz="20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made up of</a:t>
            </a:r>
            <a:r>
              <a:rPr sz="20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passive</a:t>
            </a:r>
            <a:r>
              <a:rPr sz="20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elements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21360" lvl="1" indent="-352425">
              <a:spcBef>
                <a:spcPts val="1325"/>
              </a:spcBef>
              <a:buClr>
                <a:srgbClr val="000000"/>
              </a:buClr>
              <a:buFont typeface="Wingdings" pitchFamily="2" charset="2"/>
              <a:buChar char="ü"/>
              <a:tabLst>
                <a:tab pos="721360" algn="l"/>
              </a:tabLst>
            </a:pPr>
            <a:r>
              <a:rPr lang="en-US" sz="2000" spc="-10" dirty="0">
                <a:solidFill>
                  <a:srgbClr val="0432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2000" spc="-10" dirty="0">
                <a:solidFill>
                  <a:srgbClr val="0432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eflect</a:t>
            </a:r>
            <a:r>
              <a:rPr sz="2000" spc="20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signals</a:t>
            </a:r>
            <a:r>
              <a:rPr sz="20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20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required</a:t>
            </a:r>
            <a:r>
              <a:rPr sz="20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directions</a:t>
            </a:r>
            <a:endParaRPr lang="en-US" sz="20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21360" lvl="1" indent="-352425">
              <a:spcBef>
                <a:spcPts val="1325"/>
              </a:spcBef>
              <a:buClr>
                <a:srgbClr val="000000"/>
              </a:buClr>
              <a:buFont typeface="Wingdings" pitchFamily="2" charset="2"/>
              <a:buChar char="ü"/>
              <a:tabLst>
                <a:tab pos="721360" algn="l"/>
              </a:tabLst>
            </a:pPr>
            <a:r>
              <a:rPr lang="en-IN" sz="2000" spc="-1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Alters</a:t>
            </a:r>
            <a:r>
              <a:rPr lang="en-IN" sz="2000" spc="35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IN" sz="20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wireless </a:t>
            </a:r>
            <a:r>
              <a:rPr lang="en-IN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channel</a:t>
            </a:r>
            <a:endParaRPr sz="20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4965" indent="-342900">
              <a:spcBef>
                <a:spcPts val="1320"/>
              </a:spcBef>
              <a:buFont typeface="Wingdings" pitchFamily="2" charset="2"/>
              <a:buChar char="Ø"/>
              <a:tabLst>
                <a:tab pos="299085" algn="l"/>
                <a:tab pos="299720" algn="l"/>
              </a:tabLst>
            </a:pPr>
            <a:r>
              <a:rPr sz="2000" u="sng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Perks</a:t>
            </a:r>
            <a:r>
              <a:rPr lang="en-US" sz="2000" u="sng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Boosts</a:t>
            </a:r>
            <a:r>
              <a:rPr sz="2000" spc="5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5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SNR/</a:t>
            </a:r>
            <a:r>
              <a:rPr sz="2000" spc="-1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SINR</a:t>
            </a:r>
            <a:r>
              <a:rPr lang="en-US" sz="2000" spc="-1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spc="-5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000" spc="-5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nergy</a:t>
            </a:r>
            <a:r>
              <a:rPr sz="2000" spc="-15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efficiency</a:t>
            </a:r>
            <a:r>
              <a:rPr lang="en-US" sz="2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spc="-1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sz="2000" spc="-1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overage</a:t>
            </a:r>
            <a:r>
              <a:rPr sz="2000" spc="-5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sz="2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etc.</a:t>
            </a:r>
            <a:endParaRPr lang="en-US" sz="2000" spc="-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D5E1E8A-9850-5C68-E5DD-F70357ED01DB}"/>
              </a:ext>
            </a:extLst>
          </p:cNvPr>
          <p:cNvSpPr txBox="1"/>
          <p:nvPr/>
        </p:nvSpPr>
        <p:spPr>
          <a:xfrm>
            <a:off x="6534253" y="989736"/>
            <a:ext cx="453086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IN" sz="28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hree Fold Overheads: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20A0A6C6-7FF7-189C-AAC9-738F2AF0BE65}"/>
              </a:ext>
            </a:extLst>
          </p:cNvPr>
          <p:cNvGrpSpPr/>
          <p:nvPr/>
        </p:nvGrpSpPr>
        <p:grpSpPr>
          <a:xfrm>
            <a:off x="6920131" y="5806542"/>
            <a:ext cx="5059156" cy="852798"/>
            <a:chOff x="6920131" y="5806542"/>
            <a:chExt cx="5059156" cy="852798"/>
          </a:xfrm>
        </p:grpSpPr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1BFB9997-1F73-8AD2-58D2-8A61BB86680E}"/>
                </a:ext>
              </a:extLst>
            </p:cNvPr>
            <p:cNvSpPr/>
            <p:nvPr/>
          </p:nvSpPr>
          <p:spPr>
            <a:xfrm>
              <a:off x="6920131" y="5806542"/>
              <a:ext cx="5059156" cy="852798"/>
            </a:xfrm>
            <a:prstGeom prst="roundRect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E5D2B26F-D954-CC89-6B76-05B6DA804BCA}"/>
                </a:ext>
              </a:extLst>
            </p:cNvPr>
            <p:cNvSpPr/>
            <p:nvPr/>
          </p:nvSpPr>
          <p:spPr>
            <a:xfrm>
              <a:off x="6920131" y="5806542"/>
              <a:ext cx="5059156" cy="383994"/>
            </a:xfrm>
            <a:prstGeom prst="roundRect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/>
                <a:t>Solution </a:t>
              </a:r>
              <a:endParaRPr lang="en-IN" dirty="0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397CFEE6-9005-F3A7-A802-30BC2500EAE2}"/>
                </a:ext>
              </a:extLst>
            </p:cNvPr>
            <p:cNvSpPr txBox="1"/>
            <p:nvPr/>
          </p:nvSpPr>
          <p:spPr>
            <a:xfrm>
              <a:off x="6920131" y="6227572"/>
              <a:ext cx="437726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accent3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Opportunistic Communications</a:t>
              </a:r>
              <a:endParaRPr lang="en-IN" sz="2000" b="1" dirty="0">
                <a:solidFill>
                  <a:schemeClr val="accent3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942982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479A3A0-4C32-CAC0-B66B-4D99B4CBA8E3}"/>
              </a:ext>
            </a:extLst>
          </p:cNvPr>
          <p:cNvSpPr txBox="1"/>
          <p:nvPr/>
        </p:nvSpPr>
        <p:spPr>
          <a:xfrm>
            <a:off x="96253" y="150365"/>
            <a:ext cx="68238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Opportunistic Communications</a:t>
            </a:r>
            <a:endParaRPr lang="en-IN" sz="3600" dirty="0">
              <a:solidFill>
                <a:schemeClr val="accent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A9DB692-E6D2-5347-50EB-4BE8AC4AF303}"/>
              </a:ext>
            </a:extLst>
          </p:cNvPr>
          <p:cNvCxnSpPr/>
          <p:nvPr/>
        </p:nvCxnSpPr>
        <p:spPr>
          <a:xfrm>
            <a:off x="96253" y="838836"/>
            <a:ext cx="1172357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97328032-A7F3-C1C7-D2D7-E09801B3AB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5221" y="1002001"/>
            <a:ext cx="4669834" cy="485399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1B01D1B-9301-730E-ECB8-D8F9A91E9D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00" y="1285791"/>
            <a:ext cx="6918583" cy="4459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43232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6F1934-1397-7D64-AEAD-9C6D8B39EF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CF61E052-1072-508E-40CF-8BC8E7CA765E}"/>
              </a:ext>
            </a:extLst>
          </p:cNvPr>
          <p:cNvSpPr txBox="1"/>
          <p:nvPr/>
        </p:nvSpPr>
        <p:spPr>
          <a:xfrm>
            <a:off x="96253" y="105877"/>
            <a:ext cx="92210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Indigenously Built RIS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601CBA6-A340-DB46-3033-029FA8389D88}"/>
              </a:ext>
            </a:extLst>
          </p:cNvPr>
          <p:cNvCxnSpPr/>
          <p:nvPr/>
        </p:nvCxnSpPr>
        <p:spPr>
          <a:xfrm>
            <a:off x="96253" y="838836"/>
            <a:ext cx="1172357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diagram of a radiator&#10;&#10;AI-generated content may be incorrect.">
            <a:extLst>
              <a:ext uri="{FF2B5EF4-FFF2-40B4-BE49-F238E27FC236}">
                <a16:creationId xmlns:a16="http://schemas.microsoft.com/office/drawing/2014/main" id="{610365CA-D095-612C-3A2D-877AA3C97C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85329"/>
            <a:ext cx="5140977" cy="253243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8610957-DF50-F5CD-35D7-F74902FD7FD6}"/>
                  </a:ext>
                </a:extLst>
              </p:cNvPr>
              <p:cNvSpPr txBox="1"/>
              <p:nvPr/>
            </p:nvSpPr>
            <p:spPr>
              <a:xfrm>
                <a:off x="5159902" y="1045096"/>
                <a:ext cx="6925062" cy="29510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 algn="just">
                  <a:lnSpc>
                    <a:spcPct val="150000"/>
                  </a:lnSpc>
                  <a:buFont typeface="Wingdings" panose="05000000000000000000" pitchFamily="2" charset="2"/>
                  <a:buChar char="q"/>
                </a:pPr>
                <a:r>
                  <a:rPr lang="en-US" sz="1800" spc="75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RIS design using a 1-bit digitally coded metasurface at </a:t>
                </a:r>
                <a:r>
                  <a:rPr lang="en-US" sz="1800" spc="75" dirty="0">
                    <a:solidFill>
                      <a:srgbClr val="0432FF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5 GHz</a:t>
                </a:r>
              </a:p>
              <a:p>
                <a:pPr marL="285750" indent="-285750" algn="just">
                  <a:lnSpc>
                    <a:spcPct val="150000"/>
                  </a:lnSpc>
                  <a:buFont typeface="Wingdings" panose="05000000000000000000" pitchFamily="2" charset="2"/>
                  <a:buChar char="q"/>
                </a:pPr>
                <a:r>
                  <a:rPr lang="en-US" sz="1800" spc="75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Has </a:t>
                </a:r>
                <a:r>
                  <a:rPr lang="en-US" sz="1800" spc="75" dirty="0">
                    <a:solidFill>
                      <a:srgbClr val="0432FF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1024 elements</a:t>
                </a:r>
                <a:r>
                  <a:rPr lang="en-US" sz="1800" spc="75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; each element is </a:t>
                </a:r>
                <a:r>
                  <a:rPr lang="en-US" sz="1800" spc="75" dirty="0">
                    <a:solidFill>
                      <a:srgbClr val="0432FF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configured via PIN-diode</a:t>
                </a:r>
              </a:p>
              <a:p>
                <a:pPr marL="285750" indent="-285750" algn="just">
                  <a:lnSpc>
                    <a:spcPct val="150000"/>
                  </a:lnSpc>
                  <a:buFont typeface="Wingdings" panose="05000000000000000000" pitchFamily="2" charset="2"/>
                  <a:buChar char="q"/>
                </a:pPr>
                <a:r>
                  <a:rPr lang="en-US" sz="1800" spc="75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Single-layer design with a single switch per unit cell</a:t>
                </a:r>
              </a:p>
              <a:p>
                <a:pPr marL="285750" indent="-285750" algn="just">
                  <a:lnSpc>
                    <a:spcPct val="150000"/>
                  </a:lnSpc>
                  <a:buFont typeface="Wingdings" panose="05000000000000000000" pitchFamily="2" charset="2"/>
                  <a:buChar char="q"/>
                </a:pPr>
                <a:r>
                  <a:rPr lang="en-US" sz="1800" spc="75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An </a:t>
                </a:r>
                <a:r>
                  <a:rPr lang="en-US" sz="1800" spc="75" dirty="0">
                    <a:solidFill>
                      <a:srgbClr val="0432FF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FPGA controller </a:t>
                </a:r>
                <a:r>
                  <a:rPr lang="en-US" sz="1800" spc="75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used for programming &amp; dynamic steering</a:t>
                </a:r>
              </a:p>
              <a:p>
                <a:pPr marL="285750" indent="-285750" algn="just">
                  <a:lnSpc>
                    <a:spcPct val="150000"/>
                  </a:lnSpc>
                  <a:buFont typeface="Wingdings" panose="05000000000000000000" pitchFamily="2" charset="2"/>
                  <a:buChar char="q"/>
                </a:pPr>
                <a:r>
                  <a:rPr lang="en-US" sz="1800" spc="75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Scan loss-free steering range from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 spc="75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1800" b="0" i="1" spc="75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e>
                      <m:sup>
                        <m:r>
                          <a:rPr lang="en-US" sz="1800" b="0" i="1" spc="75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𝑜</m:t>
                        </m:r>
                      </m:sup>
                    </m:sSup>
                    <m:r>
                      <a:rPr lang="en-US" sz="1800" b="0" i="1" spc="75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sSup>
                      <m:sSupPr>
                        <m:ctrlPr>
                          <a:rPr lang="en-US" sz="1800" b="0" i="1" spc="75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1800" b="0" i="1" spc="75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60</m:t>
                        </m:r>
                      </m:e>
                      <m:sup>
                        <m:r>
                          <a:rPr lang="en-US" sz="1800" b="0" i="1" spc="75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𝑜</m:t>
                        </m:r>
                      </m:sup>
                    </m:sSup>
                  </m:oMath>
                </a14:m>
                <a:endParaRPr lang="en-US" sz="1800" spc="75" dirty="0">
                  <a:solidFill>
                    <a:srgbClr val="000000"/>
                  </a:solidFill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285750" indent="-285750" algn="just">
                  <a:lnSpc>
                    <a:spcPct val="150000"/>
                  </a:lnSpc>
                  <a:buFont typeface="Wingdings" panose="05000000000000000000" pitchFamily="2" charset="2"/>
                  <a:buChar char="q"/>
                </a:pPr>
                <a:r>
                  <a:rPr lang="en-US" sz="1800" spc="75" dirty="0">
                    <a:solidFill>
                      <a:srgbClr val="0432FF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Low cost and low power </a:t>
                </a:r>
                <a:r>
                  <a:rPr lang="en-US" sz="1800" spc="75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consumption (&lt;2 W) design</a:t>
                </a:r>
              </a:p>
              <a:p>
                <a:pPr marL="285750" indent="-285750" algn="just">
                  <a:lnSpc>
                    <a:spcPct val="150000"/>
                  </a:lnSpc>
                  <a:buFont typeface="Wingdings" panose="05000000000000000000" pitchFamily="2" charset="2"/>
                  <a:buChar char="q"/>
                </a:pPr>
                <a:r>
                  <a:rPr lang="en-US" sz="1800" spc="75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Suitable for </a:t>
                </a:r>
                <a:r>
                  <a:rPr lang="en-US" sz="1800" spc="75" dirty="0">
                    <a:solidFill>
                      <a:srgbClr val="0432FF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sub-6 GHz wireless communications </a:t>
                </a:r>
                <a:r>
                  <a:rPr lang="en-US" sz="1800" spc="75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&amp; other freq.</a:t>
                </a:r>
                <a:endParaRPr lang="en-US" sz="1800" spc="75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8610957-DF50-F5CD-35D7-F74902FD7F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9902" y="1045096"/>
                <a:ext cx="6925062" cy="2951064"/>
              </a:xfrm>
              <a:prstGeom prst="rect">
                <a:avLst/>
              </a:prstGeom>
              <a:blipFill>
                <a:blip r:embed="rId3"/>
                <a:stretch>
                  <a:fillRect l="-528" b="-226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136">
            <a:extLst>
              <a:ext uri="{FF2B5EF4-FFF2-40B4-BE49-F238E27FC236}">
                <a16:creationId xmlns:a16="http://schemas.microsoft.com/office/drawing/2014/main" id="{B976E59E-FDD2-C534-92C2-038A08826579}"/>
              </a:ext>
            </a:extLst>
          </p:cNvPr>
          <p:cNvSpPr txBox="1"/>
          <p:nvPr/>
        </p:nvSpPr>
        <p:spPr>
          <a:xfrm>
            <a:off x="1118049" y="841550"/>
            <a:ext cx="28283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2000" b="1" spc="75" dirty="0">
                <a:solidFill>
                  <a:schemeClr val="accent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Full RIS structure</a:t>
            </a:r>
            <a:endParaRPr lang="en-IN" sz="20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60806F-5027-6C22-43A9-F94EB2B4AF91}"/>
              </a:ext>
            </a:extLst>
          </p:cNvPr>
          <p:cNvSpPr txBox="1"/>
          <p:nvPr/>
        </p:nvSpPr>
        <p:spPr>
          <a:xfrm>
            <a:off x="112295" y="4627735"/>
            <a:ext cx="261006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0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Unit-cell of a 1-bit</a:t>
            </a:r>
          </a:p>
          <a:p>
            <a:pPr algn="ctr"/>
            <a:r>
              <a:rPr lang="en-IN" sz="20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digitally coded RIS:</a:t>
            </a:r>
          </a:p>
          <a:p>
            <a:pPr algn="ctr"/>
            <a:r>
              <a:rPr lang="en-IN" sz="20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3D view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D49F800-C9DE-D5A5-9019-46FF0D87B723}"/>
              </a:ext>
            </a:extLst>
          </p:cNvPr>
          <p:cNvGrpSpPr/>
          <p:nvPr/>
        </p:nvGrpSpPr>
        <p:grpSpPr>
          <a:xfrm>
            <a:off x="2661798" y="4181243"/>
            <a:ext cx="9254278" cy="1837921"/>
            <a:chOff x="159227" y="1093036"/>
            <a:chExt cx="9254278" cy="1837921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524FD439-D0EE-E22C-A657-FD0DE276CA3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9227" y="1093036"/>
              <a:ext cx="5107711" cy="1837921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8CDB8D94-A880-FF4C-0E1E-2F0DD1AF4F29}"/>
                </a:ext>
              </a:extLst>
            </p:cNvPr>
            <p:cNvSpPr/>
            <p:nvPr/>
          </p:nvSpPr>
          <p:spPr>
            <a:xfrm>
              <a:off x="5958036" y="1954881"/>
              <a:ext cx="3455469" cy="569580"/>
            </a:xfrm>
            <a:prstGeom prst="roundRect">
              <a:avLst/>
            </a:prstGeom>
            <a:solidFill>
              <a:schemeClr val="accent3">
                <a:lumMod val="25000"/>
                <a:lumOff val="75000"/>
              </a:schemeClr>
            </a:solidFill>
            <a:ln>
              <a:solidFill>
                <a:schemeClr val="accent3"/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Equivalent circuit of PIN diode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51D2B7FB-9D43-CFF0-B3C1-B15B580D3EB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66938" y="2247769"/>
              <a:ext cx="691100" cy="0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824766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CB73A4-AB6B-47EB-2CD1-131A2DB937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1A25764E-239B-9111-13C1-20E0F9A86309}"/>
              </a:ext>
            </a:extLst>
          </p:cNvPr>
          <p:cNvSpPr txBox="1"/>
          <p:nvPr/>
        </p:nvSpPr>
        <p:spPr>
          <a:xfrm>
            <a:off x="96253" y="105877"/>
            <a:ext cx="99428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OpenAirInterface for 5G NR</a:t>
            </a:r>
            <a:endParaRPr lang="en-IN" sz="3600" dirty="0">
              <a:solidFill>
                <a:schemeClr val="accent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E9132A9-F853-5BA9-6054-8B110425DBFD}"/>
              </a:ext>
            </a:extLst>
          </p:cNvPr>
          <p:cNvCxnSpPr/>
          <p:nvPr/>
        </p:nvCxnSpPr>
        <p:spPr>
          <a:xfrm>
            <a:off x="96253" y="838836"/>
            <a:ext cx="1172357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2D96971C-6C53-B3A8-220A-0EBF2F8D651D}"/>
              </a:ext>
            </a:extLst>
          </p:cNvPr>
          <p:cNvSpPr txBox="1"/>
          <p:nvPr/>
        </p:nvSpPr>
        <p:spPr>
          <a:xfrm>
            <a:off x="7626626" y="1021276"/>
            <a:ext cx="2726719" cy="366189"/>
          </a:xfrm>
          <a:prstGeom prst="rect">
            <a:avLst/>
          </a:prstGeom>
          <a:solidFill>
            <a:srgbClr val="66FF66"/>
          </a:solidFill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12870F"/>
                </a:solidFill>
              </a:rPr>
              <a:t>Discrete-Rate Adaptation</a:t>
            </a:r>
            <a:r>
              <a:rPr lang="en-IN" b="1" dirty="0">
                <a:solidFill>
                  <a:srgbClr val="1287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FEC2AE0-3560-164F-9237-AB375393A719}"/>
              </a:ext>
            </a:extLst>
          </p:cNvPr>
          <p:cNvSpPr/>
          <p:nvPr/>
        </p:nvSpPr>
        <p:spPr>
          <a:xfrm>
            <a:off x="7641345" y="1006894"/>
            <a:ext cx="2726719" cy="366188"/>
          </a:xfrm>
          <a:prstGeom prst="roundRect">
            <a:avLst/>
          </a:prstGeom>
          <a:noFill/>
          <a:ln>
            <a:solidFill>
              <a:srgbClr val="00B050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06082C8-1AF1-30B4-F158-B3AE165177EE}"/>
              </a:ext>
            </a:extLst>
          </p:cNvPr>
          <p:cNvSpPr/>
          <p:nvPr/>
        </p:nvSpPr>
        <p:spPr>
          <a:xfrm>
            <a:off x="365762" y="1548403"/>
            <a:ext cx="5312526" cy="120981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rgbClr val="0070C0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40 MHz bandwidth (5 GHz carrier), 30 kHz SCS.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0.5 ms slots with 14 OFDM symbols.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TDD frame: 10-slot periodicity 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38D111DE-2F66-1041-F75D-F681B5BE0C97}"/>
              </a:ext>
            </a:extLst>
          </p:cNvPr>
          <p:cNvSpPr/>
          <p:nvPr/>
        </p:nvSpPr>
        <p:spPr>
          <a:xfrm>
            <a:off x="5880609" y="1550504"/>
            <a:ext cx="6175906" cy="1962464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Uses 3GPP MCS Table 1 (29 levels).</a:t>
            </a:r>
          </a:p>
          <a:p>
            <a:pPr marL="742950" lvl="1" indent="-285750">
              <a:buClr>
                <a:srgbClr val="00B0F0"/>
              </a:buClr>
              <a:buFont typeface="Wingdings" panose="05000000000000000000" pitchFamily="2" charset="2"/>
              <a:buChar char="ü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MCS range: 3 to CQI-dependent max (CQI every 80 ms).</a:t>
            </a:r>
          </a:p>
          <a:p>
            <a:pPr marL="742950" lvl="1" indent="-285750">
              <a:buClr>
                <a:srgbClr val="00B0F0"/>
              </a:buClr>
              <a:buFont typeface="Wingdings" panose="05000000000000000000" pitchFamily="2" charset="2"/>
              <a:buChar char="ü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HARQ adjust: ±1 MCS based on BLER (&lt;0.05 / &gt;0.15).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Retransmissions: Up to 3 HARQ repeats with same MCS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3B4581B-515C-D04E-0736-697B753A4402}"/>
              </a:ext>
            </a:extLst>
          </p:cNvPr>
          <p:cNvSpPr txBox="1"/>
          <p:nvPr/>
        </p:nvSpPr>
        <p:spPr>
          <a:xfrm>
            <a:off x="1641056" y="1041750"/>
            <a:ext cx="2815441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Resources: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9145DE83-5552-E19E-DA68-B952B920E672}"/>
              </a:ext>
            </a:extLst>
          </p:cNvPr>
          <p:cNvSpPr/>
          <p:nvPr/>
        </p:nvSpPr>
        <p:spPr>
          <a:xfrm>
            <a:off x="1655773" y="1036267"/>
            <a:ext cx="2786005" cy="369332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4603C7D-1B84-B550-A5E5-D07FAD50B6E1}"/>
              </a:ext>
            </a:extLst>
          </p:cNvPr>
          <p:cNvSpPr txBox="1"/>
          <p:nvPr/>
        </p:nvSpPr>
        <p:spPr>
          <a:xfrm>
            <a:off x="1956308" y="2937651"/>
            <a:ext cx="2184934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Resource Allocation: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8814A4D9-DC89-190E-37DF-59AE41E30C15}"/>
              </a:ext>
            </a:extLst>
          </p:cNvPr>
          <p:cNvSpPr/>
          <p:nvPr/>
        </p:nvSpPr>
        <p:spPr>
          <a:xfrm>
            <a:off x="1956308" y="2930875"/>
            <a:ext cx="2184934" cy="384554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044E602-5BD2-D3BB-1769-6045E120EA63}"/>
              </a:ext>
            </a:extLst>
          </p:cNvPr>
          <p:cNvSpPr txBox="1"/>
          <p:nvPr/>
        </p:nvSpPr>
        <p:spPr>
          <a:xfrm>
            <a:off x="96253" y="3454354"/>
            <a:ext cx="69838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In OAI, users are scheduled using a </a:t>
            </a:r>
            <a:r>
              <a:rPr lang="en-US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Proportional Fair scheduler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0B53F08-1204-F409-DE34-C7E3F4F611B7}"/>
              </a:ext>
            </a:extLst>
          </p:cNvPr>
          <p:cNvSpPr txBox="1"/>
          <p:nvPr/>
        </p:nvSpPr>
        <p:spPr>
          <a:xfrm>
            <a:off x="96253" y="3832791"/>
            <a:ext cx="61490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Scheduling rule: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6B83131-0272-098F-C6D3-204B7CDD9522}"/>
              </a:ext>
            </a:extLst>
          </p:cNvPr>
          <p:cNvSpPr txBox="1"/>
          <p:nvPr/>
        </p:nvSpPr>
        <p:spPr>
          <a:xfrm>
            <a:off x="129890" y="4455878"/>
            <a:ext cx="61490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Instantaneous SE :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772FF4C-6523-1308-C421-6464F38E7655}"/>
              </a:ext>
            </a:extLst>
          </p:cNvPr>
          <p:cNvSpPr txBox="1"/>
          <p:nvPr/>
        </p:nvSpPr>
        <p:spPr>
          <a:xfrm>
            <a:off x="129890" y="5248464"/>
            <a:ext cx="61490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EWMA update of average SE: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lowchart: Alternate Process 3">
            <a:extLst>
              <a:ext uri="{FF2B5EF4-FFF2-40B4-BE49-F238E27FC236}">
                <a16:creationId xmlns:a16="http://schemas.microsoft.com/office/drawing/2014/main" id="{8E6B421D-7D0C-47EC-F070-B668FD4318FC}"/>
              </a:ext>
            </a:extLst>
          </p:cNvPr>
          <p:cNvSpPr/>
          <p:nvPr/>
        </p:nvSpPr>
        <p:spPr>
          <a:xfrm>
            <a:off x="5958038" y="4448262"/>
            <a:ext cx="5947637" cy="1480509"/>
          </a:xfrm>
          <a:prstGeom prst="flowChartAlternateProcess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3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Interpretation: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Small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more opportunistic (higher throughput).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Large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more fairness (frequent service to all UEs).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D8F6311-3021-996C-9606-B30768FFB5E7}"/>
                  </a:ext>
                </a:extLst>
              </p:cNvPr>
              <p:cNvSpPr txBox="1"/>
              <p:nvPr/>
            </p:nvSpPr>
            <p:spPr>
              <a:xfrm>
                <a:off x="2780721" y="3894312"/>
                <a:ext cx="2416751" cy="51943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600" b="0" i="0" smtClean="0">
                              <a:latin typeface="Cambria Math" panose="02040503050406030204" pitchFamily="18" charset="0"/>
                            </a:rPr>
                            <m:t>arg</m:t>
                          </m:r>
                        </m:fName>
                        <m:e>
                          <m:func>
                            <m:func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600" b="0" i="0" smtClean="0"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e>
                                <m:lim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∈</m:t>
                                  </m:r>
                                  <m:r>
                                    <m:rPr>
                                      <m:lit/>
                                    </m:rP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{</m:t>
                                  </m:r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1,2,…,</m:t>
                                  </m:r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𝐊</m:t>
                                  </m:r>
                                  <m:r>
                                    <m:rPr>
                                      <m:lit/>
                                    </m:rP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}</m:t>
                                  </m:r>
                                </m:lim>
                              </m:limLow>
                            </m:fName>
                            <m:e>
                              <m:f>
                                <m:f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sz="1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b="0" i="1" smtClean="0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sz="1600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1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600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1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b="0" i="1" smtClean="0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  <m:sub>
                                      <m:r>
                                        <a:rPr lang="en-US" sz="1600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1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600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</m:den>
                              </m:f>
                            </m:e>
                          </m:func>
                        </m:e>
                      </m:func>
                    </m:oMath>
                  </m:oMathPara>
                </a14:m>
                <a:endParaRPr lang="en-IN" sz="16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D8F6311-3021-996C-9606-B30768FFB5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0721" y="3894312"/>
                <a:ext cx="2416751" cy="51943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3447307-A40E-0582-0BDF-D1B80873CEF0}"/>
                  </a:ext>
                </a:extLst>
              </p:cNvPr>
              <p:cNvSpPr txBox="1"/>
              <p:nvPr/>
            </p:nvSpPr>
            <p:spPr>
              <a:xfrm>
                <a:off x="135485" y="4635315"/>
                <a:ext cx="6391174" cy="7287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6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i="1" dirty="0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IN" sz="160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ctrlPr>
                            <a:rPr lang="en-IN" sz="16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1600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IN" sz="1600" i="1" dirty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IN" sz="1600" i="1" dirty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IN" sz="16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1600" i="0" dirty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IN" sz="16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d>
                            <m:dPr>
                              <m:ctrlPr>
                                <a:rPr lang="en-IN" sz="16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1600" i="1" dirty="0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sSup>
                                <m:sSupPr>
                                  <m:ctrlPr>
                                    <a:rPr lang="en-IN" sz="16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IN" sz="16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IN" sz="1600" i="1" dirty="0" err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1600" i="1" dirty="0" err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IN" sz="1600" i="1" dirty="0" err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IN" sz="16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IN" sz="1600" i="1" dirty="0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  <m:sup>
                                  <m:r>
                                    <a:rPr lang="en-IN" sz="16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IN" sz="16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IN" sz="16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IN" sz="1600" i="1" dirty="0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num>
                                    <m:den>
                                      <m:sSup>
                                        <m:sSupPr>
                                          <m:ctrlPr>
                                            <a:rPr lang="en-IN" sz="16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IN" sz="1600" i="1" dirty="0">
                                              <a:latin typeface="Cambria Math" panose="02040503050406030204" pitchFamily="18" charset="0"/>
                                            </a:rPr>
                                            <m:t>𝜎</m:t>
                                          </m:r>
                                        </m:e>
                                        <m:sup>
                                          <m:r>
                                            <a:rPr lang="en-IN" sz="1600" i="1" dirty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den>
                                  </m:f>
                                </m:e>
                              </m:d>
                            </m:e>
                          </m:d>
                        </m:e>
                      </m:func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3447307-A40E-0582-0BDF-D1B80873CE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485" y="4635315"/>
                <a:ext cx="6391174" cy="72872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3B73F0D-E284-4594-643F-2269057DC99D}"/>
                  </a:ext>
                </a:extLst>
              </p:cNvPr>
              <p:cNvSpPr txBox="1"/>
              <p:nvPr/>
            </p:nvSpPr>
            <p:spPr>
              <a:xfrm>
                <a:off x="163297" y="5662755"/>
                <a:ext cx="6410424" cy="3626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6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i="1" dirty="0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IN" sz="160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ctrlPr>
                            <a:rPr lang="en-IN" sz="16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1600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IN" sz="1600" i="1" dirty="0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n-IN" sz="1600" i="1" dirty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IN" sz="16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1600" i="1" dirty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IN" sz="1600" i="1" dirty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d>
                      <m:sSub>
                        <m:sSubPr>
                          <m:ctrlPr>
                            <a:rPr lang="en-IN" sz="1600" i="1" dirty="0" err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i="1" dirty="0" err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IN" sz="1600" i="1" dirty="0" err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ctrlPr>
                            <a:rPr lang="en-IN" sz="16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1600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IN" sz="1600" i="1" dirty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sz="1600" i="1" dirty="0">
                          <a:latin typeface="Cambria Math" panose="02040503050406030204" pitchFamily="18" charset="0"/>
                        </a:rPr>
                        <m:t>𝛼</m:t>
                      </m:r>
                      <m:sSub>
                        <m:sSubPr>
                          <m:ctrlPr>
                            <a:rPr lang="en-IN" sz="1600" i="1" dirty="0" err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i="1" dirty="0" err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IN" sz="1600" i="1" dirty="0" err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ctrlPr>
                            <a:rPr lang="en-IN" sz="16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1600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sSub>
                        <m:sSubPr>
                          <m:ctrlPr>
                            <a:rPr lang="en-IN" sz="16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i="1" dirty="0"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  <m:sub>
                          <m:r>
                            <m:rPr>
                              <m:lit/>
                            </m:rPr>
                            <a:rPr lang="en-IN" sz="1600" i="1" dirty="0">
                              <a:latin typeface="Cambria Math" panose="02040503050406030204" pitchFamily="18" charset="0"/>
                            </a:rPr>
                            <m:t>{</m:t>
                          </m:r>
                          <m:r>
                            <a:rPr lang="en-IN" sz="1600" i="1" dirty="0">
                              <a:latin typeface="Cambria Math" panose="02040503050406030204" pitchFamily="18" charset="0"/>
                            </a:rPr>
                            <m:t>𝐤</m:t>
                          </m:r>
                          <m:r>
                            <a:rPr lang="en-IN" sz="1600" i="1" dirty="0"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IN" sz="16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1600" i="1" dirty="0">
                                  <a:latin typeface="Cambria Math" panose="02040503050406030204" pitchFamily="18" charset="0"/>
                                </a:rPr>
                                <m:t>𝐤</m:t>
                              </m:r>
                            </m:e>
                            <m:sup>
                              <m:r>
                                <a:rPr lang="en-IN" sz="1600" i="1" dirty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d>
                            <m:dPr>
                              <m:ctrlPr>
                                <a:rPr lang="en-IN" sz="16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1600" i="1" dirty="0">
                                  <a:latin typeface="Cambria Math" panose="02040503050406030204" pitchFamily="18" charset="0"/>
                                </a:rPr>
                                <m:t>𝐭</m:t>
                              </m:r>
                            </m:e>
                          </m:d>
                          <m:r>
                            <m:rPr>
                              <m:lit/>
                            </m:rPr>
                            <a:rPr lang="en-IN" sz="1600" i="1" dirty="0">
                              <a:latin typeface="Cambria Math" panose="02040503050406030204" pitchFamily="18" charset="0"/>
                            </a:rPr>
                            <m:t>}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3B73F0D-E284-4594-643F-2269057DC9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297" y="5662755"/>
                <a:ext cx="6410424" cy="362663"/>
              </a:xfrm>
              <a:prstGeom prst="rect">
                <a:avLst/>
              </a:prstGeom>
              <a:blipFill>
                <a:blip r:embed="rId5"/>
                <a:stretch>
                  <a:fillRect t="-6780" b="-1355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489688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1CDA4E-8E91-8661-7A72-419AEC19C9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728B7EAE-BBEC-68D3-0D67-E81320DF4899}"/>
              </a:ext>
            </a:extLst>
          </p:cNvPr>
          <p:cNvSpPr txBox="1"/>
          <p:nvPr/>
        </p:nvSpPr>
        <p:spPr>
          <a:xfrm>
            <a:off x="96253" y="105877"/>
            <a:ext cx="92210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Setup of our RIS-aided 5G NR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1ABCBCB-7BDE-CF1C-D9A4-C6A93CD7BB22}"/>
              </a:ext>
            </a:extLst>
          </p:cNvPr>
          <p:cNvCxnSpPr/>
          <p:nvPr/>
        </p:nvCxnSpPr>
        <p:spPr>
          <a:xfrm>
            <a:off x="96253" y="838836"/>
            <a:ext cx="1172357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0" name="Scroll: Horizontal 19">
            <a:extLst>
              <a:ext uri="{FF2B5EF4-FFF2-40B4-BE49-F238E27FC236}">
                <a16:creationId xmlns:a16="http://schemas.microsoft.com/office/drawing/2014/main" id="{BA7FB146-F59A-7D93-B473-B798E418AF5B}"/>
              </a:ext>
            </a:extLst>
          </p:cNvPr>
          <p:cNvSpPr/>
          <p:nvPr/>
        </p:nvSpPr>
        <p:spPr>
          <a:xfrm>
            <a:off x="519766" y="4501745"/>
            <a:ext cx="3647975" cy="1517419"/>
          </a:xfrm>
          <a:prstGeom prst="horizontalScroll">
            <a:avLst/>
          </a:prstGeom>
          <a:noFill/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1846513-1A29-C778-1BD2-5EE19D4157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291" y="1451781"/>
            <a:ext cx="7033121" cy="395443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696EB4E-D5A5-B9AF-AB4D-54ECAD41B846}"/>
              </a:ext>
            </a:extLst>
          </p:cNvPr>
          <p:cNvSpPr txBox="1"/>
          <p:nvPr/>
        </p:nvSpPr>
        <p:spPr>
          <a:xfrm>
            <a:off x="8078055" y="1051671"/>
            <a:ext cx="351251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5G NR Testbed Setup</a:t>
            </a: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F7138DC7-4B2C-1C62-9396-A0FC81BCC7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12412" y="1464374"/>
            <a:ext cx="5579444" cy="45724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Implemented using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OpenAirInterface (OAI).</a:t>
            </a:r>
          </a:p>
          <a:p>
            <a:pPr marL="285750" marR="0" lvl="0" indent="-28575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Operates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monolithic Stand-Alone (SA).</a:t>
            </a:r>
          </a:p>
          <a:p>
            <a:pPr marL="800100" lvl="1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0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ull 5G RAN protocol stack </a:t>
            </a:r>
          </a:p>
          <a:p>
            <a:pPr marL="800100" lvl="1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5G core network.</a:t>
            </a:r>
          </a:p>
          <a:p>
            <a:pPr marL="285750" marR="0" lvl="0" indent="-28575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USRPs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act as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RUs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OTA communication.</a:t>
            </a:r>
          </a:p>
          <a:p>
            <a:pPr marL="285750" marR="0" lvl="0" indent="-28575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OAI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gNB and UE stacks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run on:</a:t>
            </a:r>
          </a:p>
          <a:p>
            <a:pPr marL="742950" lvl="1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Intel i7,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12 cores @ 4.9 GHz</a:t>
            </a:r>
          </a:p>
          <a:p>
            <a:pPr marL="742950" lvl="1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32 GB RAM</a:t>
            </a:r>
          </a:p>
          <a:p>
            <a:pPr marL="742950" lvl="1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Ubuntu 22.04 LTS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low-latency kernel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56852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E3454D-AE44-EADA-322F-9ECB6918F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E383F0BA-4C17-F372-852F-5069169022AA}"/>
              </a:ext>
            </a:extLst>
          </p:cNvPr>
          <p:cNvSpPr txBox="1"/>
          <p:nvPr/>
        </p:nvSpPr>
        <p:spPr>
          <a:xfrm>
            <a:off x="96253" y="77001"/>
            <a:ext cx="99428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Evaluation Methodology</a:t>
            </a:r>
            <a:endParaRPr lang="en-IN" sz="3600" dirty="0">
              <a:solidFill>
                <a:schemeClr val="accent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4D710F5-4273-01CD-5575-58FCA4F00794}"/>
              </a:ext>
            </a:extLst>
          </p:cNvPr>
          <p:cNvCxnSpPr/>
          <p:nvPr/>
        </p:nvCxnSpPr>
        <p:spPr>
          <a:xfrm>
            <a:off x="96253" y="838836"/>
            <a:ext cx="1172357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A6B4C1EA-E086-98C9-A306-3A6406654C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1013519"/>
                <a:ext cx="12095747" cy="70788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285750" indent="-28575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Wingdings" panose="05000000000000000000" pitchFamily="2" charset="2"/>
                  <a:buChar char="q"/>
                </a:pPr>
                <a:r>
                  <a:rPr lang="en-US" altLang="en-US" sz="2000" b="1" dirty="0">
                    <a:solidFill>
                      <a:schemeClr val="accent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UE Geometry Matters:</a:t>
                </a:r>
                <a:r>
                  <a:rPr lang="en-US" altLang="en-US" sz="2000" dirty="0">
                    <a:solidFill>
                      <a:schemeClr val="accent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RIS sees each user through azimuth/elevation angles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en-US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en-US" i="1" dirty="0" err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𝜈</m:t>
                            </m:r>
                          </m:e>
                          <m:sub>
                            <m:r>
                              <a:rPr lang="en-US" altLang="en-US" i="1" dirty="0" err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altLang="en-US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en-US" i="1" dirty="0" err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𝜓</m:t>
                            </m:r>
                          </m:e>
                          <m:sub>
                            <m:r>
                              <a:rPr lang="en-US" altLang="en-US" i="1" dirty="0" err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altLang="en-US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​</m:t>
                        </m:r>
                      </m:e>
                    </m:d>
                    <m:r>
                      <a:rPr lang="en-US" altLang="en-US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endParaRPr kumimoji="0" lang="en-US" altLang="en-US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marR="0" lvl="0" indent="-28575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Wingdings" panose="05000000000000000000" pitchFamily="2" charset="2"/>
                  <a:buChar char="q"/>
                  <a:tabLst/>
                </a:pPr>
                <a:r>
                  <a:rPr kumimoji="0" lang="en-US" altLang="en-US" sz="2000" b="1" i="0" u="none" strike="noStrike" cap="none" normalizeH="0" baseline="0" dirty="0">
                    <a:ln>
                      <a:noFill/>
                    </a:ln>
                    <a:solidFill>
                      <a:schemeClr val="accent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Finite RIS Codebook</a:t>
                </a:r>
                <a:r>
                  <a:rPr kumimoji="0" lang="en-US" altLang="en-US" sz="2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r>
                  <a:rPr kumimoji="0" lang="en-US" altLang="en-US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kumimoji="0" lang="en-US" altLang="en-US" b="1" i="0" u="none" strike="noStrike" cap="none" normalizeH="0" baseline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 discrete phase states</a:t>
                </a:r>
                <a:r>
                  <a:rPr kumimoji="0" lang="en-US" altLang="en-US" b="0" i="0" u="none" strike="noStrike" cap="none" normalizeH="0" baseline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kumimoji="0" lang="en-US" altLang="en-US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{</m:t>
                    </m:r>
                    <m:sSub>
                      <m:sSubPr>
                        <m:ctrlPr>
                          <a:rPr kumimoji="0" lang="en-US" altLang="en-US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0" lang="en-US" altLang="en-US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𝜙</m:t>
                        </m:r>
                      </m:e>
                      <m:sub>
                        <m:r>
                          <a:rPr kumimoji="0" lang="en-US" altLang="en-US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kumimoji="0" lang="en-US" altLang="en-US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kumimoji="0" lang="en-US" altLang="en-US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0" lang="en-US" altLang="en-US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𝜙</m:t>
                        </m:r>
                      </m:e>
                      <m:sub>
                        <m:r>
                          <a:rPr kumimoji="0" lang="en-US" altLang="en-US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kumimoji="0" lang="en-US" altLang="en-US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,…,</m:t>
                    </m:r>
                    <m:sSub>
                      <m:sSubPr>
                        <m:ctrlPr>
                          <a:rPr kumimoji="0" lang="en-US" altLang="en-US" b="0" i="1" u="none" strike="noStrike" cap="none" normalizeH="0" baseline="0" dirty="0" err="1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0" lang="en-US" altLang="en-US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𝜙</m:t>
                        </m:r>
                      </m:e>
                      <m:sub>
                        <m:r>
                          <a:rPr kumimoji="0" lang="en-US" altLang="en-US" b="0" i="1" u="none" strike="noStrike" cap="none" normalizeH="0" baseline="0" dirty="0" err="1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</m:sSub>
                    <m:r>
                      <m:rPr>
                        <m:lit/>
                      </m:rPr>
                      <a:rPr kumimoji="0" lang="en-US" altLang="en-US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}</m:t>
                    </m:r>
                  </m:oMath>
                </a14:m>
                <a:r>
                  <a:rPr kumimoji="0" lang="en-US" altLang="en-US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each chosen with probability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en-US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0" lang="en-US" altLang="en-US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𝑝</m:t>
                        </m:r>
                      </m:e>
                      <m:sub>
                        <m:r>
                          <a:rPr kumimoji="0" lang="en-US" altLang="en-US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ℓ</m:t>
                        </m:r>
                      </m:sub>
                    </m:sSub>
                  </m:oMath>
                </a14:m>
                <a:r>
                  <a:rPr kumimoji="0" lang="en-US" altLang="en-US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​.</a:t>
                </a: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A6B4C1EA-E086-98C9-A306-3A6406654C7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0" y="1013519"/>
                <a:ext cx="12095747" cy="707886"/>
              </a:xfrm>
              <a:prstGeom prst="rect">
                <a:avLst/>
              </a:prstGeom>
              <a:blipFill>
                <a:blip r:embed="rId3"/>
                <a:stretch>
                  <a:fillRect l="-454" t="-4310" b="-1551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C0D90C48-A6E7-F2DE-04A4-74007CD20857}"/>
              </a:ext>
            </a:extLst>
          </p:cNvPr>
          <p:cNvSpPr txBox="1"/>
          <p:nvPr/>
        </p:nvSpPr>
        <p:spPr>
          <a:xfrm>
            <a:off x="0" y="1618281"/>
            <a:ext cx="1237008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0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Sampling Distribution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Matching the RIS phase distribution to the users’ angular statistics maximizes the system throughput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0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Setup: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9DA587-EB69-7055-9580-1BBE31F7C014}"/>
              </a:ext>
            </a:extLst>
          </p:cNvPr>
          <p:cNvSpPr txBox="1"/>
          <p:nvPr/>
        </p:nvSpPr>
        <p:spPr>
          <a:xfrm>
            <a:off x="3309037" y="2930929"/>
            <a:ext cx="35173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Core Idea and Claim</a:t>
            </a:r>
            <a:endParaRPr lang="en-IN" sz="28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F1D7B72-EA47-A386-4079-E666D1571E04}"/>
              </a:ext>
            </a:extLst>
          </p:cNvPr>
          <p:cNvSpPr txBox="1"/>
          <p:nvPr/>
        </p:nvSpPr>
        <p:spPr>
          <a:xfrm>
            <a:off x="96253" y="3268311"/>
            <a:ext cx="1018352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2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Randomized RIS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 switches between phase states with a switching time = Ts.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2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Proportional fair scheduler: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gNB employs a PF scheduler with EWMA parameter = α</a:t>
            </a:r>
            <a:r>
              <a:rPr lang="en-IN" sz="2000" dirty="0"/>
              <a:t>.</a:t>
            </a:r>
            <a:endParaRPr lang="en-IN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7F10073-A1FA-74DA-C4D7-FAD7AA7B79EF}"/>
              </a:ext>
            </a:extLst>
          </p:cNvPr>
          <p:cNvGrpSpPr/>
          <p:nvPr/>
        </p:nvGrpSpPr>
        <p:grpSpPr>
          <a:xfrm>
            <a:off x="656410" y="4157207"/>
            <a:ext cx="8781835" cy="1848134"/>
            <a:chOff x="184936" y="4171030"/>
            <a:chExt cx="8781835" cy="184813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63E57D4B-F8B4-9B6D-1988-093190FFE5DD}"/>
                    </a:ext>
                  </a:extLst>
                </p:cNvPr>
                <p:cNvSpPr txBox="1"/>
                <p:nvPr/>
              </p:nvSpPr>
              <p:spPr>
                <a:xfrm>
                  <a:off x="624087" y="5531944"/>
                  <a:ext cx="7157235" cy="46519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b="0" i="0" dirty="0" smtClean="0">
                            <a:latin typeface="Cambria Math" panose="02040503050406030204" pitchFamily="18" charset="0"/>
                          </a:rPr>
                          <m:t>𝐔𝐬𝐢𝐧𝐠</m:t>
                        </m:r>
                        <m:r>
                          <a:rPr lang="en-IN" b="0" i="0" dirty="0" smtClean="0">
                            <a:latin typeface="Cambria Math" panose="02040503050406030204" pitchFamily="18" charset="0"/>
                          </a:rPr>
                          <m:t> </m:t>
                        </m:r>
                        <m:r>
                          <a:rPr lang="en-IN" b="0" i="0" dirty="0" smtClean="0">
                            <a:latin typeface="Cambria Math" panose="02040503050406030204" pitchFamily="18" charset="0"/>
                          </a:rPr>
                          <m:t>𝐚𝐩𝐩𝐫𝐨𝐩𝐫𝐢𝐚𝐭𝐞𝐥𝐲</m:t>
                        </m:r>
                        <m:r>
                          <a:rPr lang="en-IN" b="0" i="0" dirty="0" smtClean="0">
                            <a:latin typeface="Cambria Math" panose="02040503050406030204" pitchFamily="18" charset="0"/>
                          </a:rPr>
                          <m:t> </m:t>
                        </m:r>
                        <m:r>
                          <a:rPr lang="en-IN" b="0" i="0" dirty="0" smtClean="0">
                            <a:latin typeface="Cambria Math" panose="02040503050406030204" pitchFamily="18" charset="0"/>
                          </a:rPr>
                          <m:t>𝐜𝐡𝐨𝐬𝐞𝐧</m:t>
                        </m:r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 </m:t>
                        </m:r>
                        <m:r>
                          <a:rPr lang="en-IN" b="0" i="0" dirty="0" smtClean="0">
                            <a:latin typeface="Cambria Math" panose="02040503050406030204" pitchFamily="18" charset="0"/>
                          </a:rPr>
                          <m:t> </m:t>
                        </m:r>
                        <m:r>
                          <a:rPr lang="en-US" b="0" i="1" dirty="0" smtClean="0">
                            <a:solidFill>
                              <a:srgbClr val="FF0066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IN" i="1" dirty="0">
                            <a:solidFill>
                              <a:srgbClr val="FF0066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IN" b="0" i="1" dirty="0">
                                <a:solidFill>
                                  <a:srgbClr val="FF006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 dirty="0">
                                <a:solidFill>
                                  <a:srgbClr val="FF0066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IN" i="1" dirty="0">
                                <a:solidFill>
                                  <a:srgbClr val="FF0066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  <m:r>
                          <a:rPr lang="en-IN" i="1" dirty="0">
                            <a:solidFill>
                              <a:srgbClr val="FF0066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dirty="0" smtClean="0">
                            <a:solidFill>
                              <a:srgbClr val="FF0066"/>
                            </a:solidFill>
                            <a:latin typeface="Cambria Math" panose="02040503050406030204" pitchFamily="18" charset="0"/>
                          </a:rPr>
                          <m:t> </m:t>
                        </m:r>
                        <m:sSubSup>
                          <m:sSubSupPr>
                            <m:ctrlPr>
                              <a:rPr lang="en-IN" i="1" dirty="0" smtClean="0">
                                <a:solidFill>
                                  <a:srgbClr val="FF006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IN" i="1" dirty="0">
                                <a:solidFill>
                                  <a:srgbClr val="FF0066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IN" i="1" dirty="0">
                                <a:solidFill>
                                  <a:srgbClr val="FF0066"/>
                                </a:solidFill>
                                <a:latin typeface="Cambria Math" panose="02040503050406030204" pitchFamily="18" charset="0"/>
                              </a:rPr>
                              <m:t>𝑟𝑎𝑛𝑑</m:t>
                            </m:r>
                          </m:sub>
                          <m:sup>
                            <m:d>
                              <m:dPr>
                                <m:ctrlPr>
                                  <a:rPr lang="en-IN" i="1" dirty="0">
                                    <a:solidFill>
                                      <a:srgbClr val="FF0066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i="1" dirty="0">
                                    <a:solidFill>
                                      <a:srgbClr val="FF0066"/>
                                    </a:solidFill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e>
                            </m:d>
                          </m:sup>
                        </m:sSubSup>
                        <m:r>
                          <a:rPr lang="en-IN" i="1" dirty="0">
                            <a:solidFill>
                              <a:srgbClr val="FF0066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Sup>
                          <m:sSubSupPr>
                            <m:ctrlPr>
                              <a:rPr lang="en-IN" i="1" dirty="0">
                                <a:solidFill>
                                  <a:srgbClr val="FF006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IN" i="1" dirty="0">
                                <a:solidFill>
                                  <a:srgbClr val="FF0066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IN" i="1" dirty="0">
                                <a:solidFill>
                                  <a:srgbClr val="FF0066"/>
                                </a:solidFill>
                                <a:latin typeface="Cambria Math" panose="02040503050406030204" pitchFamily="18" charset="0"/>
                              </a:rPr>
                              <m:t>𝑜𝑝𝑡</m:t>
                            </m:r>
                          </m:sub>
                          <m:sup>
                            <m:d>
                              <m:dPr>
                                <m:ctrlPr>
                                  <a:rPr lang="en-IN" i="1" dirty="0">
                                    <a:solidFill>
                                      <a:srgbClr val="FF0066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i="1" dirty="0">
                                    <a:solidFill>
                                      <a:srgbClr val="FF0066"/>
                                    </a:solidFill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e>
                            </m:d>
                          </m:sup>
                        </m:sSubSup>
                        <m:r>
                          <a:rPr lang="en-IN" i="1" dirty="0">
                            <a:solidFill>
                              <a:srgbClr val="FF0066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</m:oMath>
                    </m:oMathPara>
                  </a14:m>
                  <a:endParaRPr dirty="0"/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63E57D4B-F8B4-9B6D-1988-093190FFE5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4087" y="5531944"/>
                  <a:ext cx="7157235" cy="465192"/>
                </a:xfrm>
                <a:prstGeom prst="rect">
                  <a:avLst/>
                </a:prstGeom>
                <a:blipFill>
                  <a:blip r:embed="rId4"/>
                  <a:stretch>
                    <a:fillRect b="-3896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54E68CB8-A78A-FE34-ED84-875D8235EC05}"/>
                </a:ext>
              </a:extLst>
            </p:cNvPr>
            <p:cNvSpPr/>
            <p:nvPr/>
          </p:nvSpPr>
          <p:spPr>
            <a:xfrm>
              <a:off x="184936" y="4171030"/>
              <a:ext cx="8781835" cy="1848134"/>
            </a:xfrm>
            <a:prstGeom prst="roundRect">
              <a:avLst/>
            </a:prstGeom>
            <a:noFill/>
            <a:ln>
              <a:solidFill>
                <a:srgbClr val="00B05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A70D8847-901A-1595-F8D7-D52BEAA8195D}"/>
                </a:ext>
              </a:extLst>
            </p:cNvPr>
            <p:cNvSpPr/>
            <p:nvPr/>
          </p:nvSpPr>
          <p:spPr>
            <a:xfrm>
              <a:off x="184936" y="4171030"/>
              <a:ext cx="8781835" cy="535241"/>
            </a:xfrm>
            <a:prstGeom prst="roundRect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000" dirty="0"/>
                <a:t>A random RIS phase will be optimal to atleast one UE: Multi-user diversity</a:t>
              </a:r>
              <a:endParaRPr lang="en-IN" sz="20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C3B19B65-F42E-14CB-594C-E069AD6E8B36}"/>
                    </a:ext>
                  </a:extLst>
                </p:cNvPr>
                <p:cNvSpPr txBox="1"/>
                <p:nvPr/>
              </p:nvSpPr>
              <p:spPr>
                <a:xfrm>
                  <a:off x="322352" y="4719734"/>
                  <a:ext cx="8507002" cy="8122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IN" i="1" dirty="0" smtClean="0">
                              <a:solidFill>
                                <a:srgbClr val="FF006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i="1" dirty="0" smtClean="0">
                              <a:solidFill>
                                <a:srgbClr val="FF0066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IN" i="1" dirty="0" smtClean="0">
                              <a:solidFill>
                                <a:srgbClr val="FF0066"/>
                              </a:solidFill>
                              <a:latin typeface="Cambria Math" panose="02040503050406030204" pitchFamily="18" charset="0"/>
                            </a:rPr>
                            <m:t>𝑜𝑝𝑡</m:t>
                          </m:r>
                        </m:sub>
                        <m:sup>
                          <m:d>
                            <m:dPr>
                              <m:ctrlPr>
                                <a:rPr lang="en-IN" i="1" dirty="0" smtClean="0">
                                  <a:solidFill>
                                    <a:srgbClr val="FF006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i="1" dirty="0" smtClean="0">
                                  <a:solidFill>
                                    <a:srgbClr val="FF0066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</m:d>
                          <m:r>
                            <a:rPr lang="en-US" b="0" i="1" dirty="0" smtClean="0">
                              <a:solidFill>
                                <a:srgbClr val="FF0066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</m:sup>
                      </m:sSubSup>
                    </m:oMath>
                  </a14:m>
                  <a:r>
                    <a:rPr lang="en-US" dirty="0"/>
                    <a:t> :  Throughput under RR scheduling of </a:t>
                  </a:r>
                  <a14:m>
                    <m:oMath xmlns:m="http://schemas.openxmlformats.org/officeDocument/2006/math">
                      <m:r>
                        <a:rPr lang="en-US" i="1" dirty="0">
                          <a:latin typeface="Cambria Math" panose="02040503050406030204" pitchFamily="18" charset="0"/>
                        </a:rPr>
                        <m:t>𝐊</m:t>
                      </m:r>
                    </m:oMath>
                  </a14:m>
                  <a:r>
                    <a:rPr lang="en-US" dirty="0"/>
                    <a:t> UEs with optimized RIS phase.</a:t>
                  </a:r>
                </a:p>
                <a:p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IN" i="1" dirty="0" smtClean="0">
                              <a:solidFill>
                                <a:srgbClr val="FF006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i="1" dirty="0">
                              <a:solidFill>
                                <a:srgbClr val="FF0066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rgbClr val="FF0066"/>
                              </a:solidFill>
                              <a:latin typeface="Cambria Math" panose="02040503050406030204" pitchFamily="18" charset="0"/>
                            </a:rPr>
                            <m:t>𝑟𝑎𝑛𝑑</m:t>
                          </m:r>
                        </m:sub>
                        <m:sup>
                          <m:d>
                            <m:dPr>
                              <m:ctrlPr>
                                <a:rPr lang="en-IN" b="0" i="1" dirty="0" smtClean="0">
                                  <a:solidFill>
                                    <a:srgbClr val="FF006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i="1" dirty="0">
                                  <a:solidFill>
                                    <a:srgbClr val="FF0066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</m:d>
                        </m:sup>
                      </m:sSubSup>
                    </m:oMath>
                  </a14:m>
                  <a:r>
                    <a:rPr lang="en-US" dirty="0"/>
                    <a:t>:  Throughput under PF scheduling of </a:t>
                  </a:r>
                  <a14:m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𝐊</m:t>
                      </m:r>
                    </m:oMath>
                  </a14:m>
                  <a:r>
                    <a:rPr lang="en-US" dirty="0"/>
                    <a:t> UEs with randomized RIS phase</a:t>
                  </a:r>
                  <a:endParaRPr lang="en-IN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C3B19B65-F42E-14CB-594C-E069AD6E8B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2352" y="4719734"/>
                  <a:ext cx="8507002" cy="812210"/>
                </a:xfrm>
                <a:prstGeom prst="rect">
                  <a:avLst/>
                </a:prstGeom>
                <a:blipFill>
                  <a:blip r:embed="rId5"/>
                  <a:stretch>
                    <a:fillRect b="-9023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39B74D9-BFF6-6BA6-DCC3-A2AA52773311}"/>
                  </a:ext>
                </a:extLst>
              </p:cNvPr>
              <p:cNvSpPr txBox="1"/>
              <p:nvPr/>
            </p:nvSpPr>
            <p:spPr>
              <a:xfrm>
                <a:off x="184936" y="2335024"/>
                <a:ext cx="11670726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/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UE Placement &amp; Geometry:</a:t>
                </a: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Two UEs are located at azimuth angles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30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45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ar-AE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both with elevation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endParaRPr lang="en-IN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RIS State Distribution: </a:t>
                </a: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RIS switches between the two beamforming states corresponding to these angles.</a:t>
                </a:r>
                <a:endParaRPr lang="en-US" sz="1600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39B74D9-BFF6-6BA6-DCC3-A2AA527733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936" y="2335024"/>
                <a:ext cx="11670726" cy="646331"/>
              </a:xfrm>
              <a:prstGeom prst="rect">
                <a:avLst/>
              </a:prstGeom>
              <a:blipFill>
                <a:blip r:embed="rId6"/>
                <a:stretch>
                  <a:fillRect t="-4717" b="-1415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1" name="Graphic 20" descr="Key">
            <a:extLst>
              <a:ext uri="{FF2B5EF4-FFF2-40B4-BE49-F238E27FC236}">
                <a16:creationId xmlns:a16="http://schemas.microsoft.com/office/drawing/2014/main" id="{049B8626-C4FA-402F-F539-1DA8B6D0CE5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5400000">
            <a:off x="9577685" y="4099308"/>
            <a:ext cx="1820489" cy="1820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47122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94CC9A-24A5-089E-7FAB-91D5ED4BE6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D465EC7-B143-A8F2-54E3-8A31E5564D57}"/>
              </a:ext>
            </a:extLst>
          </p:cNvPr>
          <p:cNvSpPr txBox="1"/>
          <p:nvPr/>
        </p:nvSpPr>
        <p:spPr>
          <a:xfrm>
            <a:off x="96253" y="77001"/>
            <a:ext cx="99428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With RIS and Without RIS</a:t>
            </a:r>
            <a:endParaRPr lang="en-IN" sz="3600" dirty="0">
              <a:solidFill>
                <a:schemeClr val="accent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82A61C2-CBD2-D76F-7BB7-D308D3F1DA2B}"/>
              </a:ext>
            </a:extLst>
          </p:cNvPr>
          <p:cNvCxnSpPr/>
          <p:nvPr/>
        </p:nvCxnSpPr>
        <p:spPr>
          <a:xfrm>
            <a:off x="96253" y="838836"/>
            <a:ext cx="1172357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0" name="Scroll: Horizontal 19">
            <a:extLst>
              <a:ext uri="{FF2B5EF4-FFF2-40B4-BE49-F238E27FC236}">
                <a16:creationId xmlns:a16="http://schemas.microsoft.com/office/drawing/2014/main" id="{8A78C5F7-7E86-A39C-0E90-744144AAD1C4}"/>
              </a:ext>
            </a:extLst>
          </p:cNvPr>
          <p:cNvSpPr/>
          <p:nvPr/>
        </p:nvSpPr>
        <p:spPr>
          <a:xfrm>
            <a:off x="519766" y="4501745"/>
            <a:ext cx="3647975" cy="1517419"/>
          </a:xfrm>
          <a:prstGeom prst="horizontalScroll">
            <a:avLst/>
          </a:prstGeom>
          <a:noFill/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31DE1C0-91A8-1DA8-C7AD-BA588D5373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7567081"/>
              </p:ext>
            </p:extLst>
          </p:nvPr>
        </p:nvGraphicFramePr>
        <p:xfrm>
          <a:off x="221816" y="1181996"/>
          <a:ext cx="8128000" cy="274558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886651517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860359579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874255628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856089676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914924547"/>
                    </a:ext>
                  </a:extLst>
                </a:gridCol>
              </a:tblGrid>
              <a:tr h="680799">
                <a:tc row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With vs without RIS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RSRP (in dB)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Throughput (in Mbps)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6321334"/>
                  </a:ext>
                </a:extLst>
              </a:tr>
              <a:tr h="70513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UE-1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UE-2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UE-1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UE-2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2775409"/>
                  </a:ext>
                </a:extLst>
              </a:tr>
              <a:tr h="66100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Without RIS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-112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-110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40.70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47.40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6564101"/>
                  </a:ext>
                </a:extLst>
              </a:tr>
              <a:tr h="69864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With RIS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-105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102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50.10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58.20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6217707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5" name="Scroll: Horizontal 14">
                <a:extLst>
                  <a:ext uri="{FF2B5EF4-FFF2-40B4-BE49-F238E27FC236}">
                    <a16:creationId xmlns:a16="http://schemas.microsoft.com/office/drawing/2014/main" id="{DE6684FF-AFF9-B9A7-1C20-40CA775CEF70}"/>
                  </a:ext>
                </a:extLst>
              </p:cNvPr>
              <p:cNvSpPr/>
              <p:nvPr/>
            </p:nvSpPr>
            <p:spPr>
              <a:xfrm>
                <a:off x="388146" y="3958998"/>
                <a:ext cx="3372987" cy="2060166"/>
              </a:xfrm>
              <a:prstGeom prst="horizontalScroll">
                <a:avLst/>
              </a:prstGeom>
              <a:noFill/>
              <a:ln>
                <a:solidFill>
                  <a:schemeClr val="accent3"/>
                </a:solidFill>
              </a:ln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IN" dirty="0">
                    <a:solidFill>
                      <a:schemeClr val="accent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Experiment Parameters:</a:t>
                </a:r>
              </a:p>
              <a:p>
                <a:pPr marL="285750" lvl="0" indent="-28575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Wingdings" panose="05000000000000000000" pitchFamily="2" charset="2"/>
                  <a:buChar char="Ø"/>
                </a:pPr>
                <a:r>
                  <a:rPr lang="en-US" altLang="en-US" sz="16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Switching Time: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US" altLang="en-US" dirty="0">
                    <a:solidFill>
                      <a:schemeClr val="tx1"/>
                    </a:solidFill>
                    <a:latin typeface="Arial" panose="020B0604020202020204" pitchFamily="34" charset="0"/>
                  </a:rPr>
                  <a:t> = </a:t>
                </a:r>
                <a:r>
                  <a:rPr lang="en-US" altLang="en-US" sz="16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9 sec</a:t>
                </a:r>
              </a:p>
              <a:p>
                <a:pPr marL="285750" lvl="0" indent="-28575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Wingdings" panose="05000000000000000000" pitchFamily="2" charset="2"/>
                  <a:buChar char="Ø"/>
                </a:pPr>
                <a:r>
                  <a:rPr lang="en-US" altLang="en-US" sz="16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PF Parameters:</a:t>
                </a:r>
              </a:p>
              <a:p>
                <a:pPr lvl="0" algn="ctr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en-US" sz="16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en-US" sz="16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 0.01,</m:t>
                    </m:r>
                    <m:r>
                      <m:rPr>
                        <m:lit/>
                      </m:rPr>
                      <a:rPr lang="en-US" altLang="en-US" sz="16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en-US" sz="16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0.0005,</m:t>
                    </m:r>
                    <m:r>
                      <m:rPr>
                        <m:lit/>
                      </m:rPr>
                      <a:rPr lang="en-US" altLang="en-US" sz="16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en-US" sz="16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0.00005</m:t>
                    </m:r>
                  </m:oMath>
                </a14:m>
                <a:r>
                  <a:rPr lang="en-US" altLang="en-US" sz="1600" dirty="0">
                    <a:solidFill>
                      <a:schemeClr val="tx1"/>
                    </a:solidFill>
                    <a:latin typeface="Arial" panose="020B0604020202020204" pitchFamily="34" charset="0"/>
                  </a:rPr>
                  <a:t>.</a:t>
                </a:r>
                <a:endParaRPr lang="en-IN" dirty="0">
                  <a:solidFill>
                    <a:schemeClr val="accent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" name="Scroll: Horizontal 14">
                <a:extLst>
                  <a:ext uri="{FF2B5EF4-FFF2-40B4-BE49-F238E27FC236}">
                    <a16:creationId xmlns:a16="http://schemas.microsoft.com/office/drawing/2014/main" id="{DE6684FF-AFF9-B9A7-1C20-40CA775CEF7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146" y="3958998"/>
                <a:ext cx="3372987" cy="2060166"/>
              </a:xfrm>
              <a:prstGeom prst="horizontalScroll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accent3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1">
                <a:extLst>
                  <a:ext uri="{FF2B5EF4-FFF2-40B4-BE49-F238E27FC236}">
                    <a16:creationId xmlns:a16="http://schemas.microsoft.com/office/drawing/2014/main" id="{FDE0C5F6-5902-64B2-4FF6-65AAD86984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92753" y="4501745"/>
                <a:ext cx="8382423" cy="120032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non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285750" marR="0" lvl="0" indent="-28575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Wingdings" panose="05000000000000000000" pitchFamily="2" charset="2"/>
                  <a:buChar char="q"/>
                  <a:tabLst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en-US" sz="18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0" lang="en-US" altLang="en-US" sz="18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kumimoji="0" lang="en-US" altLang="en-US" sz="18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sub>
                    </m:sSub>
                    <m:r>
                      <a:rPr kumimoji="0" lang="en-US" altLang="en-US" sz="18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​</m:t>
                    </m:r>
                  </m:oMath>
                </a14:m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must be long enough for the aligned UE to benefit from the RIS beamforming gain.</a:t>
                </a:r>
              </a:p>
              <a:p>
                <a:pPr marL="285750" marR="0" lvl="0" indent="-28575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Wingdings" panose="05000000000000000000" pitchFamily="2" charset="2"/>
                  <a:buChar char="q"/>
                  <a:tabLst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en-US" sz="18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0" lang="en-US" altLang="en-US" sz="18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kumimoji="0" lang="en-US" altLang="en-US" sz="18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must not be too long, otherwise the PF scheduler will start serving the other UE.</a:t>
                </a:r>
              </a:p>
              <a:p>
                <a:pPr marL="285750" marR="0" lvl="0" indent="-28575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Wingdings" panose="05000000000000000000" pitchFamily="2" charset="2"/>
                  <a:buChar char="q"/>
                  <a:tabLst/>
                </a:pPr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So, the pair </a:t>
                </a:r>
                <a14:m>
                  <m:oMath xmlns:m="http://schemas.openxmlformats.org/officeDocument/2006/math">
                    <m:d>
                      <m:dPr>
                        <m:ctrlPr>
                          <a:rPr kumimoji="0" lang="en-US" altLang="en-US" sz="18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kumimoji="0" lang="en-US" altLang="en-US" sz="18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𝛼</m:t>
                        </m:r>
                        <m:r>
                          <a:rPr kumimoji="0" lang="en-US" altLang="en-US" sz="18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kumimoji="0" lang="en-US" altLang="en-US" sz="1800" b="0" i="1" u="none" strike="noStrike" cap="none" normalizeH="0" baseline="0" dirty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kumimoji="0" lang="en-US" altLang="en-US" sz="1800" b="0" i="1" u="none" strike="noStrike" cap="none" normalizeH="0" baseline="0" dirty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kumimoji="0" lang="en-US" altLang="en-US" sz="1800" b="0" i="1" u="none" strike="noStrike" cap="none" normalizeH="0" baseline="0" dirty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𝑠</m:t>
                            </m:r>
                          </m:sub>
                        </m:sSub>
                      </m:e>
                    </m:d>
                  </m:oMath>
                </a14:m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must be tuned carefully for good system performance.</a:t>
                </a:r>
              </a:p>
              <a:p>
                <a:pPr marL="285750" marR="0" lvl="0" indent="-28575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Wingdings" panose="05000000000000000000" pitchFamily="2" charset="2"/>
                  <a:buChar char="q"/>
                  <a:tabLst/>
                </a:pPr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 this work,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en-US" sz="18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0" lang="en-US" altLang="en-US" sz="18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kumimoji="0" lang="en-US" altLang="en-US" sz="18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sub>
                    </m:sSub>
                    <m:r>
                      <a:rPr kumimoji="0" lang="en-US" altLang="en-US" sz="18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​</m:t>
                    </m:r>
                  </m:oMath>
                </a14:m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chosen empirically.</a:t>
                </a:r>
              </a:p>
            </p:txBody>
          </p:sp>
        </mc:Choice>
        <mc:Fallback xmlns="">
          <p:sp>
            <p:nvSpPr>
              <p:cNvPr id="3" name="Rectangle 1">
                <a:extLst>
                  <a:ext uri="{FF2B5EF4-FFF2-40B4-BE49-F238E27FC236}">
                    <a16:creationId xmlns:a16="http://schemas.microsoft.com/office/drawing/2014/main" id="{FDE0C5F6-5902-64B2-4FF6-65AAD869844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92753" y="4501745"/>
                <a:ext cx="8382423" cy="1200329"/>
              </a:xfrm>
              <a:prstGeom prst="rect">
                <a:avLst/>
              </a:prstGeom>
              <a:blipFill>
                <a:blip r:embed="rId3"/>
                <a:stretch>
                  <a:fillRect l="-454" t="-2105" r="-454" b="-842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Arrow: Curved Down 3">
            <a:extLst>
              <a:ext uri="{FF2B5EF4-FFF2-40B4-BE49-F238E27FC236}">
                <a16:creationId xmlns:a16="http://schemas.microsoft.com/office/drawing/2014/main" id="{CC148D88-6A31-0D8C-E577-221BF916B673}"/>
              </a:ext>
            </a:extLst>
          </p:cNvPr>
          <p:cNvSpPr/>
          <p:nvPr/>
        </p:nvSpPr>
        <p:spPr>
          <a:xfrm rot="5568897">
            <a:off x="8172098" y="2967603"/>
            <a:ext cx="1148028" cy="737101"/>
          </a:xfrm>
          <a:prstGeom prst="curvedDownArrow">
            <a:avLst>
              <a:gd name="adj1" fmla="val 25000"/>
              <a:gd name="adj2" fmla="val 61462"/>
              <a:gd name="adj3" fmla="val 46650"/>
            </a:avLst>
          </a:prstGeom>
          <a:solidFill>
            <a:srgbClr val="B71E42"/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AF93621-19D0-3FD2-EF29-876470939C3A}"/>
                  </a:ext>
                </a:extLst>
              </p:cNvPr>
              <p:cNvSpPr txBox="1"/>
              <p:nvPr/>
            </p:nvSpPr>
            <p:spPr>
              <a:xfrm>
                <a:off x="3892753" y="4132412"/>
                <a:ext cx="618283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1" dirty="0">
                    <a:solidFill>
                      <a:schemeClr val="accent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Choice of the switching time,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1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𝑻</m:t>
                        </m:r>
                      </m:e>
                      <m:sub>
                        <m:r>
                          <a:rPr lang="en-US" b="1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𝒔</m:t>
                        </m:r>
                      </m:sub>
                    </m:sSub>
                  </m:oMath>
                </a14:m>
                <a:r>
                  <a:rPr lang="en-US" b="1" dirty="0">
                    <a:solidFill>
                      <a:schemeClr val="accent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endParaRPr lang="en-IN" b="1" dirty="0">
                  <a:solidFill>
                    <a:schemeClr val="accent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AF93621-19D0-3FD2-EF29-876470939C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2753" y="4132412"/>
                <a:ext cx="6182832" cy="369332"/>
              </a:xfrm>
              <a:prstGeom prst="rect">
                <a:avLst/>
              </a:prstGeom>
              <a:blipFill>
                <a:blip r:embed="rId4"/>
                <a:stretch>
                  <a:fillRect l="-888"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CAFB908F-E216-EB9A-6019-8060BCF4CBA1}"/>
              </a:ext>
            </a:extLst>
          </p:cNvPr>
          <p:cNvSpPr txBox="1"/>
          <p:nvPr/>
        </p:nvSpPr>
        <p:spPr>
          <a:xfrm>
            <a:off x="8893996" y="1753697"/>
            <a:ext cx="27391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RSRP increment: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7–8 dB  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Rate increment: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10 Mbps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Cloud 11">
            <a:extLst>
              <a:ext uri="{FF2B5EF4-FFF2-40B4-BE49-F238E27FC236}">
                <a16:creationId xmlns:a16="http://schemas.microsoft.com/office/drawing/2014/main" id="{CE979173-936F-7598-8549-AF20BEBA52E2}"/>
              </a:ext>
            </a:extLst>
          </p:cNvPr>
          <p:cNvSpPr/>
          <p:nvPr/>
        </p:nvSpPr>
        <p:spPr>
          <a:xfrm>
            <a:off x="8455631" y="1525260"/>
            <a:ext cx="3736369" cy="1103968"/>
          </a:xfrm>
          <a:prstGeom prst="cloud">
            <a:avLst/>
          </a:prstGeom>
          <a:noFill/>
          <a:ln>
            <a:solidFill>
              <a:schemeClr val="accent3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849963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CFFAA5-2433-91F0-D897-335CF83ABA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136E4BDE-C944-AEDB-59E8-7BC3F0517AFE}"/>
              </a:ext>
            </a:extLst>
          </p:cNvPr>
          <p:cNvSpPr txBox="1"/>
          <p:nvPr/>
        </p:nvSpPr>
        <p:spPr>
          <a:xfrm>
            <a:off x="96253" y="77001"/>
            <a:ext cx="99428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What Next?</a:t>
            </a:r>
            <a:endParaRPr lang="en-IN" sz="3600" dirty="0">
              <a:solidFill>
                <a:schemeClr val="accent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6AD7276-F440-DF38-80D0-5C8E1BABD8AB}"/>
              </a:ext>
            </a:extLst>
          </p:cNvPr>
          <p:cNvCxnSpPr/>
          <p:nvPr/>
        </p:nvCxnSpPr>
        <p:spPr>
          <a:xfrm>
            <a:off x="96253" y="838836"/>
            <a:ext cx="1172357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0" name="Scroll: Horizontal 19">
            <a:extLst>
              <a:ext uri="{FF2B5EF4-FFF2-40B4-BE49-F238E27FC236}">
                <a16:creationId xmlns:a16="http://schemas.microsoft.com/office/drawing/2014/main" id="{96EEA655-EFEE-8887-6E4F-B37BA8734506}"/>
              </a:ext>
            </a:extLst>
          </p:cNvPr>
          <p:cNvSpPr/>
          <p:nvPr/>
        </p:nvSpPr>
        <p:spPr>
          <a:xfrm>
            <a:off x="519766" y="4501745"/>
            <a:ext cx="3647975" cy="1517419"/>
          </a:xfrm>
          <a:prstGeom prst="horizontalScroll">
            <a:avLst/>
          </a:prstGeom>
          <a:noFill/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D6DD76-3F4D-56B3-46FB-27F82D8E4BAD}"/>
              </a:ext>
            </a:extLst>
          </p:cNvPr>
          <p:cNvSpPr txBox="1"/>
          <p:nvPr/>
        </p:nvSpPr>
        <p:spPr>
          <a:xfrm>
            <a:off x="238874" y="967285"/>
            <a:ext cx="7189925" cy="3614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300000"/>
              </a:lnSpc>
              <a:buClr>
                <a:srgbClr val="00B0F0"/>
              </a:buClr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Change alternate RIS switching to random switching.</a:t>
            </a:r>
          </a:p>
          <a:p>
            <a:pPr marL="285750" indent="-285750">
              <a:lnSpc>
                <a:spcPct val="300000"/>
              </a:lnSpc>
              <a:buClr>
                <a:srgbClr val="00B0F0"/>
              </a:buClr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Extend to multiple UEs and more RIS states.</a:t>
            </a:r>
          </a:p>
          <a:p>
            <a:pPr marL="285750" indent="-285750">
              <a:lnSpc>
                <a:spcPct val="300000"/>
              </a:lnSpc>
              <a:buClr>
                <a:srgbClr val="00B0F0"/>
              </a:buClr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 in indoor vs. outdoor measurement setups.</a:t>
            </a:r>
          </a:p>
          <a:p>
            <a:pPr marL="285750" indent="-285750">
              <a:lnSpc>
                <a:spcPct val="300000"/>
              </a:lnSpc>
              <a:buClr>
                <a:srgbClr val="00B0F0"/>
              </a:buClr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feasible values of Ts based on PF scheduling parameters.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4624F8-F161-9230-6B7A-13FE5654ED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8799" y="1151014"/>
            <a:ext cx="4391025" cy="428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03907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785957-A9C9-242C-0389-4FF11E8444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F46FD123-D0CE-93E2-071E-89CC454390DD}"/>
              </a:ext>
            </a:extLst>
          </p:cNvPr>
          <p:cNvSpPr txBox="1"/>
          <p:nvPr/>
        </p:nvSpPr>
        <p:spPr>
          <a:xfrm>
            <a:off x="96253" y="77001"/>
            <a:ext cx="99428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accent3"/>
                </a:solidFill>
              </a:rPr>
              <a:t>References</a:t>
            </a:r>
            <a:endParaRPr lang="en-IN" sz="3600" dirty="0">
              <a:solidFill>
                <a:schemeClr val="accent3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FF65AC3-6F67-0D47-6A0E-5D5E7645901E}"/>
              </a:ext>
            </a:extLst>
          </p:cNvPr>
          <p:cNvCxnSpPr/>
          <p:nvPr/>
        </p:nvCxnSpPr>
        <p:spPr>
          <a:xfrm>
            <a:off x="96253" y="838836"/>
            <a:ext cx="1172357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0" name="Scroll: Horizontal 19">
            <a:extLst>
              <a:ext uri="{FF2B5EF4-FFF2-40B4-BE49-F238E27FC236}">
                <a16:creationId xmlns:a16="http://schemas.microsoft.com/office/drawing/2014/main" id="{8A509F30-5B10-A432-F67F-9AC2EEA5A11A}"/>
              </a:ext>
            </a:extLst>
          </p:cNvPr>
          <p:cNvSpPr/>
          <p:nvPr/>
        </p:nvSpPr>
        <p:spPr>
          <a:xfrm>
            <a:off x="519766" y="4501745"/>
            <a:ext cx="3647975" cy="1517419"/>
          </a:xfrm>
          <a:prstGeom prst="horizontalScroll">
            <a:avLst/>
          </a:prstGeom>
          <a:noFill/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CFFC5D-F5CC-0582-6BBA-BBEDE91ABC99}"/>
              </a:ext>
            </a:extLst>
          </p:cNvPr>
          <p:cNvSpPr txBox="1"/>
          <p:nvPr/>
        </p:nvSpPr>
        <p:spPr>
          <a:xfrm>
            <a:off x="96253" y="1887259"/>
            <a:ext cx="12095747" cy="295106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Further Reading: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R. Malleboina and D. Sarkar, "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Digitally Coded Intelligent Reflecting Surface for 6G Wireless Communication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," Proc. 19th </a:t>
            </a:r>
            <a:r>
              <a:rPr lang="en-IN" sz="1800" b="1" dirty="0">
                <a:solidFill>
                  <a:srgbClr val="FF2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European Conference on Antennas and Propagation (EuCAP),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Stockholm, Sweden, 2025, pp. 1-5.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L. Yashvanth, C. R. Murthy and B. D. Rao, "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Spatial Correlation-Aware Opportunistic Beamforming in IRS-Aided Multi-User Systems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," in </a:t>
            </a:r>
            <a:r>
              <a:rPr lang="en-IN" b="1" dirty="0">
                <a:solidFill>
                  <a:srgbClr val="FF2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IEEE Wireless Communications Letters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14, no. 10, Oct. 2025.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L. Yashvanth and Chandra R. Murthy,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“Performance Analysis of IRS Assisted Opportunistic Communications,”</a:t>
            </a:r>
            <a:r>
              <a:rPr lang="en-IN" b="1" dirty="0">
                <a:solidFill>
                  <a:srgbClr val="0432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b="1" dirty="0">
                <a:solidFill>
                  <a:srgbClr val="FF2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IEEE Transactions on Signal Processing</a:t>
            </a:r>
            <a:r>
              <a:rPr lang="en-IN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vol. 71, pp. 2056-2070,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Jun. 2023 </a:t>
            </a:r>
          </a:p>
        </p:txBody>
      </p:sp>
      <p:pic>
        <p:nvPicPr>
          <p:cNvPr id="3074" name="Picture 2" descr="100+ Thank You Pictures | Download Free Images on Unsplash">
            <a:extLst>
              <a:ext uri="{FF2B5EF4-FFF2-40B4-BE49-F238E27FC236}">
                <a16:creationId xmlns:a16="http://schemas.microsoft.com/office/drawing/2014/main" id="{3F75EC8B-3F01-CFAF-9A3F-CB372D79285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569"/>
          <a:stretch>
            <a:fillRect/>
          </a:stretch>
        </p:blipFill>
        <p:spPr bwMode="auto">
          <a:xfrm>
            <a:off x="0" y="4838322"/>
            <a:ext cx="12192000" cy="2019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D544443-14DE-71DA-0CC2-73A1FB6E0859}"/>
              </a:ext>
            </a:extLst>
          </p:cNvPr>
          <p:cNvSpPr txBox="1"/>
          <p:nvPr/>
        </p:nvSpPr>
        <p:spPr>
          <a:xfrm>
            <a:off x="96253" y="1013687"/>
            <a:ext cx="11998765" cy="87357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Publication: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L. Yashvanth, M. Raju, A. Venkata Reddy, N. Guna Sai Kiran, Chandra R. Murthy, and Debdeep Sarkar, “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Practical RIS Gain Without Pain: Randomization and Opportunistic Scheduling in 5G NR?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,” submitted in Nov. 2025 for IEEE ICC 2026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55982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A19EAC-AF5B-4575-51F0-2D0FEE3DFE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4A845CB-49DF-2848-B568-4075C1780A61}"/>
                  </a:ext>
                </a:extLst>
              </p:cNvPr>
              <p:cNvSpPr txBox="1"/>
              <p:nvPr/>
            </p:nvSpPr>
            <p:spPr>
              <a:xfrm>
                <a:off x="96253" y="77001"/>
                <a:ext cx="9942896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600" dirty="0">
                    <a:solidFill>
                      <a:schemeClr val="accent3"/>
                    </a:solidFill>
                  </a:rPr>
                  <a:t>RSRP and Throughput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3600" i="1" dirty="0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600" i="1" dirty="0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sz="3600" i="1" dirty="0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=0.00005</m:t>
                        </m:r>
                      </m:e>
                    </m:d>
                  </m:oMath>
                </a14:m>
                <a:endParaRPr lang="en-IN" sz="3600" dirty="0">
                  <a:solidFill>
                    <a:schemeClr val="accent3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4A845CB-49DF-2848-B568-4075C1780A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253" y="77001"/>
                <a:ext cx="9942896" cy="646331"/>
              </a:xfrm>
              <a:prstGeom prst="rect">
                <a:avLst/>
              </a:prstGeom>
              <a:blipFill>
                <a:blip r:embed="rId2"/>
                <a:stretch>
                  <a:fillRect l="-1901" t="-15094" b="-349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C949A87-DA42-D1BA-555B-F1D9252FA725}"/>
              </a:ext>
            </a:extLst>
          </p:cNvPr>
          <p:cNvCxnSpPr/>
          <p:nvPr/>
        </p:nvCxnSpPr>
        <p:spPr>
          <a:xfrm>
            <a:off x="96253" y="838836"/>
            <a:ext cx="1172357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0" name="Scroll: Horizontal 19">
            <a:extLst>
              <a:ext uri="{FF2B5EF4-FFF2-40B4-BE49-F238E27FC236}">
                <a16:creationId xmlns:a16="http://schemas.microsoft.com/office/drawing/2014/main" id="{33F85E21-C395-2FFE-828E-A13F1D5681C6}"/>
              </a:ext>
            </a:extLst>
          </p:cNvPr>
          <p:cNvSpPr/>
          <p:nvPr/>
        </p:nvSpPr>
        <p:spPr>
          <a:xfrm>
            <a:off x="519766" y="4501745"/>
            <a:ext cx="3647975" cy="1517419"/>
          </a:xfrm>
          <a:prstGeom prst="horizontalScroll">
            <a:avLst/>
          </a:prstGeom>
          <a:noFill/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FA622DD-A06C-9CB8-923C-AAEC53C684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479" y="1407415"/>
            <a:ext cx="5393301" cy="404317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9F8BB0B-66A9-7A06-CC0F-128110C13A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1555" y="1407414"/>
            <a:ext cx="5393302" cy="4043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8678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A2F346-D9AC-850F-5710-2246745F61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5B0F0745-5DB7-9D61-3DEC-A3152E526E41}"/>
              </a:ext>
            </a:extLst>
          </p:cNvPr>
          <p:cNvSpPr txBox="1"/>
          <p:nvPr/>
        </p:nvSpPr>
        <p:spPr>
          <a:xfrm>
            <a:off x="96253" y="77001"/>
            <a:ext cx="99428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accent3"/>
                </a:solidFill>
              </a:rPr>
              <a:t>BLER and MCS</a:t>
            </a:r>
            <a:endParaRPr lang="en-IN" sz="3600" dirty="0">
              <a:solidFill>
                <a:schemeClr val="accent3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7759C17-6D99-497F-9128-5A286ADF2554}"/>
              </a:ext>
            </a:extLst>
          </p:cNvPr>
          <p:cNvCxnSpPr/>
          <p:nvPr/>
        </p:nvCxnSpPr>
        <p:spPr>
          <a:xfrm>
            <a:off x="96253" y="838836"/>
            <a:ext cx="1172357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0" name="Scroll: Horizontal 19">
            <a:extLst>
              <a:ext uri="{FF2B5EF4-FFF2-40B4-BE49-F238E27FC236}">
                <a16:creationId xmlns:a16="http://schemas.microsoft.com/office/drawing/2014/main" id="{581F00A1-73F4-2735-9613-7C6900E5F524}"/>
              </a:ext>
            </a:extLst>
          </p:cNvPr>
          <p:cNvSpPr/>
          <p:nvPr/>
        </p:nvSpPr>
        <p:spPr>
          <a:xfrm>
            <a:off x="519766" y="4501745"/>
            <a:ext cx="3647975" cy="1517419"/>
          </a:xfrm>
          <a:prstGeom prst="horizontalScroll">
            <a:avLst/>
          </a:prstGeom>
          <a:noFill/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45930CA-5FA0-121F-5AD3-0CAC7CE842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478" y="1421846"/>
            <a:ext cx="5354800" cy="401430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E20E2F-DED7-D47C-E304-9C180C7693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5088" y="1351160"/>
            <a:ext cx="5354800" cy="4014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13715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76C8A1-3EF4-B8A4-B3F7-F6BB006C6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707CE279-8519-84AA-4A28-778F6E696473}"/>
              </a:ext>
            </a:extLst>
          </p:cNvPr>
          <p:cNvSpPr txBox="1"/>
          <p:nvPr/>
        </p:nvSpPr>
        <p:spPr>
          <a:xfrm>
            <a:off x="96253" y="77001"/>
            <a:ext cx="99428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accent3"/>
                </a:solidFill>
              </a:rPr>
              <a:t>Randomized RIS Can Procure Full Benefits</a:t>
            </a:r>
            <a:endParaRPr lang="en-IN" sz="3600" dirty="0">
              <a:solidFill>
                <a:schemeClr val="accent3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35D745D-F1D8-CBB4-E727-8C0EA6E6EC17}"/>
              </a:ext>
            </a:extLst>
          </p:cNvPr>
          <p:cNvCxnSpPr/>
          <p:nvPr/>
        </p:nvCxnSpPr>
        <p:spPr>
          <a:xfrm>
            <a:off x="96253" y="838836"/>
            <a:ext cx="1172357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0" name="Scroll: Horizontal 19">
            <a:extLst>
              <a:ext uri="{FF2B5EF4-FFF2-40B4-BE49-F238E27FC236}">
                <a16:creationId xmlns:a16="http://schemas.microsoft.com/office/drawing/2014/main" id="{1B3F8AD5-1692-B727-1B99-3691F90168E5}"/>
              </a:ext>
            </a:extLst>
          </p:cNvPr>
          <p:cNvSpPr/>
          <p:nvPr/>
        </p:nvSpPr>
        <p:spPr>
          <a:xfrm>
            <a:off x="519766" y="4501745"/>
            <a:ext cx="3647975" cy="1517419"/>
          </a:xfrm>
          <a:prstGeom prst="horizontalScroll">
            <a:avLst/>
          </a:prstGeom>
          <a:noFill/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29568C0-B944-5617-3A99-73A36F27B1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630" y="1404990"/>
            <a:ext cx="5399771" cy="404802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ECDC24B-5F61-5D41-4E7A-319CA312C1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3861" y="1404988"/>
            <a:ext cx="5399771" cy="4048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4939132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Custom 10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84582C"/>
      </a:accent2>
      <a:accent3>
        <a:srgbClr val="002060"/>
      </a:accent3>
      <a:accent4>
        <a:srgbClr val="586EA6"/>
      </a:accent4>
      <a:accent5>
        <a:srgbClr val="586EA6"/>
      </a:accent5>
      <a:accent6>
        <a:srgbClr val="6892A0"/>
      </a:accent6>
      <a:hlink>
        <a:srgbClr val="B71E42"/>
      </a:hlink>
      <a:folHlink>
        <a:srgbClr val="586EA6"/>
      </a:folHlink>
    </a:clrScheme>
    <a:fontScheme name="Default">
      <a:majorFont>
        <a:latin typeface="Gill Sans MT"/>
        <a:ea typeface=""/>
        <a:cs typeface=""/>
      </a:majorFont>
      <a:minorFont>
        <a:latin typeface="Gill Sans MT"/>
        <a:ea typeface=""/>
        <a:cs typeface="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>
    <a:spDef>
      <a:spPr>
        <a:solidFill>
          <a:srgbClr val="B71E4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3">
          <a:schemeClr val="lt1"/>
        </a:lnRef>
        <a:fillRef idx="1">
          <a:schemeClr val="accent1"/>
        </a:fillRef>
        <a:effectRef idx="1">
          <a:schemeClr val="accent1"/>
        </a:effectRef>
        <a:fontRef idx="minor">
          <a:schemeClr val="lt1"/>
        </a:fontRef>
      </a:style>
    </a:spDef>
    <a:lnDef>
      <a:spPr>
        <a:ln w="31750"/>
      </a:spPr>
      <a:bodyPr/>
      <a:lstStyle/>
      <a:style>
        <a:lnRef idx="3">
          <a:schemeClr val="accent1"/>
        </a:lnRef>
        <a:fillRef idx="0">
          <a:schemeClr val="accent1"/>
        </a:fillRef>
        <a:effectRef idx="2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f66921596_win32_fixed.potx" id="{F81442EF-054B-43F2-9D42-4AC72B9AFB37}" vid="{A487745B-CFD4-4F4A-9F31-FD463ACA8A6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6a3aa372-8461-47a2-9d8d-d0af0cb80c0c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AD4C3C41E47044EA2AD423BF6FBFB74" ma:contentTypeVersion="12" ma:contentTypeDescription="Create a new document." ma:contentTypeScope="" ma:versionID="19b440dce11a0b0bb543bad85a0ee9e9">
  <xsd:schema xmlns:xsd="http://www.w3.org/2001/XMLSchema" xmlns:xs="http://www.w3.org/2001/XMLSchema" xmlns:p="http://schemas.microsoft.com/office/2006/metadata/properties" xmlns:ns3="6a3aa372-8461-47a2-9d8d-d0af0cb80c0c" targetNamespace="http://schemas.microsoft.com/office/2006/metadata/properties" ma:root="true" ma:fieldsID="537cb74f56d5f13514f3bbdfde5ddaa9" ns3:_="">
    <xsd:import namespace="6a3aa372-8461-47a2-9d8d-d0af0cb80c0c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_activity" minOccurs="0"/>
                <xsd:element ref="ns3:MediaLengthInSecond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a3aa372-8461-47a2-9d8d-d0af0cb80c0c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17" nillable="true" ma:displayName="_activity" ma:hidden="true" ma:internalName="_activity">
      <xsd:simpleType>
        <xsd:restriction base="dms:Note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4592637-B8A5-4765-968F-7805D08B6DB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349F60D-8989-43CB-A7F6-B7415B0BE245}">
  <ds:schemaRefs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6a3aa372-8461-47a2-9d8d-d0af0cb80c0c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23E70ACF-762C-48FC-A9B9-731FB5B6059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a3aa372-8461-47a2-9d8d-d0af0cb80c0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My invention</Template>
  <TotalTime>574</TotalTime>
  <Words>1003</Words>
  <Application>Microsoft Office PowerPoint</Application>
  <PresentationFormat>Widescreen</PresentationFormat>
  <Paragraphs>123</Paragraphs>
  <Slides>13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Arial</vt:lpstr>
      <vt:lpstr>Calibri</vt:lpstr>
      <vt:lpstr>Cambria Math</vt:lpstr>
      <vt:lpstr>Gill Sans MT</vt:lpstr>
      <vt:lpstr>Sans Serif Collection</vt:lpstr>
      <vt:lpstr>Times New Roman</vt:lpstr>
      <vt:lpstr>Wingdings</vt:lpstr>
      <vt:lpstr>Gallery</vt:lpstr>
      <vt:lpstr>DEMO: Practical RIS Gain without the Pain: Randomization and Opportunistic Scheduling in 5G NR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Nekkanti Guna Sai Kiran</dc:creator>
  <cp:lastModifiedBy>Nekkanti Guna Sai Kiran</cp:lastModifiedBy>
  <cp:revision>263</cp:revision>
  <cp:lastPrinted>2025-11-25T17:48:44Z</cp:lastPrinted>
  <dcterms:created xsi:type="dcterms:W3CDTF">2025-11-24T11:52:27Z</dcterms:created>
  <dcterms:modified xsi:type="dcterms:W3CDTF">2026-06-05T06:32:28Z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0x0101001AD4C3C41E47044EA2AD423BF6FBFB74</vt:lpwstr>
  </property>
</Properties>
</file>