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5"/>
  </p:notesMasterIdLst>
  <p:handoutMasterIdLst>
    <p:handoutMasterId r:id="rId26"/>
  </p:handoutMasterIdLst>
  <p:sldIdLst>
    <p:sldId id="256" r:id="rId5"/>
    <p:sldId id="272" r:id="rId6"/>
    <p:sldId id="274" r:id="rId7"/>
    <p:sldId id="275" r:id="rId8"/>
    <p:sldId id="276" r:id="rId9"/>
    <p:sldId id="277" r:id="rId10"/>
    <p:sldId id="278" r:id="rId11"/>
    <p:sldId id="279" r:id="rId12"/>
    <p:sldId id="270" r:id="rId13"/>
    <p:sldId id="257" r:id="rId14"/>
    <p:sldId id="258" r:id="rId15"/>
    <p:sldId id="259" r:id="rId16"/>
    <p:sldId id="260" r:id="rId17"/>
    <p:sldId id="261" r:id="rId18"/>
    <p:sldId id="268" r:id="rId19"/>
    <p:sldId id="262" r:id="rId20"/>
    <p:sldId id="263" r:id="rId21"/>
    <p:sldId id="264" r:id="rId22"/>
    <p:sldId id="266" r:id="rId23"/>
    <p:sldId id="26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FD579"/>
    <a:srgbClr val="8EFA00"/>
    <a:srgbClr val="FF0066"/>
    <a:srgbClr val="FF2F92"/>
    <a:srgbClr val="F7CCD6"/>
    <a:srgbClr val="B71E42"/>
    <a:srgbClr val="E2DED9"/>
    <a:srgbClr val="FDFDFD"/>
    <a:srgbClr val="DED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B558D5-DF74-DDCC-60C4-49B74D85A71D}" v="23" dt="2025-11-26T06:09:38.756"/>
    <p1510:client id="{FC54BA3D-C446-556E-93F6-DE76D1E65607}" v="8" dt="2025-11-26T04:06:31.529"/>
  </p1510:revLst>
</p1510:revInfo>
</file>

<file path=ppt/tableStyles.xml><?xml version="1.0" encoding="utf-8"?>
<a:tblStyleLst xmlns:a="http://schemas.openxmlformats.org/drawingml/2006/main" def="{3C2FFA5D-87B4-456A-9821-1D502468CF0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D81DDF-98D4-498E-A94D-DDD7A807AD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1BFCE-55A1-4C09-B4B5-9359AD6F4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4FA28-26D5-4BDF-9A75-C27596ADE055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EB1F3-97EE-4F0D-B402-E34820EC6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4877F-A04A-4D6A-A0A8-95CC6E2D2A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07CFE-5866-4B40-8953-42375E9B5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50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E1D6F-8584-4A53-833D-DCA47225B22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3874D-A20A-4B3E-9C12-F524953D5B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30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006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8BF0E-742B-D32A-CEC7-B7E99647C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487CB-C816-07C8-D7BD-891A76983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49064-530D-92DE-B1A1-A6CA7CDED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C0784-3FE6-96C3-D549-DCC647B0F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16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20E72-56A1-8488-CF66-41F080F90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A2BBF-B6A2-645B-E6B8-C5C70E96C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7747B-8E44-7520-7997-02B2103C3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1134D-F373-3EED-59B1-419F23090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11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Universal Software Radio Peripherals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64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Physical resource blocks (every 10 slots : 6 downlink, 3 are uplink,1 is a mixed slot)</a:t>
            </a:r>
          </a:p>
          <a:p>
            <a:r>
              <a:rPr lang="en-US"/>
              <a:t>(14 OFDM Symbols: 6DL,4 guard and 4 Uplink symbols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72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Note (Random RIS Operation):</a:t>
            </a:r>
            <a:br>
              <a:rPr lang="en-US"/>
            </a:br>
            <a:r>
              <a:rPr lang="en-US"/>
              <a:t>The RIS selects its state randomly every time slot—independent of which UE is scheduled—so a user gets full beamforming gain only when the randomly chosen state happens to match its direction.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3874D-A20A-4B3E-9C12-F524953D5B7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3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40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8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75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174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395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024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377124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65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6/5/2026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270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6/5/2026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58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6/5/2026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8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7" r:id="rId7"/>
    <p:sldLayoutId id="2147483691" r:id="rId8"/>
    <p:sldLayoutId id="2147483692" r:id="rId9"/>
    <p:sldLayoutId id="2147483696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0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A56C-7A25-4BD4-AA72-5256E68BE4C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520028" y="2692871"/>
            <a:ext cx="7151942" cy="707322"/>
          </a:xfrm>
        </p:spPr>
        <p:txBody>
          <a:bodyPr>
            <a:noAutofit/>
          </a:bodyPr>
          <a:lstStyle/>
          <a:p>
            <a:pPr algn="ctr"/>
            <a:r>
              <a:rPr lang="en-US" sz="3800" dirty="0"/>
              <a:t>IRS-aided communications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834EC6-2D51-F958-C13F-CB7300BCC054}"/>
              </a:ext>
            </a:extLst>
          </p:cNvPr>
          <p:cNvCxnSpPr>
            <a:cxnSpLocks/>
          </p:cNvCxnSpPr>
          <p:nvPr/>
        </p:nvCxnSpPr>
        <p:spPr>
          <a:xfrm>
            <a:off x="686602" y="3753853"/>
            <a:ext cx="105300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5280979-49B4-9FAB-E516-CC5B38310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8" y="81814"/>
            <a:ext cx="1722923" cy="17229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40BDCC-46D2-89EF-1139-587704E48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860" y="306134"/>
            <a:ext cx="3558139" cy="10867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F25350-EC2C-60B6-BDFE-AFCABF96E6D6}"/>
              </a:ext>
            </a:extLst>
          </p:cNvPr>
          <p:cNvSpPr txBox="1"/>
          <p:nvPr/>
        </p:nvSpPr>
        <p:spPr>
          <a:xfrm>
            <a:off x="3223567" y="3920042"/>
            <a:ext cx="5744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Yashvanth L., and Guna Sai Kiran</a:t>
            </a:r>
            <a:endParaRPr lang="en-IN" sz="2800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C34D58-2A23-C805-9E65-90132246AB74}"/>
              </a:ext>
            </a:extLst>
          </p:cNvPr>
          <p:cNvSpPr txBox="1"/>
          <p:nvPr/>
        </p:nvSpPr>
        <p:spPr>
          <a:xfrm>
            <a:off x="3181407" y="4700208"/>
            <a:ext cx="517297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Advisor: </a:t>
            </a: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Chandra R. Murthy</a:t>
            </a:r>
            <a:endParaRPr lang="en-I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C55E5-AC87-9734-D08A-CFAE9362CACA}"/>
              </a:ext>
            </a:extLst>
          </p:cNvPr>
          <p:cNvSpPr txBox="1"/>
          <p:nvPr/>
        </p:nvSpPr>
        <p:spPr>
          <a:xfrm>
            <a:off x="4585792" y="5389616"/>
            <a:ext cx="2731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 November 2025</a:t>
            </a:r>
            <a:endParaRPr lang="en-IN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Qualcomm - Edge AI and Vision Alliance">
            <a:extLst>
              <a:ext uri="{FF2B5EF4-FFF2-40B4-BE49-F238E27FC236}">
                <a16:creationId xmlns:a16="http://schemas.microsoft.com/office/drawing/2014/main" id="{0D68C62D-10F5-F854-7D97-E2DEB8787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107" y="70625"/>
            <a:ext cx="3681574" cy="184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29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C7000-0FD8-75DB-E7B2-E5286F40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4B4839C-3A04-F4FD-28E2-D925C00EDE57}"/>
              </a:ext>
            </a:extLst>
          </p:cNvPr>
          <p:cNvSpPr txBox="1"/>
          <p:nvPr/>
        </p:nvSpPr>
        <p:spPr>
          <a:xfrm>
            <a:off x="96253" y="105877"/>
            <a:ext cx="9221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Intelligent reflecting surfaces: Past and Present</a:t>
            </a:r>
            <a:endParaRPr lang="en-IN" sz="3600" dirty="0">
              <a:solidFill>
                <a:schemeClr val="accent3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0519C1-B3C3-175B-2DA9-BF072F53D94D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1CFBF66C-CF1C-7ED6-D680-0DFC3AD0A08C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34593F4-0B50-2599-6F59-9021231F5CAF}"/>
              </a:ext>
            </a:extLst>
          </p:cNvPr>
          <p:cNvSpPr txBox="1"/>
          <p:nvPr/>
        </p:nvSpPr>
        <p:spPr>
          <a:xfrm>
            <a:off x="194789" y="752208"/>
            <a:ext cx="12039600" cy="5128776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354965" indent="-342900">
              <a:lnSpc>
                <a:spcPct val="150000"/>
              </a:lnSpc>
              <a:spcBef>
                <a:spcPts val="1425"/>
              </a:spcBef>
              <a:buFont typeface="Wingdings" pitchFamily="2" charset="2"/>
              <a:buChar char="Ø"/>
              <a:tabLst>
                <a:tab pos="193040" algn="l"/>
              </a:tabLst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</a:t>
            </a:r>
            <a:r>
              <a:rPr lang="en-US" sz="2000" spc="-5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reconfigurable intelligent surfaces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(RIS)</a:t>
            </a:r>
          </a:p>
          <a:p>
            <a:pPr marL="354965" indent="-342900">
              <a:spcBef>
                <a:spcPts val="1425"/>
              </a:spcBef>
              <a:buFont typeface="Wingdings" pitchFamily="2" charset="2"/>
              <a:buChar char="Ø"/>
              <a:tabLst>
                <a:tab pos="19304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</a:t>
            </a:r>
            <a:r>
              <a:rPr lang="en-IN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surfaces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up of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360" lvl="1" indent="-352425">
              <a:spcBef>
                <a:spcPts val="1325"/>
              </a:spcBef>
              <a:buClr>
                <a:srgbClr val="000000"/>
              </a:buClr>
              <a:buFont typeface="Wingdings" pitchFamily="2" charset="2"/>
              <a:buChar char="ü"/>
              <a:tabLst>
                <a:tab pos="721360" algn="l"/>
              </a:tabLst>
            </a:pPr>
            <a:r>
              <a:rPr lang="en-US" sz="2000" spc="-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-1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eflect</a:t>
            </a:r>
            <a:r>
              <a:rPr sz="2000" spc="2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directions</a:t>
            </a:r>
            <a:endParaRPr lang="en-US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360" lvl="1" indent="-352425">
              <a:spcBef>
                <a:spcPts val="1325"/>
              </a:spcBef>
              <a:buClr>
                <a:srgbClr val="000000"/>
              </a:buClr>
              <a:buFont typeface="Wingdings" pitchFamily="2" charset="2"/>
              <a:buChar char="ü"/>
              <a:tabLst>
                <a:tab pos="721360" algn="l"/>
              </a:tabLst>
            </a:pPr>
            <a:r>
              <a:rPr lang="en-IN" sz="2000" spc="-1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Alters</a:t>
            </a:r>
            <a:r>
              <a:rPr lang="en-IN" sz="2000" spc="35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wireless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endParaRPr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50000"/>
              </a:lnSpc>
              <a:spcBef>
                <a:spcPts val="1320"/>
              </a:spcBef>
              <a:buFont typeface="Wingdings" pitchFamily="2" charset="2"/>
              <a:buChar char="Ø"/>
              <a:tabLst>
                <a:tab pos="299085" algn="l"/>
                <a:tab pos="299720" algn="l"/>
              </a:tabLst>
            </a:pPr>
            <a:r>
              <a:rPr sz="2000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Perks</a:t>
            </a:r>
            <a:r>
              <a:rPr lang="en-US" sz="2000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Boosts</a:t>
            </a:r>
            <a:r>
              <a:rPr sz="2000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SNR/</a:t>
            </a:r>
            <a:r>
              <a:rPr sz="2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SINR</a:t>
            </a:r>
            <a:r>
              <a:rPr lang="en-US" sz="2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nergy</a:t>
            </a:r>
            <a:r>
              <a:rPr sz="20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000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overage</a:t>
            </a:r>
            <a:r>
              <a:rPr sz="2000" spc="-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  <a:endParaRPr lang="en-US" sz="20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50000"/>
              </a:lnSpc>
              <a:spcBef>
                <a:spcPts val="1320"/>
              </a:spcBef>
              <a:buFont typeface="Wingdings" pitchFamily="2" charset="2"/>
              <a:buChar char="Ø"/>
              <a:tabLst>
                <a:tab pos="299085" algn="l"/>
                <a:tab pos="299720" algn="l"/>
              </a:tabLs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time: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IRS-assisted opportunistic communications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en-US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How to reap the optimal benefits at low overheads?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en-US" altLang="en-US" sz="2000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Ans:</a:t>
            </a:r>
            <a:r>
              <a:rPr lang="en-US" altLang="en-US" sz="2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Randomized IRS + opportunistic scheduling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reaps all benefits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Narrowband communication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i.i.d.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vs. spatially correlated-channels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Wideband communication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exploitation of beam-split effects</a:t>
            </a: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45DA0827-3F68-D411-6236-216B62626B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09368" y="1121409"/>
            <a:ext cx="4410456" cy="2374025"/>
          </a:xfrm>
          <a:prstGeom prst="rect">
            <a:avLst/>
          </a:prstGeom>
        </p:spPr>
      </p:pic>
      <p:pic>
        <p:nvPicPr>
          <p:cNvPr id="22" name="Picture 21" descr="\documentclass{article}&#10;\usepackage{amsmath,amssymb}&#10;\usepackage{xcolor}&#10;\pagestyle{empty}&#10;\begin{document}&#10;&#10;$ h_{k,q}(t)=\sqrt {\beta _{r,k}}\mathbf{h}_{2,k}^H\boldsymbol{ \Theta}_q(t)\mathbf{h}_1+\sqrt {\beta _{d,k}}h_{d,k}$.&#10;&#10;\end{document}" title="IguanaTex Bitmap Display">
            <a:extLst>
              <a:ext uri="{FF2B5EF4-FFF2-40B4-BE49-F238E27FC236}">
                <a16:creationId xmlns:a16="http://schemas.microsoft.com/office/drawing/2014/main" id="{CD156C79-7A90-1979-1B06-4026601DBE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800" y="3666726"/>
            <a:ext cx="4700411" cy="3332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55465DB-CFD2-5152-DD75-5F570DE11C07}"/>
              </a:ext>
            </a:extLst>
          </p:cNvPr>
          <p:cNvSpPr txBox="1"/>
          <p:nvPr/>
        </p:nvSpPr>
        <p:spPr>
          <a:xfrm>
            <a:off x="7975166" y="4262124"/>
            <a:ext cx="4022045" cy="1704506"/>
          </a:xfrm>
          <a:prstGeom prst="rect">
            <a:avLst/>
          </a:prstGeom>
          <a:solidFill>
            <a:srgbClr val="F7CCD6"/>
          </a:solidFill>
          <a:ln w="57150">
            <a:noFill/>
          </a:ln>
          <a:effectLst>
            <a:outerShdw blurRad="107950" dist="12700" dir="5400000" algn="ctr">
              <a:srgbClr val="000000"/>
            </a:outerShdw>
            <a:softEdge rad="6350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marL="195263" lvl="3" algn="l">
              <a:lnSpc>
                <a:spcPct val="150000"/>
              </a:lnSpc>
            </a:pPr>
            <a:r>
              <a:rPr lang="en-I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TODAY: </a:t>
            </a:r>
          </a:p>
          <a:p>
            <a:pPr marL="538163" lvl="3" indent="-342900" algn="l">
              <a:lnSpc>
                <a:spcPct val="150000"/>
              </a:lnSpc>
              <a:buAutoNum type="arabicPeriod"/>
            </a:pPr>
            <a:r>
              <a:rPr lang="en-I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Multiplexing-gain of IRSs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8163" lvl="3" indent="-342900" algn="l">
              <a:lnSpc>
                <a:spcPct val="150000"/>
              </a:lnSpc>
              <a:buAutoNum type="arabicPeriod"/>
            </a:pPr>
            <a:r>
              <a:rPr lang="en-IN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demo of IRS-aided opportunistic comm.</a:t>
            </a:r>
          </a:p>
        </p:txBody>
      </p:sp>
    </p:spTree>
    <p:extLst>
      <p:ext uri="{BB962C8B-B14F-4D97-AF65-F5344CB8AC3E}">
        <p14:creationId xmlns:p14="http://schemas.microsoft.com/office/powerpoint/2010/main" val="306856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80CBF-B197-D930-4A06-5E8DD5DFB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0D737-2231-CDB6-BD29-A36C268E557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40106" y="1959352"/>
            <a:ext cx="11511787" cy="2073275"/>
          </a:xfrm>
        </p:spPr>
        <p:txBody>
          <a:bodyPr>
            <a:noAutofit/>
          </a:bodyPr>
          <a:lstStyle/>
          <a:p>
            <a:pPr algn="ctr"/>
            <a:r>
              <a:rPr lang="en-US" sz="3800" b="1" dirty="0"/>
              <a:t>Multiplexing gain of IRS</a:t>
            </a:r>
            <a:r>
              <a:rPr lang="en-US" sz="3800" dirty="0"/>
              <a:t>: How many IRS(s) are needed to realize full-rank MIMO?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C5D9F6-9354-641A-B3C7-F23E8D41A44E}"/>
              </a:ext>
            </a:extLst>
          </p:cNvPr>
          <p:cNvCxnSpPr>
            <a:cxnSpLocks/>
          </p:cNvCxnSpPr>
          <p:nvPr/>
        </p:nvCxnSpPr>
        <p:spPr>
          <a:xfrm>
            <a:off x="714123" y="3635866"/>
            <a:ext cx="105300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1DA56E9-9C92-6F46-0772-06E6C6CAD694}"/>
              </a:ext>
            </a:extLst>
          </p:cNvPr>
          <p:cNvSpPr txBox="1"/>
          <p:nvPr/>
        </p:nvSpPr>
        <p:spPr>
          <a:xfrm>
            <a:off x="5111401" y="3862815"/>
            <a:ext cx="1969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Yashvanth L.</a:t>
            </a:r>
            <a:endParaRPr lang="en-IN" sz="2400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13B57A-0BF3-F358-0B13-EB614BC3A596}"/>
              </a:ext>
            </a:extLst>
          </p:cNvPr>
          <p:cNvSpPr txBox="1"/>
          <p:nvPr/>
        </p:nvSpPr>
        <p:spPr>
          <a:xfrm>
            <a:off x="1568420" y="4551428"/>
            <a:ext cx="905515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latin typeface="Times New Roman"/>
                <a:cs typeface="Times New Roman"/>
              </a:rPr>
              <a:t>Joint work with: 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Chandra R. Murthy, IISc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Prof. Bhaskar Rao, UC San Diego</a:t>
            </a:r>
            <a:endParaRPr lang="en-IN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900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620A22-934B-2B63-BD6A-C12E369E9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150" y="1373983"/>
            <a:ext cx="4355116" cy="26351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Subtitle 2">
                <a:extLst>
                  <a:ext uri="{FF2B5EF4-FFF2-40B4-BE49-F238E27FC236}">
                    <a16:creationId xmlns:a16="http://schemas.microsoft.com/office/drawing/2014/main" id="{23015E76-36F8-B7E6-FA63-AAA7AB169B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734" y="769441"/>
                <a:ext cx="11899066" cy="576728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800" kern="1200" cap="none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400" kern="1200" cap="none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1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Setting</a:t>
                </a:r>
                <a:r>
                  <a:rPr lang="en-US" sz="18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×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MIMO channel with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IRSs with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𝑀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elements each in a </a:t>
                </a:r>
                <a:r>
                  <a:rPr lang="en-US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mmWave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system with </a:t>
                </a:r>
                <a:r>
                  <a:rPr lang="en-US" sz="1800" dirty="0">
                    <a:solidFill>
                      <a:srgbClr val="9437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 propagation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 from BS to IRS-s: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 from IRS-s to UE: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Overall channel from BS to UE: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Beamforming gains across IRSs is captured in 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𝚪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 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ℂ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p>
                    </m:sSup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when the IRS is tuned to cascaded angle via it,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𝜞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a:rPr lang="en-US" sz="1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𝛰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8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Flat-top Beam-pattern at BS/UE arrays: </a:t>
                </a:r>
              </a:p>
            </p:txBody>
          </p:sp>
        </mc:Choice>
        <mc:Fallback xmlns="">
          <p:sp>
            <p:nvSpPr>
              <p:cNvPr id="9" name="Subtitle 2">
                <a:extLst>
                  <a:ext uri="{FF2B5EF4-FFF2-40B4-BE49-F238E27FC236}">
                    <a16:creationId xmlns:a16="http://schemas.microsoft.com/office/drawing/2014/main" id="{23015E76-36F8-B7E6-FA63-AAA7AB169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4" y="769441"/>
                <a:ext cx="11899066" cy="5767283"/>
              </a:xfrm>
              <a:prstGeom prst="rect">
                <a:avLst/>
              </a:prstGeom>
              <a:blipFill>
                <a:blip r:embed="rId3"/>
                <a:stretch>
                  <a:fillRect l="-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B4BD638-E14C-12D2-5344-DFEA1D0F8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7803" y="1950077"/>
            <a:ext cx="4174096" cy="3424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BDAFD-6CFE-CB88-9A0E-EE0CECDC2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7804" y="2978225"/>
            <a:ext cx="4506636" cy="3425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8D0BE4-1BD9-6DF6-A9FA-72246169E6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10" y="4006448"/>
            <a:ext cx="6563874" cy="4833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62470D-058B-1A63-3DFD-1E4DB28ED9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1747" y="5307682"/>
            <a:ext cx="3136900" cy="7369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FFFCFF3-BABE-6DB5-FC8B-BC826C99B621}"/>
              </a:ext>
            </a:extLst>
          </p:cNvPr>
          <p:cNvSpPr txBox="1"/>
          <p:nvPr/>
        </p:nvSpPr>
        <p:spPr>
          <a:xfrm>
            <a:off x="96253" y="105877"/>
            <a:ext cx="9221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Channel Modeling</a:t>
            </a:r>
            <a:endParaRPr lang="en-IN" sz="3600" dirty="0">
              <a:solidFill>
                <a:schemeClr val="accent3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F49EE5-E296-5932-B92B-C1DA269EC64B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012E05B7-240E-E501-C3A3-D8C4BC076B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9656" y="5135454"/>
            <a:ext cx="2364644" cy="14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4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Subtitle 2">
                <a:extLst>
                  <a:ext uri="{FF2B5EF4-FFF2-40B4-BE49-F238E27FC236}">
                    <a16:creationId xmlns:a16="http://schemas.microsoft.com/office/drawing/2014/main" id="{CC7368CB-70EB-CEBE-8D21-E9E392F662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734" y="769441"/>
                <a:ext cx="11899066" cy="576728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800" kern="1200" cap="none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400" kern="1200" cap="none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17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Question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How many eigen-modes does the MIMO channel have?</a:t>
                </a:r>
                <a:endParaRPr lang="en-US" sz="1700" dirty="0">
                  <a:solidFill>
                    <a:srgbClr val="9437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 bin partitions at UE-array: 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Assumption: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Each IRS is resolvable at the BS antenna array – can be easy to ensure via placement of IRSs.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Interpretations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Theorem 1: 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ability to resolve the IRSs decides the number and strength of the eigenmodes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</a:t>
                </a:r>
                <a:r>
                  <a:rPr lang="en-US" sz="1700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resolvable IRS contributes to 1 eigen-mode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the </a:t>
                </a:r>
                <a:r>
                  <a:rPr lang="en-US" sz="1700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strength 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mode </a:t>
                </a:r>
                <a:r>
                  <a:rPr lang="en-US" sz="1700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7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17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700" dirty="0">
                    <a:solidFill>
                      <a:srgbClr val="FF00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precise optimization is not needed!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</a:t>
                </a:r>
                <a:r>
                  <a:rPr lang="en-US" sz="1700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non-resolvable IRSs jointly contribute to 1 eigen mode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its </a:t>
                </a:r>
                <a:r>
                  <a:rPr lang="en-US" sz="1700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strength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equals the </a:t>
                </a:r>
                <a:r>
                  <a:rPr lang="en-US" sz="1700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combined array gains 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all these IRSs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Subtitle 2">
                <a:extLst>
                  <a:ext uri="{FF2B5EF4-FFF2-40B4-BE49-F238E27FC236}">
                    <a16:creationId xmlns:a16="http://schemas.microsoft.com/office/drawing/2014/main" id="{CC7368CB-70EB-CEBE-8D21-E9E392F66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4" y="769441"/>
                <a:ext cx="11899066" cy="5767283"/>
              </a:xfrm>
              <a:prstGeom prst="rect">
                <a:avLst/>
              </a:prstGeom>
              <a:blipFill>
                <a:blip r:embed="rId2"/>
                <a:stretch>
                  <a:fillRect l="-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69F39CA-D2A5-457D-CF01-A9747FA0A3CC}"/>
              </a:ext>
            </a:extLst>
          </p:cNvPr>
          <p:cNvSpPr txBox="1"/>
          <p:nvPr/>
        </p:nvSpPr>
        <p:spPr>
          <a:xfrm>
            <a:off x="96253" y="105877"/>
            <a:ext cx="9221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Eigen Modes of the MIMO channel</a:t>
            </a:r>
            <a:endParaRPr lang="en-IN" sz="3600" dirty="0">
              <a:solidFill>
                <a:schemeClr val="accent3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970A1B-6BBD-DB5E-A85F-EB570C76A482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5B80CD6-951F-5438-3F52-640292FB5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517" y="1758870"/>
            <a:ext cx="5919359" cy="5747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3078BB-14FF-DC8F-8C7A-14CDA7D799BC}"/>
                  </a:ext>
                </a:extLst>
              </p:cNvPr>
              <p:cNvSpPr txBox="1"/>
              <p:nvPr/>
            </p:nvSpPr>
            <p:spPr>
              <a:xfrm>
                <a:off x="142871" y="2803798"/>
                <a:ext cx="11877102" cy="161582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1: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eigenmodes of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×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MIMO channel (and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en-US" sz="18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with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distributed IRSs are:</a:t>
                </a: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                                      is the norm. array gain from IRS-s;                                                is set of IRSs with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DoAs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3078BB-14FF-DC8F-8C7A-14CDA7D79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1" y="2803798"/>
                <a:ext cx="11877102" cy="1615827"/>
              </a:xfrm>
              <a:prstGeom prst="rect">
                <a:avLst/>
              </a:prstGeom>
              <a:blipFill>
                <a:blip r:embed="rId4"/>
                <a:stretch>
                  <a:fillRect l="-320" b="-465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AD70989C-BB4D-3C64-6432-C8E8F43868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9719" y="3273288"/>
            <a:ext cx="4488876" cy="7250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D478A2-689C-4513-3BB3-BB1170C048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433" y="4071562"/>
            <a:ext cx="2113973" cy="2943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87FF00-4A4E-AB15-9835-F998BBB5BD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7216" y="4071562"/>
            <a:ext cx="2642758" cy="2936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04150C-41C9-2878-055F-BEB72808E0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6636" y="127235"/>
            <a:ext cx="3572164" cy="209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50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997E6A-72E9-6A70-CFD2-01918A734CEE}"/>
              </a:ext>
            </a:extLst>
          </p:cNvPr>
          <p:cNvSpPr txBox="1"/>
          <p:nvPr/>
        </p:nvSpPr>
        <p:spPr>
          <a:xfrm>
            <a:off x="96252" y="105877"/>
            <a:ext cx="10034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How many IRSs are needed for a full-rank Channel?</a:t>
            </a:r>
            <a:endParaRPr lang="en-IN" sz="3600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3A5CA527-20AF-9D19-62EC-C9180CCF91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734" y="769441"/>
                <a:ext cx="12102266" cy="576728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800" kern="1200" cap="none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400" kern="1200" cap="none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Arial" panose="020B0604020202020204" pitchFamily="34" charset="0"/>
                  <a:buChar char="•"/>
                  <a:defRPr sz="1200" kern="1200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17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Multiplexing gain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# non-zero eigen-values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7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𝑯</m:t>
                        </m:r>
                      </m:e>
                      <m:sup>
                        <m:r>
                          <a:rPr lang="en-US" sz="17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𝑯</m:t>
                        </m:r>
                      </m:sup>
                    </m:sSup>
                    <m:r>
                      <a:rPr lang="en-US" sz="17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𝑯</m:t>
                    </m:r>
                    <m:r>
                      <a:rPr lang="en-US" sz="17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i.e. rank of </a:t>
                </a:r>
                <a14:m>
                  <m:oMath xmlns:m="http://schemas.openxmlformats.org/officeDocument/2006/math">
                    <m:r>
                      <a:rPr lang="en-US" sz="17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𝑯</m:t>
                    </m:r>
                    <m:r>
                      <a:rPr lang="en-US" sz="17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17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depends on the number of resolvable IRSs seen by the UE! 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Question: 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Multiple</a:t>
                </a:r>
                <a:r>
                  <a:rPr 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UEs at arbitrary locations can have different rank: 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many IRSs can deliver full-rank MIMO at </a:t>
                </a:r>
                <a:r>
                  <a:rPr 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any UE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1700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Analogy of ball-bin packing 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 can be used to find the answer!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1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Interpretations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Theorem 2: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IRSs 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provide a </a:t>
                </a:r>
                <a:r>
                  <a:rPr lang="en-US" sz="1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full-rank MIMO at a single UE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whereas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700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  <m:func>
                      <m:funcPr>
                        <m:ctrlPr>
                          <a:rPr lang="en-US" sz="17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700" b="0" i="0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sz="1700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700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𝑟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1700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IRSs 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provide a </a:t>
                </a:r>
                <a:r>
                  <a:rPr lang="en-US" sz="1700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full-rank MIMO at any UE</a:t>
                </a: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scaling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700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700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  <m:func>
                      <m:funcPr>
                        <m:ctrlPr>
                          <a:rPr lang="en-US" sz="1700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700" b="0" i="0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ln</m:t>
                        </m:r>
                      </m:fName>
                      <m:e>
                        <m:sSub>
                          <m:sSubPr>
                            <m:ctrlPr>
                              <a:rPr lang="en-US" sz="1700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700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700" b="0" i="1" smtClean="0">
                                <a:solidFill>
                                  <a:srgbClr val="0432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𝑟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1700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both necessary and sufficient </a:t>
                </a: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attain a full rank channel at any UE!  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Reminiscent of the classical </a:t>
                </a:r>
                <a:r>
                  <a:rPr lang="en-US" sz="1700" dirty="0">
                    <a:solidFill>
                      <a:srgbClr val="0432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coupon collector problem</a:t>
                </a: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3A5CA527-20AF-9D19-62EC-C9180CCF9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4" y="769441"/>
                <a:ext cx="12102266" cy="5767283"/>
              </a:xfrm>
              <a:prstGeom prst="rect">
                <a:avLst/>
              </a:prstGeom>
              <a:blipFill>
                <a:blip r:embed="rId2"/>
                <a:stretch>
                  <a:fillRect l="-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4ADCE7-7EE8-6D80-F952-C9307BE39F4B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81F188-DE73-A790-0506-6EF3CB06FCAA}"/>
                  </a:ext>
                </a:extLst>
              </p:cNvPr>
              <p:cNvSpPr txBox="1"/>
              <p:nvPr/>
            </p:nvSpPr>
            <p:spPr>
              <a:xfrm>
                <a:off x="142871" y="2731061"/>
                <a:ext cx="11877102" cy="1615827"/>
              </a:xfrm>
              <a:prstGeom prst="rect">
                <a:avLst/>
              </a:prstGeom>
              <a:solidFill>
                <a:schemeClr val="accent3">
                  <a:lumMod val="10000"/>
                  <a:lumOff val="90000"/>
                </a:schemeClr>
              </a:solidFill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 2: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 distributed IRS-aided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×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MIMO system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the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DoAs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across the IRSs follow a uniform distribution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−1,1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expected number of IRSs required to obtain a full rank effective MIMO channel is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≈0.577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Euler-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Mascheroni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constant.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81F188-DE73-A790-0506-6EF3CB06F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71" y="2731061"/>
                <a:ext cx="11877102" cy="1615827"/>
              </a:xfrm>
              <a:prstGeom prst="rect">
                <a:avLst/>
              </a:prstGeom>
              <a:blipFill>
                <a:blip r:embed="rId3"/>
                <a:stretch>
                  <a:fillRect l="-320" b="-465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DFEF374-F648-11E9-BEA0-0A3A4C06E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241" y="3666936"/>
            <a:ext cx="3050886" cy="2932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0D55CC-F7AC-532C-BAA7-63CED427F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1341" y="1172432"/>
            <a:ext cx="3445138" cy="152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971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2DA75F-F209-BC84-E233-737D00C4D0B9}"/>
              </a:ext>
            </a:extLst>
          </p:cNvPr>
          <p:cNvSpPr txBox="1"/>
          <p:nvPr/>
        </p:nvSpPr>
        <p:spPr>
          <a:xfrm>
            <a:off x="96252" y="105877"/>
            <a:ext cx="10034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Numerical Illustrations</a:t>
            </a:r>
            <a:endParaRPr lang="en-IN" sz="3600" dirty="0">
              <a:solidFill>
                <a:schemeClr val="accent3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6362948-0B0C-28E0-D425-73046E5C0857}"/>
              </a:ext>
            </a:extLst>
          </p:cNvPr>
          <p:cNvCxnSpPr/>
          <p:nvPr/>
        </p:nvCxnSpPr>
        <p:spPr>
          <a:xfrm>
            <a:off x="96252" y="749380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97A29C-F18F-7E3F-00D8-F5CCE4C9A908}"/>
              </a:ext>
            </a:extLst>
          </p:cNvPr>
          <p:cNvGrpSpPr/>
          <p:nvPr/>
        </p:nvGrpSpPr>
        <p:grpSpPr>
          <a:xfrm>
            <a:off x="4070452" y="1569780"/>
            <a:ext cx="3857955" cy="3641644"/>
            <a:chOff x="4070452" y="1569780"/>
            <a:chExt cx="3857955" cy="36416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075AF7B-C9E1-852C-6AA1-53930F4B8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70452" y="1569780"/>
              <a:ext cx="3857955" cy="3154628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31E4FB1-D700-902B-7515-ADF6129E9009}"/>
                    </a:ext>
                  </a:extLst>
                </p:cNvPr>
                <p:cNvSpPr txBox="1"/>
                <p:nvPr/>
              </p:nvSpPr>
              <p:spPr>
                <a:xfrm>
                  <a:off x="5113693" y="4842092"/>
                  <a:ext cx="1631929" cy="369332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Fig. 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=64</m:t>
                      </m:r>
                    </m:oMath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31E4FB1-D700-902B-7515-ADF6129E90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3693" y="4842092"/>
                  <a:ext cx="163192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3053" t="-3125" b="-18750"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95C2ED-50A4-5B8E-F0A2-EFEA313E1380}"/>
              </a:ext>
            </a:extLst>
          </p:cNvPr>
          <p:cNvGrpSpPr/>
          <p:nvPr/>
        </p:nvGrpSpPr>
        <p:grpSpPr>
          <a:xfrm>
            <a:off x="96252" y="989097"/>
            <a:ext cx="3914083" cy="4235124"/>
            <a:chOff x="96252" y="989097"/>
            <a:chExt cx="3914083" cy="423512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67414AC-F2B9-A7A3-CEF7-D32CFE1D5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252" y="1569779"/>
              <a:ext cx="3914083" cy="3154631"/>
            </a:xfrm>
            <a:prstGeom prst="rect">
              <a:avLst/>
            </a:prstGeom>
            <a:ln>
              <a:solidFill>
                <a:srgbClr val="0432FF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13E0083-C5DE-F1D3-3AE0-E6B905A25A97}"/>
                    </a:ext>
                  </a:extLst>
                </p:cNvPr>
                <p:cNvSpPr txBox="1"/>
                <p:nvPr/>
              </p:nvSpPr>
              <p:spPr>
                <a:xfrm>
                  <a:off x="498763" y="4854889"/>
                  <a:ext cx="3293919" cy="369332"/>
                </a:xfrm>
                <a:prstGeom prst="rect">
                  <a:avLst/>
                </a:prstGeom>
                <a:ln>
                  <a:solidFill>
                    <a:srgbClr val="0432FF"/>
                  </a:solidFill>
                </a:ln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Fig. 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1: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=10,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=64,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=16</m:t>
                      </m:r>
                    </m:oMath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13E0083-C5DE-F1D3-3AE0-E6B905A25A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763" y="4854889"/>
                  <a:ext cx="329391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145" t="-3125" b="-18750"/>
                  </a:stretch>
                </a:blipFill>
                <a:ln>
                  <a:solidFill>
                    <a:srgbClr val="0432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5ECF25A-4EC7-B02F-D9B4-F0757D725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0493" y="989097"/>
              <a:ext cx="1947163" cy="458814"/>
            </a:xfrm>
            <a:prstGeom prst="rect">
              <a:avLst/>
            </a:prstGeom>
            <a:ln>
              <a:solidFill>
                <a:srgbClr val="0432FF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3FA4193-2587-DCDF-7E6A-8FE432351BD3}"/>
              </a:ext>
            </a:extLst>
          </p:cNvPr>
          <p:cNvGrpSpPr/>
          <p:nvPr/>
        </p:nvGrpSpPr>
        <p:grpSpPr>
          <a:xfrm>
            <a:off x="7988524" y="1569780"/>
            <a:ext cx="4170522" cy="3641644"/>
            <a:chOff x="7988524" y="1569780"/>
            <a:chExt cx="4170522" cy="364164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6B10E06-7F28-38DB-173C-DB156029A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88524" y="1569780"/>
              <a:ext cx="4170522" cy="3154626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CA1EA3B-78AF-391A-6E00-CAB824F88BF4}"/>
                    </a:ext>
                  </a:extLst>
                </p:cNvPr>
                <p:cNvSpPr txBox="1"/>
                <p:nvPr/>
              </p:nvSpPr>
              <p:spPr>
                <a:xfrm>
                  <a:off x="8972715" y="4842092"/>
                  <a:ext cx="2644322" cy="369332"/>
                </a:xfrm>
                <a:prstGeom prst="rect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Fig. </a:t>
                  </a:r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=150,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=32</m:t>
                      </m:r>
                    </m:oMath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CA1EA3B-78AF-391A-6E00-CAB824F88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2715" y="4842092"/>
                  <a:ext cx="2644322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905" t="-3125" b="-18750"/>
                  </a:stretch>
                </a:blipFill>
                <a:ln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83316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5C9258-D894-E4FF-10CD-4BB5BE1A7133}"/>
              </a:ext>
            </a:extLst>
          </p:cNvPr>
          <p:cNvSpPr txBox="1"/>
          <p:nvPr/>
        </p:nvSpPr>
        <p:spPr>
          <a:xfrm>
            <a:off x="96252" y="105877"/>
            <a:ext cx="10034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The Punchline and What Next? </a:t>
            </a:r>
            <a:endParaRPr lang="en-IN" sz="3600" dirty="0">
              <a:solidFill>
                <a:schemeClr val="accent3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13BF3B1-A0C2-F398-1A6E-A9438B225FE4}"/>
              </a:ext>
            </a:extLst>
          </p:cNvPr>
          <p:cNvCxnSpPr/>
          <p:nvPr/>
        </p:nvCxnSpPr>
        <p:spPr>
          <a:xfrm>
            <a:off x="96252" y="749380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Subtitle 2">
            <a:extLst>
              <a:ext uri="{FF2B5EF4-FFF2-40B4-BE49-F238E27FC236}">
                <a16:creationId xmlns:a16="http://schemas.microsoft.com/office/drawing/2014/main" id="{9E949C2F-7360-B565-3D4C-1CA374D9210D}"/>
              </a:ext>
            </a:extLst>
          </p:cNvPr>
          <p:cNvSpPr txBox="1">
            <a:spLocks/>
          </p:cNvSpPr>
          <p:nvPr/>
        </p:nvSpPr>
        <p:spPr>
          <a:xfrm>
            <a:off x="307944" y="3429000"/>
            <a:ext cx="11511879" cy="197796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Interesting Future Questions:</a:t>
            </a:r>
          </a:p>
          <a:p>
            <a:pPr marL="495300" lvl="1" indent="-268288"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of a MIMO channel is a discrete random variable: </a:t>
            </a:r>
            <a:r>
              <a:rPr lang="en-US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its probability distribution?</a:t>
            </a:r>
          </a:p>
          <a:p>
            <a:pPr marL="495300" lvl="1" indent="-268288"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provide </a:t>
            </a:r>
            <a:r>
              <a:rPr lang="en-US" sz="17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results to establish the tightness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this scaling?</a:t>
            </a:r>
          </a:p>
          <a:p>
            <a:pPr marL="495300" lvl="1" indent="-268288"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result generalize to </a:t>
            </a:r>
            <a:r>
              <a:rPr lang="en-US" sz="17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arbitrary angular distributions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when the </a:t>
            </a:r>
            <a:r>
              <a:rPr lang="en-US" sz="17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IRSs are not resolvable at the BS array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495300" lvl="1" indent="-268288"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implication of these results on the </a:t>
            </a:r>
            <a:r>
              <a:rPr lang="en-US" sz="17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achievable ergodic rates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distributed IRS-aided MIMO system?</a:t>
            </a:r>
          </a:p>
          <a:p>
            <a:pPr marL="495300" lvl="1" indent="-268288">
              <a:lnSpc>
                <a:spcPct val="15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</a:t>
            </a:r>
            <a:r>
              <a:rPr lang="en-US" sz="17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of frequency selectivity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channels?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C715E7-9269-E0F7-CD00-D5AEC9232EEC}"/>
              </a:ext>
            </a:extLst>
          </p:cNvPr>
          <p:cNvSpPr txBox="1"/>
          <p:nvPr/>
        </p:nvSpPr>
        <p:spPr>
          <a:xfrm>
            <a:off x="1493620" y="1006519"/>
            <a:ext cx="9204759" cy="12890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IRSs can improve the rank of a MIMO Channel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in the mmWave bands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Multiplexing gain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improved in mmWave bands using </a:t>
            </a:r>
            <a:r>
              <a:rPr lang="en-U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IRSs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Beamforming gain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improved in mmWave bands using </a:t>
            </a:r>
            <a:r>
              <a:rPr lang="en-US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elements at each IRS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EBCDF8-DFD4-C3CA-755E-950D8EF9F85C}"/>
              </a:ext>
            </a:extLst>
          </p:cNvPr>
          <p:cNvSpPr txBox="1"/>
          <p:nvPr/>
        </p:nvSpPr>
        <p:spPr>
          <a:xfrm>
            <a:off x="307944" y="2552664"/>
            <a:ext cx="11419768" cy="873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Publication: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Yashvanth, Chandra R. Murthy, and Bhaskar D. Rao,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IRSs are Needed to Realize a Full-Rank MIMO Channel?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submitted in Sep. 2025 for IEEE ICASSP 2026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348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176D-8EC9-F643-D96D-4B5C69DD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9E56-719C-7309-390B-CC0192F103B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68931" y="2023394"/>
            <a:ext cx="11020425" cy="2073275"/>
          </a:xfrm>
        </p:spPr>
        <p:txBody>
          <a:bodyPr>
            <a:noAutofit/>
          </a:bodyPr>
          <a:lstStyle/>
          <a:p>
            <a:pPr algn="ctr"/>
            <a:r>
              <a:rPr lang="en-US" sz="3800"/>
              <a:t>Practical RIS Gain without the Pain: Randomization and Opportunistic Scheduling in 5G NR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D73592-AF29-DAA3-4FD7-6EE746DDB058}"/>
              </a:ext>
            </a:extLst>
          </p:cNvPr>
          <p:cNvCxnSpPr>
            <a:cxnSpLocks/>
          </p:cNvCxnSpPr>
          <p:nvPr/>
        </p:nvCxnSpPr>
        <p:spPr>
          <a:xfrm>
            <a:off x="686602" y="3753853"/>
            <a:ext cx="1053003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AE2DCC2-89C7-8C8F-AD2F-08FBC02ACFA0}"/>
              </a:ext>
            </a:extLst>
          </p:cNvPr>
          <p:cNvSpPr txBox="1"/>
          <p:nvPr/>
        </p:nvSpPr>
        <p:spPr>
          <a:xfrm>
            <a:off x="3927107" y="3865836"/>
            <a:ext cx="4947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Guna Sai Kiran Nekkanti</a:t>
            </a:r>
            <a:endParaRPr lang="en-IN" sz="2400" b="1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BBCAC-CEBD-7795-70B3-08D4299C88FA}"/>
              </a:ext>
            </a:extLst>
          </p:cNvPr>
          <p:cNvSpPr txBox="1"/>
          <p:nvPr/>
        </p:nvSpPr>
        <p:spPr>
          <a:xfrm>
            <a:off x="581650" y="4435658"/>
            <a:ext cx="1163829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Joint work with: </a:t>
            </a:r>
            <a:r>
              <a:rPr lang="en-US" b="1">
                <a:solidFill>
                  <a:schemeClr val="accent1"/>
                </a:solidFill>
                <a:latin typeface="Times New Roman"/>
                <a:cs typeface="Times New Roman"/>
              </a:rPr>
              <a:t>L. Yashvanth, Raju Malleboina, Venkatareddy Akumalla, </a:t>
            </a:r>
          </a:p>
          <a:p>
            <a:pPr algn="ctr"/>
            <a:r>
              <a:rPr lang="en-US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Debdeep Sarkar, Prof. Chandra R. Murthy</a:t>
            </a:r>
            <a:endParaRPr lang="en-IN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985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4985F8F-F0A8-0F6F-8F1B-946F9E24D2CE}"/>
              </a:ext>
            </a:extLst>
          </p:cNvPr>
          <p:cNvSpPr txBox="1"/>
          <p:nvPr/>
        </p:nvSpPr>
        <p:spPr>
          <a:xfrm>
            <a:off x="96253" y="150365"/>
            <a:ext cx="6823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Intelligent reflecting surfaces (IRS)</a:t>
            </a:r>
            <a:endParaRPr lang="en-IN" sz="3600" dirty="0">
              <a:solidFill>
                <a:schemeClr val="accent3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D2DFD8-4F06-8D80-4AE9-0AEEAF7F39B8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CFAC97DA-59D4-EB36-86A9-1C57D7844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100" y="219862"/>
            <a:ext cx="3835724" cy="21575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B1099DC-CFEB-1091-F248-5D06A78A28AE}"/>
              </a:ext>
            </a:extLst>
          </p:cNvPr>
          <p:cNvSpPr txBox="1"/>
          <p:nvPr/>
        </p:nvSpPr>
        <p:spPr>
          <a:xfrm>
            <a:off x="96253" y="992842"/>
            <a:ext cx="7209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IRS are used to alter the wireless channel characteristics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Controls the channel by modifying the reflection coefficients at the IRS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1AD6D6-BBA5-00E7-87CF-622DAC0CCAD0}"/>
              </a:ext>
            </a:extLst>
          </p:cNvPr>
          <p:cNvGrpSpPr/>
          <p:nvPr/>
        </p:nvGrpSpPr>
        <p:grpSpPr>
          <a:xfrm>
            <a:off x="6409001" y="2272726"/>
            <a:ext cx="6474792" cy="1868460"/>
            <a:chOff x="6357487" y="953742"/>
            <a:chExt cx="6362297" cy="19003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7AE2FAA-9446-5C5D-8EF3-D4579BE71E64}"/>
                    </a:ext>
                  </a:extLst>
                </p:cNvPr>
                <p:cNvSpPr txBox="1"/>
                <p:nvPr/>
              </p:nvSpPr>
              <p:spPr>
                <a:xfrm>
                  <a:off x="6357487" y="953742"/>
                  <a:ext cx="6362297" cy="19003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v"/>
                  </a:pPr>
                  <a:r>
                    <a:rPr lang="en-US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Channel :  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Θ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v"/>
                  </a:pPr>
                  <a:endPara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285750" indent="-285750">
                    <a:buFont typeface="Wingdings" panose="05000000000000000000" pitchFamily="2" charset="2"/>
                    <a:buChar char="v"/>
                  </a:pPr>
                  <a:r>
                    <a:rPr lang="en-I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Beamforming IRS config :</a:t>
                  </a:r>
                </a:p>
                <a:p>
                  <a:pPr marL="285750" indent="-285750">
                    <a:buFont typeface="Wingdings" panose="05000000000000000000" pitchFamily="2" charset="2"/>
                    <a:buChar char="v"/>
                  </a:pPr>
                  <a:endPara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IN" b="0" i="0" dirty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b="0" i="0" dirty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IN" b="0" i="0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IN" b="0" i="0" dirty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  <m:sup>
                            <m:r>
                              <a:rPr lang="en-IN" b="0" i="0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I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b="0" i="0" dirty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b="0" i="0" dirty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  <m:d>
                              <m:dPr>
                                <m:ctrlPr>
                                  <a:rPr lang="en-IN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∠</m:t>
                                </m:r>
                                <m:sSub>
                                  <m:sSubPr>
                                    <m:ctrlPr>
                                      <a:rPr lang="en-I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b="0" i="0" dirty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IN" b="0" i="0" dirty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  <m:r>
                                      <a:rPr lang="en-IN" b="0" i="0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b="0" i="0" dirty="0" smtClean="0"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sub>
                                </m:sSub>
                                <m:r>
                                  <a:rPr lang="en-IN" b="0" i="0" dirty="0" smtClean="0">
                                    <a:latin typeface="Cambria Math" panose="02040503050406030204" pitchFamily="18" charset="0"/>
                                  </a:rPr>
                                  <m:t>−∠</m:t>
                                </m:r>
                                <m:d>
                                  <m:dPr>
                                    <m:ctrlPr>
                                      <a:rPr lang="en-I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b="0" i="0" dirty="0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b="0" i="0" dirty="0" smtClean="0">
                                            <a:latin typeface="Cambria Math" panose="02040503050406030204" pitchFamily="18" charset="0"/>
                                          </a:rPr>
                                          <m:t>1,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b="0" i="0" dirty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  <m:r>
                                      <a:rPr lang="en-IN" b="0" i="0" dirty="0" smtClean="0"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sSub>
                                      <m:sSubPr>
                                        <m:ctrlPr>
                                          <a:rPr lang="en-I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b="0" i="0" dirty="0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IN" b="0" i="0" dirty="0" smtClean="0">
                                            <a:latin typeface="Cambria Math" panose="02040503050406030204" pitchFamily="18" charset="0"/>
                                          </a:rPr>
                                          <m:t>2,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b="0" i="0" dirty="0" smtClean="0">
                                            <a:latin typeface="Cambria Math" panose="02040503050406030204" pitchFamily="18" charset="0"/>
                                          </a:rPr>
                                          <m:t>k</m:t>
                                        </m:r>
                                        <m:r>
                                          <a:rPr lang="en-IN" b="0" i="0" dirty="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b="0" i="0" dirty="0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sup>
                        </m:sSup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lit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b="0" i="0" dirty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d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b="0" i="0" dirty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</m:oMath>
                    </m:oMathPara>
                  </a14:m>
                  <a:endPara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7AE2FAA-9446-5C5D-8EF3-D4579BE71E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7487" y="953742"/>
                  <a:ext cx="6362297" cy="1900326"/>
                </a:xfrm>
                <a:prstGeom prst="rect">
                  <a:avLst/>
                </a:prstGeom>
                <a:blipFill>
                  <a:blip r:embed="rId3"/>
                  <a:stretch>
                    <a:fillRect l="-391" t="-1361" b="-13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4F07DA1-7F34-30EB-F17E-78A6FEBD55C9}"/>
                </a:ext>
              </a:extLst>
            </p:cNvPr>
            <p:cNvSpPr/>
            <p:nvPr/>
          </p:nvSpPr>
          <p:spPr>
            <a:xfrm>
              <a:off x="7914254" y="1259750"/>
              <a:ext cx="3325330" cy="537003"/>
            </a:xfrm>
            <a:prstGeom prst="rect">
              <a:avLst/>
            </a:prstGeom>
            <a:noFill/>
            <a:ln w="28575">
              <a:solidFill>
                <a:srgbClr val="B71E42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9A0BE20-352F-9542-400A-0DFC3F81BB9B}"/>
                </a:ext>
              </a:extLst>
            </p:cNvPr>
            <p:cNvSpPr/>
            <p:nvPr/>
          </p:nvSpPr>
          <p:spPr>
            <a:xfrm>
              <a:off x="7116698" y="2288750"/>
              <a:ext cx="4686345" cy="537003"/>
            </a:xfrm>
            <a:prstGeom prst="rect">
              <a:avLst/>
            </a:prstGeom>
            <a:noFill/>
            <a:ln w="28575">
              <a:solidFill>
                <a:srgbClr val="B71E42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B36FAD7C-F98B-951E-5A8C-CF3164930A9C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C02FAE-96F5-F21F-C34E-99A21CE0DB25}"/>
              </a:ext>
            </a:extLst>
          </p:cNvPr>
          <p:cNvGrpSpPr/>
          <p:nvPr/>
        </p:nvGrpSpPr>
        <p:grpSpPr>
          <a:xfrm>
            <a:off x="8302868" y="4430321"/>
            <a:ext cx="3729519" cy="1420863"/>
            <a:chOff x="189298" y="4722227"/>
            <a:chExt cx="3773101" cy="1296937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7116D2C-0FCB-8F16-C743-5B784B5D31F9}"/>
                </a:ext>
              </a:extLst>
            </p:cNvPr>
            <p:cNvSpPr/>
            <p:nvPr/>
          </p:nvSpPr>
          <p:spPr>
            <a:xfrm>
              <a:off x="189298" y="4722227"/>
              <a:ext cx="3773101" cy="490889"/>
            </a:xfrm>
            <a:prstGeom prst="rect">
              <a:avLst/>
            </a:prstGeom>
            <a:solidFill>
              <a:srgbClr val="B71E42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Goal :</a:t>
              </a:r>
              <a:endParaRPr lang="en-IN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652D9C1-40B5-D2BE-C2B4-EE9802BBFDB9}"/>
                </a:ext>
              </a:extLst>
            </p:cNvPr>
            <p:cNvSpPr/>
            <p:nvPr/>
          </p:nvSpPr>
          <p:spPr>
            <a:xfrm>
              <a:off x="189298" y="4722227"/>
              <a:ext cx="3773101" cy="1296937"/>
            </a:xfrm>
            <a:prstGeom prst="rect">
              <a:avLst/>
            </a:prstGeom>
            <a:noFill/>
            <a:ln>
              <a:solidFill>
                <a:srgbClr val="B71E42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3A7B200-6B1B-FF99-53E0-6A52EF4FA6CD}"/>
                </a:ext>
              </a:extLst>
            </p:cNvPr>
            <p:cNvSpPr txBox="1"/>
            <p:nvPr/>
          </p:nvSpPr>
          <p:spPr>
            <a:xfrm>
              <a:off x="314424" y="5292974"/>
              <a:ext cx="3647975" cy="589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Experimental demonstration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Idea of opportunistic Scheduling</a:t>
              </a:r>
              <a:endParaRPr lang="en-IN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25CB383-E5AB-FDDF-5160-7F9236818004}"/>
              </a:ext>
            </a:extLst>
          </p:cNvPr>
          <p:cNvGrpSpPr/>
          <p:nvPr/>
        </p:nvGrpSpPr>
        <p:grpSpPr>
          <a:xfrm>
            <a:off x="5707150" y="4392060"/>
            <a:ext cx="2867565" cy="1406622"/>
            <a:chOff x="5707150" y="4392060"/>
            <a:chExt cx="2867565" cy="140662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5D09774-125D-632D-A325-0E752C140BED}"/>
                </a:ext>
              </a:extLst>
            </p:cNvPr>
            <p:cNvSpPr txBox="1"/>
            <p:nvPr/>
          </p:nvSpPr>
          <p:spPr>
            <a:xfrm>
              <a:off x="5958038" y="4968114"/>
              <a:ext cx="261667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/>
                <a:t>Opportunistic Communications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C957A8F-9216-4EC5-E265-CB9160CF558A}"/>
                </a:ext>
              </a:extLst>
            </p:cNvPr>
            <p:cNvSpPr/>
            <p:nvPr/>
          </p:nvSpPr>
          <p:spPr>
            <a:xfrm>
              <a:off x="5809872" y="4828854"/>
              <a:ext cx="2070407" cy="96982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4BC1847-1255-8198-5E52-1FE2CBF53A1F}"/>
                </a:ext>
              </a:extLst>
            </p:cNvPr>
            <p:cNvSpPr txBox="1"/>
            <p:nvPr/>
          </p:nvSpPr>
          <p:spPr>
            <a:xfrm>
              <a:off x="5707150" y="4392060"/>
              <a:ext cx="143673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Solution: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0EC265-F93B-3132-10B3-D5194502497F}"/>
              </a:ext>
            </a:extLst>
          </p:cNvPr>
          <p:cNvGrpSpPr/>
          <p:nvPr/>
        </p:nvGrpSpPr>
        <p:grpSpPr>
          <a:xfrm>
            <a:off x="241157" y="1871976"/>
            <a:ext cx="5445034" cy="3926706"/>
            <a:chOff x="241157" y="1871976"/>
            <a:chExt cx="5445034" cy="39267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C26CDB5-B859-E2BE-EC66-71F5CA251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1157" y="1871976"/>
              <a:ext cx="5445034" cy="392670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596107-4A97-842F-849F-64822AE1CC3C}"/>
                </a:ext>
              </a:extLst>
            </p:cNvPr>
            <p:cNvSpPr/>
            <p:nvPr/>
          </p:nvSpPr>
          <p:spPr>
            <a:xfrm>
              <a:off x="1561609" y="4792170"/>
              <a:ext cx="1109671" cy="17594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09429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CDA4E-8E91-8661-7A72-419AEC19C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28B7EAE-BBEC-68D3-0D67-E81320DF4899}"/>
              </a:ext>
            </a:extLst>
          </p:cNvPr>
          <p:cNvSpPr txBox="1"/>
          <p:nvPr/>
        </p:nvSpPr>
        <p:spPr>
          <a:xfrm>
            <a:off x="96253" y="105877"/>
            <a:ext cx="9221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 of our RIS-aided 5G NR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ABCBCB-7BDE-CF1C-D9A4-C6A93CD7BB22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BA7FB146-F59A-7D93-B473-B798E418AF5B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846513-1A29-C778-1BD2-5EE19D415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91" y="1451781"/>
            <a:ext cx="7033121" cy="39544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96EB4E-D5A5-B9AF-AB4D-54ECAD41B846}"/>
              </a:ext>
            </a:extLst>
          </p:cNvPr>
          <p:cNvSpPr txBox="1"/>
          <p:nvPr/>
        </p:nvSpPr>
        <p:spPr>
          <a:xfrm>
            <a:off x="7254482" y="1105961"/>
            <a:ext cx="35125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5G NR Testbed Setup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7138DC7-4B2C-1C62-9396-A0FC81BCC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8869" y="1683857"/>
            <a:ext cx="4773131" cy="4156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OpenAirInterface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(OAI).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Operates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monolithic Stand-Alone (SA).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ull 5G RAN protocol stack </a:t>
            </a:r>
          </a:p>
          <a:p>
            <a:pPr marL="800100" lvl="1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5G core network.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USRPs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act as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OTA communication.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OAI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gNB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UE stacks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 on: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 i7,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12 cores @ 4.9 GHz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32 GB RAM</a:t>
            </a: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Ubuntu 22.04 LTS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low-latency kernel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685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F1934-1397-7D64-AEAD-9C6D8B39E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F61E052-1072-508E-40CF-8BC8E7CA765E}"/>
              </a:ext>
            </a:extLst>
          </p:cNvPr>
          <p:cNvSpPr txBox="1"/>
          <p:nvPr/>
        </p:nvSpPr>
        <p:spPr>
          <a:xfrm>
            <a:off x="96253" y="105877"/>
            <a:ext cx="9221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>
                <a:solidFill>
                  <a:schemeClr val="accent3"/>
                </a:solidFill>
              </a:rPr>
              <a:t>Indigenously Built RIS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01CBA6-A340-DB46-3033-029FA8389D88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a radiator&#10;&#10;AI-generated content may be incorrect.">
            <a:extLst>
              <a:ext uri="{FF2B5EF4-FFF2-40B4-BE49-F238E27FC236}">
                <a16:creationId xmlns:a16="http://schemas.microsoft.com/office/drawing/2014/main" id="{610365CA-D095-612C-3A2D-877AA3C97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27" y="3548042"/>
            <a:ext cx="4879856" cy="21683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610957-DF50-F5CD-35D7-F74902FD7FD6}"/>
                  </a:ext>
                </a:extLst>
              </p:cNvPr>
              <p:cNvSpPr txBox="1"/>
              <p:nvPr/>
            </p:nvSpPr>
            <p:spPr>
              <a:xfrm>
                <a:off x="5266938" y="2251912"/>
                <a:ext cx="6925062" cy="3350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spc="75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RIS design using a 1-bit digitally coded metasurface at </a:t>
                </a:r>
                <a:r>
                  <a:rPr lang="en-US" sz="1800" spc="75">
                    <a:solidFill>
                      <a:srgbClr val="0432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5 GHz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spc="75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Has </a:t>
                </a:r>
                <a:r>
                  <a:rPr lang="en-US" sz="1800" spc="75">
                    <a:solidFill>
                      <a:srgbClr val="0432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1024 elements</a:t>
                </a:r>
                <a:r>
                  <a:rPr lang="en-US" sz="1800" spc="75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 each element is </a:t>
                </a:r>
                <a:r>
                  <a:rPr lang="en-US" sz="1800" spc="75">
                    <a:solidFill>
                      <a:srgbClr val="0432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configured via PIN-diode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spc="75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Single-layer design with a single switch per unit cell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spc="75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An </a:t>
                </a:r>
                <a:r>
                  <a:rPr lang="en-US" sz="1800" spc="75">
                    <a:solidFill>
                      <a:srgbClr val="0432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FPGA controller </a:t>
                </a:r>
                <a:r>
                  <a:rPr lang="en-US" sz="1800" spc="75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used for programming &amp; dynamic steering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spc="75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Multi-beam steering for </a:t>
                </a:r>
                <a:r>
                  <a:rPr lang="en-US" sz="1800" spc="75">
                    <a:solidFill>
                      <a:srgbClr val="0432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coverage, capacity enhancement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spc="75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Scan loss-free steering range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lang="en-US" sz="18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p>
                    </m:sSup>
                    <m:r>
                      <a:rPr lang="en-US" sz="1800" b="0" i="1" spc="75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sz="18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60</m:t>
                        </m:r>
                      </m:e>
                      <m:sup>
                        <m:r>
                          <a:rPr lang="en-US" sz="1800" b="0" i="1" spc="75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en-US" sz="1800" spc="75">
                  <a:solidFill>
                    <a:srgbClr val="0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spc="75">
                    <a:solidFill>
                      <a:srgbClr val="0432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Low cost and low power </a:t>
                </a:r>
                <a:r>
                  <a:rPr lang="en-US" sz="1800" spc="75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consumption (&lt;2 W) design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spc="75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Suitable for </a:t>
                </a:r>
                <a:r>
                  <a:rPr lang="en-US" sz="1800" spc="75">
                    <a:solidFill>
                      <a:srgbClr val="0432FF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sub-6 GHz wireless communications </a:t>
                </a:r>
                <a:r>
                  <a:rPr lang="en-US" sz="1800" spc="75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&amp; other freq.</a:t>
                </a:r>
                <a:endParaRPr lang="en-US" sz="1800" spc="75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8610957-DF50-F5CD-35D7-F74902FD7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938" y="2251912"/>
                <a:ext cx="6925062" cy="3350264"/>
              </a:xfrm>
              <a:prstGeom prst="rect">
                <a:avLst/>
              </a:prstGeom>
              <a:blipFill>
                <a:blip r:embed="rId3"/>
                <a:stretch>
                  <a:fillRect l="-616" b="-2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136">
            <a:extLst>
              <a:ext uri="{FF2B5EF4-FFF2-40B4-BE49-F238E27FC236}">
                <a16:creationId xmlns:a16="http://schemas.microsoft.com/office/drawing/2014/main" id="{B976E59E-FDD2-C534-92C2-038A08826579}"/>
              </a:ext>
            </a:extLst>
          </p:cNvPr>
          <p:cNvSpPr txBox="1"/>
          <p:nvPr/>
        </p:nvSpPr>
        <p:spPr>
          <a:xfrm>
            <a:off x="1320840" y="5680610"/>
            <a:ext cx="19831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600" b="1" spc="75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Full RIS structure</a:t>
            </a:r>
            <a:endParaRPr lang="en-IN" sz="16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4FD439-D0EE-E22C-A657-FD0DE276C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27" y="1093036"/>
            <a:ext cx="5107711" cy="18379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60806F-5027-6C22-43A9-F94EB2B4AF91}"/>
              </a:ext>
            </a:extLst>
          </p:cNvPr>
          <p:cNvSpPr txBox="1"/>
          <p:nvPr/>
        </p:nvSpPr>
        <p:spPr>
          <a:xfrm>
            <a:off x="96253" y="3060648"/>
            <a:ext cx="4856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Unit-cell of a 1-bit digitally coded RIS: 3D 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81A5C0-8163-7E9B-300B-4B5AD8E5E557}"/>
              </a:ext>
            </a:extLst>
          </p:cNvPr>
          <p:cNvSpPr txBox="1"/>
          <p:nvPr/>
        </p:nvSpPr>
        <p:spPr>
          <a:xfrm>
            <a:off x="6096000" y="1541752"/>
            <a:ext cx="3172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Equivalent circuit of PIN diode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CDB8D94-A880-FF4C-0E1E-2F0DD1AF4F29}"/>
              </a:ext>
            </a:extLst>
          </p:cNvPr>
          <p:cNvSpPr/>
          <p:nvPr/>
        </p:nvSpPr>
        <p:spPr>
          <a:xfrm>
            <a:off x="5958038" y="1428108"/>
            <a:ext cx="3359217" cy="569580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D2B7FB-9D43-CFF0-B3C1-B15B580D3EB2}"/>
              </a:ext>
            </a:extLst>
          </p:cNvPr>
          <p:cNvCxnSpPr>
            <a:stCxn id="11" idx="1"/>
          </p:cNvCxnSpPr>
          <p:nvPr/>
        </p:nvCxnSpPr>
        <p:spPr>
          <a:xfrm flipH="1">
            <a:off x="5266938" y="1712898"/>
            <a:ext cx="691100" cy="4398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476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B73A4-AB6B-47EB-2CD1-131A2DB9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A25764E-239B-9111-13C1-20E0F9A86309}"/>
              </a:ext>
            </a:extLst>
          </p:cNvPr>
          <p:cNvSpPr txBox="1"/>
          <p:nvPr/>
        </p:nvSpPr>
        <p:spPr>
          <a:xfrm>
            <a:off x="96253" y="105877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3"/>
                </a:solidFill>
              </a:rPr>
              <a:t>The OpenAirInterface for 5G NR</a:t>
            </a:r>
            <a:endParaRPr lang="en-IN" sz="3600">
              <a:solidFill>
                <a:schemeClr val="accent3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9132A9-F853-5BA9-6054-8B110425DBFD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96971C-6C53-B3A8-220A-0EBF2F8D651D}"/>
              </a:ext>
            </a:extLst>
          </p:cNvPr>
          <p:cNvSpPr txBox="1"/>
          <p:nvPr/>
        </p:nvSpPr>
        <p:spPr>
          <a:xfrm>
            <a:off x="7641345" y="1007107"/>
            <a:ext cx="2726719" cy="36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Discrete-Rate Adaptation</a:t>
            </a:r>
            <a:r>
              <a:rPr lang="en-IN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EC2AE0-3560-164F-9237-AB375393A719}"/>
              </a:ext>
            </a:extLst>
          </p:cNvPr>
          <p:cNvSpPr/>
          <p:nvPr/>
        </p:nvSpPr>
        <p:spPr>
          <a:xfrm>
            <a:off x="7641345" y="1011528"/>
            <a:ext cx="2622680" cy="392155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6082C8-1AF1-30B4-F158-B3AE165177EE}"/>
              </a:ext>
            </a:extLst>
          </p:cNvPr>
          <p:cNvSpPr/>
          <p:nvPr/>
        </p:nvSpPr>
        <p:spPr>
          <a:xfrm>
            <a:off x="971756" y="1638864"/>
            <a:ext cx="4668029" cy="1021505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 MHz bandwidth (5 GHz carrier), 30 kHz SCS.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slots with 14 OFDM symbols.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TDD frame: 10-slot periodicity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D111DE-2F66-1041-F75D-F681B5BE0C97}"/>
              </a:ext>
            </a:extLst>
          </p:cNvPr>
          <p:cNvSpPr/>
          <p:nvPr/>
        </p:nvSpPr>
        <p:spPr>
          <a:xfrm>
            <a:off x="6189586" y="1576995"/>
            <a:ext cx="5630238" cy="1120694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3GPP MCS Table 1 (29 levels).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MCS range: 3 to CQI-dependent max (CQI every 80 ms).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HARQ adjust: ±1 MCS based on BLER (&lt;0.05 / &gt;0.15).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Retransmissions: Up to 3 HARQ repeats with same MCS</a:t>
            </a:r>
            <a:endParaRPr 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E6CC7D-91C9-027E-BF10-5F9F2F7C26C1}"/>
              </a:ext>
            </a:extLst>
          </p:cNvPr>
          <p:cNvGrpSpPr/>
          <p:nvPr/>
        </p:nvGrpSpPr>
        <p:grpSpPr>
          <a:xfrm>
            <a:off x="1927975" y="1092715"/>
            <a:ext cx="3329882" cy="370904"/>
            <a:chOff x="1857913" y="1022940"/>
            <a:chExt cx="3329882" cy="37090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3B4581B-515C-D04E-0736-697B753A4402}"/>
                </a:ext>
              </a:extLst>
            </p:cNvPr>
            <p:cNvSpPr txBox="1"/>
            <p:nvPr/>
          </p:nvSpPr>
          <p:spPr>
            <a:xfrm>
              <a:off x="1857914" y="1022940"/>
              <a:ext cx="332988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Communication Resources: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145DE83-5552-E19E-DA68-B952B920E672}"/>
                </a:ext>
              </a:extLst>
            </p:cNvPr>
            <p:cNvSpPr/>
            <p:nvPr/>
          </p:nvSpPr>
          <p:spPr>
            <a:xfrm>
              <a:off x="1857913" y="1024512"/>
              <a:ext cx="2786005" cy="369332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4603C7D-1B84-B550-A5E5-D07FAD50B6E1}"/>
              </a:ext>
            </a:extLst>
          </p:cNvPr>
          <p:cNvSpPr txBox="1"/>
          <p:nvPr/>
        </p:nvSpPr>
        <p:spPr>
          <a:xfrm>
            <a:off x="96253" y="2929231"/>
            <a:ext cx="2322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Allocation: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814A4D9-DC89-190E-37DF-59AE41E30C15}"/>
              </a:ext>
            </a:extLst>
          </p:cNvPr>
          <p:cNvSpPr/>
          <p:nvPr/>
        </p:nvSpPr>
        <p:spPr>
          <a:xfrm>
            <a:off x="96253" y="2914007"/>
            <a:ext cx="2097601" cy="41663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44E602-5BD2-D3BB-1769-6045E120EA63}"/>
              </a:ext>
            </a:extLst>
          </p:cNvPr>
          <p:cNvSpPr txBox="1"/>
          <p:nvPr/>
        </p:nvSpPr>
        <p:spPr>
          <a:xfrm>
            <a:off x="269698" y="3535035"/>
            <a:ext cx="6983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1. In OAI, users are scheduled using a Proportional Fair scheduler.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B53F08-1204-F409-DE34-C7E3F4F611B7}"/>
              </a:ext>
            </a:extLst>
          </p:cNvPr>
          <p:cNvSpPr txBox="1"/>
          <p:nvPr/>
        </p:nvSpPr>
        <p:spPr>
          <a:xfrm>
            <a:off x="269698" y="3983321"/>
            <a:ext cx="6149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2. Scheduling rule: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A8B197F-B21D-B1BA-1891-485833869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99" y="4352653"/>
            <a:ext cx="4851510" cy="55948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EDDA0DE-7237-035F-B6A0-400A11190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099" y="5281005"/>
            <a:ext cx="4650539" cy="60389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6B83131-0272-098F-C6D3-204B7CDD9522}"/>
              </a:ext>
            </a:extLst>
          </p:cNvPr>
          <p:cNvSpPr txBox="1"/>
          <p:nvPr/>
        </p:nvSpPr>
        <p:spPr>
          <a:xfrm>
            <a:off x="269698" y="4905027"/>
            <a:ext cx="6149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3. Instantaneous SE :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72FF4C-6523-1308-C421-6464F38E7655}"/>
              </a:ext>
            </a:extLst>
          </p:cNvPr>
          <p:cNvSpPr txBox="1"/>
          <p:nvPr/>
        </p:nvSpPr>
        <p:spPr>
          <a:xfrm>
            <a:off x="6526659" y="2919111"/>
            <a:ext cx="6149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4. EWMA update of average SE: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9167F4B-46A7-7257-B382-D0DAF2108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897" y="3322965"/>
            <a:ext cx="5293165" cy="86934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BDB8248-271A-B863-E02F-C85A2AA93EF0}"/>
              </a:ext>
            </a:extLst>
          </p:cNvPr>
          <p:cNvSpPr txBox="1"/>
          <p:nvPr/>
        </p:nvSpPr>
        <p:spPr>
          <a:xfrm>
            <a:off x="6189586" y="4567993"/>
            <a:ext cx="63853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Small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→ more opportunistic (higher throughput).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Large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→ more fairness (frequent service to all UEs).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8E6B421D-7D0C-47EC-F070-B668FD4318FC}"/>
              </a:ext>
            </a:extLst>
          </p:cNvPr>
          <p:cNvSpPr/>
          <p:nvPr/>
        </p:nvSpPr>
        <p:spPr>
          <a:xfrm>
            <a:off x="6170335" y="4520709"/>
            <a:ext cx="5924764" cy="1062245"/>
          </a:xfrm>
          <a:prstGeom prst="flowChartAlternateProcess">
            <a:avLst/>
          </a:prstGeom>
          <a:noFill/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96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9" grpId="0" animBg="1"/>
      <p:bldP spid="18" grpId="0" animBg="1"/>
      <p:bldP spid="28" grpId="0"/>
      <p:bldP spid="29" grpId="0" animBg="1"/>
      <p:bldP spid="31" grpId="0"/>
      <p:bldP spid="33" grpId="0"/>
      <p:bldP spid="43" grpId="0"/>
      <p:bldP spid="45" grpId="0"/>
      <p:bldP spid="49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3454D-AE44-EADA-322F-9ECB6918F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383F0BA-4C17-F372-852F-5069169022AA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3"/>
                </a:solidFill>
              </a:rPr>
              <a:t>Evaluation Methodology</a:t>
            </a:r>
            <a:endParaRPr lang="en-IN" sz="3600">
              <a:solidFill>
                <a:schemeClr val="accent3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D710F5-4273-01CD-5575-58FCA4F00794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D70B5288-D55A-9C77-3550-C817F4688D0F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B4C1EA-E086-98C9-A306-3A6406654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30" y="1077452"/>
                <a:ext cx="11723571" cy="16155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q"/>
                </a:pPr>
                <a:r>
                  <a:rPr lang="en-US" altLang="en-US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UE Geometry Matters:</a:t>
                </a:r>
                <a:r>
                  <a:rPr lang="en-US" altLang="en-US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 sees each user through azimuth/elevation angles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1600" i="1" dirty="0" err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altLang="en-US" sz="1600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1600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en-US" sz="1600" i="1" dirty="0" err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en-US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​</m:t>
                        </m:r>
                      </m:e>
                    </m:d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characterize the cascaded channels.</a:t>
                </a:r>
                <a:endParaRPr kumimoji="0" lang="en-US" altLang="en-US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Finite RIS Codebook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discrete phase states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kumimoji="0" lang="en-US" alt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kumimoji="0" lang="en-US" alt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US" alt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kumimoji="0" lang="en-US" altLang="en-US" sz="16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  <m:sub>
                        <m:r>
                          <a:rPr kumimoji="0" lang="en-US" altLang="en-US" sz="1600" b="0" i="1" u="none" strike="noStrike" cap="none" normalizeH="0" baseline="0" dirty="0" err="1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m:rPr>
                        <m:lit/>
                      </m:rPr>
                      <a:rPr kumimoji="0" lang="en-US" alt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each chosen 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Design Constraint: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probabilities satisfy</a:t>
                </a:r>
              </a:p>
              <a:p>
                <a:pPr marR="0" lvl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en-US" sz="16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altLang="en-US" sz="16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0" lang="en-US" altLang="en-US" sz="16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  <m:r>
                        <a:rPr kumimoji="0" lang="en-US" altLang="en-US" sz="1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≥0, </m:t>
                      </m:r>
                      <m:nary>
                        <m:naryPr>
                          <m:chr m:val="∑"/>
                          <m:ctrlPr>
                            <a:rPr kumimoji="0" lang="en-US" altLang="en-US" sz="16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kumimoji="0" lang="en-US" altLang="en-US" sz="16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ℓ=1</m:t>
                          </m:r>
                        </m:sub>
                        <m:sup>
                          <m:r>
                            <a:rPr kumimoji="0" lang="en-US" altLang="en-US" sz="16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altLang="en-US" sz="16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en-US" sz="16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0" lang="en-US" altLang="en-US" sz="1600" b="0" i="1" u="none" strike="noStrike" cap="none" normalizeH="0" baseline="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sub>
                          </m:sSub>
                        </m:e>
                      </m:nary>
                      <m:r>
                        <a:rPr kumimoji="0" lang="en-US" altLang="en-US" sz="1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6B4C1EA-E086-98C9-A306-3A6406654C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30" y="1077452"/>
                <a:ext cx="11723571" cy="1615570"/>
              </a:xfrm>
              <a:prstGeom prst="rect">
                <a:avLst/>
              </a:prstGeom>
              <a:blipFill>
                <a:blip r:embed="rId3"/>
                <a:stretch>
                  <a:fillRect l="-324" t="-775" b="-7364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D90C48-A6E7-F2DE-04A4-74007CD20857}"/>
                  </a:ext>
                </a:extLst>
              </p:cNvPr>
              <p:cNvSpPr txBox="1"/>
              <p:nvPr/>
            </p:nvSpPr>
            <p:spPr>
              <a:xfrm>
                <a:off x="0" y="2844553"/>
                <a:ext cx="12095747" cy="12402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Sampling Distribution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Matching the RIS phase distribution to the users’ angular statistics maximizes the average system throughput. 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Experimental Setup:</a:t>
                </a:r>
              </a:p>
              <a:p>
                <a:pPr lvl="1"/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UE Placement &amp; Geometry: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Two UEs are located at azimuth angles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ar-AE" sz="160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ar-AE" sz="160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ar-AE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both with elevation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ar-AE" sz="160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 State Distribution: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RIS switches between the two beamforming states corresponding to these angles (with probability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6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16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1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D90C48-A6E7-F2DE-04A4-74007CD20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44553"/>
                <a:ext cx="12095747" cy="1240211"/>
              </a:xfrm>
              <a:prstGeom prst="rect">
                <a:avLst/>
              </a:prstGeom>
              <a:blipFill>
                <a:blip r:embed="rId4"/>
                <a:stretch>
                  <a:fillRect l="-315" t="-3061" b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69DA587-EB69-7055-9580-1BBE31F7C014}"/>
              </a:ext>
            </a:extLst>
          </p:cNvPr>
          <p:cNvSpPr txBox="1"/>
          <p:nvPr/>
        </p:nvSpPr>
        <p:spPr>
          <a:xfrm>
            <a:off x="96253" y="4180781"/>
            <a:ext cx="2075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Idea:</a:t>
            </a:r>
            <a:endParaRPr lang="en-IN" sz="20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1D7B72-EA47-A386-4079-E666D1571E04}"/>
              </a:ext>
            </a:extLst>
          </p:cNvPr>
          <p:cNvSpPr txBox="1"/>
          <p:nvPr/>
        </p:nvSpPr>
        <p:spPr>
          <a:xfrm>
            <a:off x="432411" y="4567752"/>
            <a:ext cx="87818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Randomized RIS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RIS switches between phase states with a switching time = 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Proportional fair scheduler: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gNB employs a PF scheduler with EWMA parameter = α</a:t>
            </a:r>
            <a:r>
              <a:rPr lang="en-IN"/>
              <a:t>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DF0FAA-767B-2A53-A058-1493EAB9D577}"/>
              </a:ext>
            </a:extLst>
          </p:cNvPr>
          <p:cNvGrpSpPr/>
          <p:nvPr/>
        </p:nvGrpSpPr>
        <p:grpSpPr>
          <a:xfrm>
            <a:off x="2517382" y="5260454"/>
            <a:ext cx="7157235" cy="520094"/>
            <a:chOff x="-479034" y="5260454"/>
            <a:chExt cx="7157235" cy="5200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3E57D4B-F8B4-9B6D-1988-093190FFE5DD}"/>
                    </a:ext>
                  </a:extLst>
                </p:cNvPr>
                <p:cNvSpPr txBox="1"/>
                <p:nvPr/>
              </p:nvSpPr>
              <p:spPr>
                <a:xfrm>
                  <a:off x="-479034" y="5268985"/>
                  <a:ext cx="7157235" cy="4651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𝐔𝐬𝐢𝐧𝐠</m:t>
                        </m:r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𝐚𝐩𝐩𝐫𝐨𝐩𝐫𝐢𝐚𝐭𝐞𝐥𝐲</m:t>
                        </m:r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𝐜𝐡𝐨𝐬𝐞𝐧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IN" i="1" dirty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IN" i="1" dirty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IN" i="1" dirty="0" smtClean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  <m:t>𝑟𝑎𝑛𝑑</m:t>
                            </m:r>
                          </m:sub>
                          <m:sup>
                            <m:d>
                              <m:dPr>
                                <m:ctrlPr>
                                  <a:rPr lang="en-IN" i="1" dirty="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 dirty="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d>
                          </m:sup>
                        </m:sSubSup>
                        <m:r>
                          <a:rPr lang="en-IN" i="1" dirty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IN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IN" i="1" dirty="0">
                                <a:solidFill>
                                  <a:srgbClr val="FF0066"/>
                                </a:solidFill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  <m:sup>
                            <m:d>
                              <m:dPr>
                                <m:ctrlPr>
                                  <a:rPr lang="en-IN" i="1" dirty="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 dirty="0">
                                    <a:solidFill>
                                      <a:srgbClr val="FF0066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d>
                          </m:sup>
                        </m:sSubSup>
                        <m:r>
                          <a:rPr lang="en-IN" i="1" dirty="0">
                            <a:solidFill>
                              <a:srgbClr val="FF0066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3E57D4B-F8B4-9B6D-1988-093190FFE5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79034" y="5268985"/>
                  <a:ext cx="7157235" cy="465192"/>
                </a:xfrm>
                <a:prstGeom prst="rect">
                  <a:avLst/>
                </a:prstGeom>
                <a:blipFill>
                  <a:blip r:embed="rId5"/>
                  <a:stretch>
                    <a:fillRect b="-38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7FE14E9-83BC-D929-385E-C66D3F90A87B}"/>
                </a:ext>
              </a:extLst>
            </p:cNvPr>
            <p:cNvSpPr/>
            <p:nvPr/>
          </p:nvSpPr>
          <p:spPr>
            <a:xfrm>
              <a:off x="410966" y="5260454"/>
              <a:ext cx="5301465" cy="52009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47471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CC9A-24A5-089E-7FAB-91D5ED4B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D465EC7-B143-A8F2-54E3-8A31E5564D57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3"/>
                </a:solidFill>
              </a:rPr>
              <a:t>With RIS and Without RIS</a:t>
            </a:r>
            <a:endParaRPr lang="en-IN" sz="3600">
              <a:solidFill>
                <a:schemeClr val="accent3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2A61C2-CBD2-D76F-7BB7-D308D3F1DA2B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8A78C5F7-7E86-A39C-0E90-744144AAD1C4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1DE1C0-91A8-1DA8-C7AD-BA588D537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567081"/>
              </p:ext>
            </p:extLst>
          </p:nvPr>
        </p:nvGraphicFramePr>
        <p:xfrm>
          <a:off x="221816" y="1181996"/>
          <a:ext cx="8128000" cy="27455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8866515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603595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7425562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560896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914924547"/>
                    </a:ext>
                  </a:extLst>
                </a:gridCol>
              </a:tblGrid>
              <a:tr h="680799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With vs without RIS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RSRP (in dB)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/>
                        <a:t>Throughput (in Mbps)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321334"/>
                  </a:ext>
                </a:extLst>
              </a:tr>
              <a:tr h="7051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UE-1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UE-2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UE-1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UE-2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5409"/>
                  </a:ext>
                </a:extLst>
              </a:tr>
              <a:tr h="66100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Without RIS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-112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-110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40.70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47.40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564101"/>
                  </a:ext>
                </a:extLst>
              </a:tr>
              <a:tr h="69864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With RIS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-105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102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50.10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58.20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2177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croll: Horizontal 14">
                <a:extLst>
                  <a:ext uri="{FF2B5EF4-FFF2-40B4-BE49-F238E27FC236}">
                    <a16:creationId xmlns:a16="http://schemas.microsoft.com/office/drawing/2014/main" id="{DE6684FF-AFF9-B9A7-1C20-40CA775CEF70}"/>
                  </a:ext>
                </a:extLst>
              </p:cNvPr>
              <p:cNvSpPr/>
              <p:nvPr/>
            </p:nvSpPr>
            <p:spPr>
              <a:xfrm>
                <a:off x="388146" y="3958998"/>
                <a:ext cx="3372987" cy="2060166"/>
              </a:xfrm>
              <a:prstGeom prst="horizontalScroll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N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Experiment Parameters: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</a:pPr>
                <a:r>
                  <a:rPr lang="en-US" altLang="en-US" sz="1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Switching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en-US">
                    <a:solidFill>
                      <a:schemeClr val="tx1"/>
                    </a:solidFill>
                    <a:latin typeface="Arial" panose="020B0604020202020204" pitchFamily="34" charset="0"/>
                  </a:rPr>
                  <a:t> = </a:t>
                </a:r>
                <a:r>
                  <a:rPr lang="en-US" altLang="en-US" sz="1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 sec</a:t>
                </a:r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Ø"/>
                </a:pPr>
                <a:r>
                  <a:rPr lang="en-US" altLang="en-US" sz="1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PF Parameters:</a:t>
                </a:r>
              </a:p>
              <a:p>
                <a:pPr lvl="0"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0.01,</m:t>
                    </m:r>
                    <m:r>
                      <m:rPr>
                        <m:lit/>
                      </m:rPr>
                      <a:rPr lang="en-US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0.0005,</m:t>
                    </m:r>
                    <m:r>
                      <m:rPr>
                        <m:lit/>
                      </m:rPr>
                      <a:rPr lang="en-US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0.00005</m:t>
                    </m:r>
                  </m:oMath>
                </a14:m>
                <a:r>
                  <a:rPr lang="en-US" altLang="en-US" sz="1600">
                    <a:solidFill>
                      <a:schemeClr val="tx1"/>
                    </a:solidFill>
                    <a:latin typeface="Arial" panose="020B0604020202020204" pitchFamily="34" charset="0"/>
                  </a:rPr>
                  <a:t>.</a:t>
                </a:r>
                <a:endParaRPr lang="en-IN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Scroll: Horizontal 14">
                <a:extLst>
                  <a:ext uri="{FF2B5EF4-FFF2-40B4-BE49-F238E27FC236}">
                    <a16:creationId xmlns:a16="http://schemas.microsoft.com/office/drawing/2014/main" id="{DE6684FF-AFF9-B9A7-1C20-40CA775CEF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46" y="3958998"/>
                <a:ext cx="3372987" cy="2060166"/>
              </a:xfrm>
              <a:prstGeom prst="horizontalScroll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FDE0C5F6-5902-64B2-4FF6-65AAD8698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753" y="4501745"/>
                <a:ext cx="8382423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must be long enough for the aligned UE to benefit from the RIS beamforming gain.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must not be too long, otherwise the PF scheduler will start serving the other UE.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So, the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0" lang="en-US" altLang="en-US" sz="18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must be tuned carefully for good system performance.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q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work,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chosen empirically.</a:t>
                </a: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FDE0C5F6-5902-64B2-4FF6-65AAD86984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2753" y="4501745"/>
                <a:ext cx="8382423" cy="1200329"/>
              </a:xfrm>
              <a:prstGeom prst="rect">
                <a:avLst/>
              </a:prstGeom>
              <a:blipFill>
                <a:blip r:embed="rId3"/>
                <a:stretch>
                  <a:fillRect l="-454" t="-2105" r="-454" b="-84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CC148D88-6A31-0D8C-E577-221BF916B673}"/>
              </a:ext>
            </a:extLst>
          </p:cNvPr>
          <p:cNvSpPr/>
          <p:nvPr/>
        </p:nvSpPr>
        <p:spPr>
          <a:xfrm rot="5568897">
            <a:off x="8172098" y="2967603"/>
            <a:ext cx="1148028" cy="737101"/>
          </a:xfrm>
          <a:prstGeom prst="curvedDownArrow">
            <a:avLst>
              <a:gd name="adj1" fmla="val 25000"/>
              <a:gd name="adj2" fmla="val 61462"/>
              <a:gd name="adj3" fmla="val 46650"/>
            </a:avLst>
          </a:prstGeom>
          <a:solidFill>
            <a:srgbClr val="B71E42"/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F93621-19D0-3FD2-EF29-876470939C3A}"/>
                  </a:ext>
                </a:extLst>
              </p:cNvPr>
              <p:cNvSpPr txBox="1"/>
              <p:nvPr/>
            </p:nvSpPr>
            <p:spPr>
              <a:xfrm>
                <a:off x="3892753" y="4132412"/>
                <a:ext cx="61828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Choice of the switching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b="1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IN" b="1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AF93621-19D0-3FD2-EF29-876470939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753" y="4132412"/>
                <a:ext cx="6182832" cy="369332"/>
              </a:xfrm>
              <a:prstGeom prst="rect">
                <a:avLst/>
              </a:prstGeom>
              <a:blipFill>
                <a:blip r:embed="rId4"/>
                <a:stretch>
                  <a:fillRect l="-88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AFB908F-E216-EB9A-6019-8060BCF4CBA1}"/>
              </a:ext>
            </a:extLst>
          </p:cNvPr>
          <p:cNvSpPr txBox="1"/>
          <p:nvPr/>
        </p:nvSpPr>
        <p:spPr>
          <a:xfrm>
            <a:off x="8893996" y="1753697"/>
            <a:ext cx="27391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RSRP increment: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7–8 dB  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Rate increment: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10 Mbps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CE979173-936F-7598-8549-AF20BEBA52E2}"/>
              </a:ext>
            </a:extLst>
          </p:cNvPr>
          <p:cNvSpPr/>
          <p:nvPr/>
        </p:nvSpPr>
        <p:spPr>
          <a:xfrm>
            <a:off x="8455631" y="1525260"/>
            <a:ext cx="3736369" cy="1103968"/>
          </a:xfrm>
          <a:prstGeom prst="cloud">
            <a:avLst/>
          </a:prstGeom>
          <a:noFill/>
          <a:ln>
            <a:solidFill>
              <a:schemeClr val="accent3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99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" grpId="0"/>
      <p:bldP spid="4" grpId="0" animBg="1"/>
      <p:bldP spid="7" grpId="0"/>
      <p:bldP spid="11" grpId="0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9EAC-AF5B-4575-51F0-2D0FEE3D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A845CB-49DF-2848-B568-4075C1780A61}"/>
                  </a:ext>
                </a:extLst>
              </p:cNvPr>
              <p:cNvSpPr txBox="1"/>
              <p:nvPr/>
            </p:nvSpPr>
            <p:spPr>
              <a:xfrm>
                <a:off x="96253" y="77001"/>
                <a:ext cx="994289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>
                    <a:solidFill>
                      <a:schemeClr val="accent3"/>
                    </a:solidFill>
                  </a:rPr>
                  <a:t>RSRP and Throughput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i="1" dirty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dirty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3600" i="1" dirty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=0.00005</m:t>
                        </m:r>
                      </m:e>
                    </m:d>
                  </m:oMath>
                </a14:m>
                <a:endParaRPr lang="en-IN" sz="360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A845CB-49DF-2848-B568-4075C1780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3" y="77001"/>
                <a:ext cx="9942896" cy="646331"/>
              </a:xfrm>
              <a:prstGeom prst="rect">
                <a:avLst/>
              </a:prstGeom>
              <a:blipFill>
                <a:blip r:embed="rId2"/>
                <a:stretch>
                  <a:fillRect l="-1901"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949A87-DA42-D1BA-555B-F1D9252FA725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33F85E21-C395-2FFE-828E-A13F1D5681C6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622DD-A06C-9CB8-923C-AAEC53C68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79" y="1407415"/>
            <a:ext cx="5393301" cy="40431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F8BB0B-66A9-7A06-CC0F-128110C13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555" y="1407414"/>
            <a:ext cx="5393302" cy="404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7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2F346-D9AC-850F-5710-2246745F6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B0F0745-5DB7-9D61-3DEC-A3152E526E41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3"/>
                </a:solidFill>
              </a:rPr>
              <a:t>BLER and MCS</a:t>
            </a:r>
            <a:endParaRPr lang="en-IN" sz="3600">
              <a:solidFill>
                <a:schemeClr val="accent3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759C17-6D99-497F-9128-5A286ADF2554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581F00A1-73F4-2735-9613-7C6900E5F524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5930CA-5FA0-121F-5AD3-0CAC7CE84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78" y="1421846"/>
            <a:ext cx="5354800" cy="40143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E20E2F-DED7-D47C-E304-9C180C769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088" y="1351160"/>
            <a:ext cx="5354800" cy="401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71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6C8A1-3EF4-B8A4-B3F7-F6BB006C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7CE279-8519-84AA-4A28-778F6E696473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Randomized RIS Can Procure Full Benefits</a:t>
            </a:r>
            <a:endParaRPr lang="en-IN" sz="3600" dirty="0">
              <a:solidFill>
                <a:schemeClr val="accent3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5D745D-F1D8-CBB4-E727-8C0EA6E6EC17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1B3F8AD5-1692-B727-1B99-3691F90168E5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9568C0-B944-5617-3A99-73A36F27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0" y="1404990"/>
            <a:ext cx="5399771" cy="4048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CDC24B-5F61-5D41-4E7A-319CA312C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861" y="1404988"/>
            <a:ext cx="5399771" cy="404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39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FFAA5-2433-91F0-D897-335CF83A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36E4BDE-C944-AEDB-59E8-7BC3F0517AFE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What Next?</a:t>
            </a:r>
            <a:endParaRPr lang="en-IN" sz="3600" dirty="0">
              <a:solidFill>
                <a:schemeClr val="accent3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AD7276-F440-DF38-80D0-5C8E1BABD8AB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96EEA655-EFEE-8887-6E4F-B37BA8734506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D6DD76-3F4D-56B3-46FB-27F82D8E4BAD}"/>
              </a:ext>
            </a:extLst>
          </p:cNvPr>
          <p:cNvSpPr txBox="1"/>
          <p:nvPr/>
        </p:nvSpPr>
        <p:spPr>
          <a:xfrm>
            <a:off x="238874" y="967285"/>
            <a:ext cx="6785381" cy="2223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alternate RIS switching to random switching.</a:t>
            </a:r>
          </a:p>
          <a:p>
            <a:pPr marL="285750" indent="-285750">
              <a:lnSpc>
                <a:spcPct val="20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to multiple UEs and more RIS states.</a:t>
            </a:r>
          </a:p>
          <a:p>
            <a:pPr marL="285750" indent="-285750">
              <a:lnSpc>
                <a:spcPct val="20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in indoor vs. outdoor measurement setups.</a:t>
            </a:r>
          </a:p>
          <a:p>
            <a:pPr marL="285750" indent="-285750">
              <a:lnSpc>
                <a:spcPct val="20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feasible values of Ts based on PF scheduling parameters.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624F8-F161-9230-6B7A-13FE5654E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209" y="1131763"/>
            <a:ext cx="439102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390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5957-A9C9-242C-0389-4FF11E844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46FD123-D0CE-93E2-071E-89CC454390DD}"/>
              </a:ext>
            </a:extLst>
          </p:cNvPr>
          <p:cNvSpPr txBox="1"/>
          <p:nvPr/>
        </p:nvSpPr>
        <p:spPr>
          <a:xfrm>
            <a:off x="96253" y="77001"/>
            <a:ext cx="994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References</a:t>
            </a:r>
            <a:endParaRPr lang="en-IN" sz="3600" dirty="0">
              <a:solidFill>
                <a:schemeClr val="accent3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F65AC3-6F67-0D47-6A0E-5D5E7645901E}"/>
              </a:ext>
            </a:extLst>
          </p:cNvPr>
          <p:cNvCxnSpPr/>
          <p:nvPr/>
        </p:nvCxnSpPr>
        <p:spPr>
          <a:xfrm>
            <a:off x="96253" y="838836"/>
            <a:ext cx="1172357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Scroll: Horizontal 19">
            <a:extLst>
              <a:ext uri="{FF2B5EF4-FFF2-40B4-BE49-F238E27FC236}">
                <a16:creationId xmlns:a16="http://schemas.microsoft.com/office/drawing/2014/main" id="{8A509F30-5B10-A432-F67F-9AC2EEA5A11A}"/>
              </a:ext>
            </a:extLst>
          </p:cNvPr>
          <p:cNvSpPr/>
          <p:nvPr/>
        </p:nvSpPr>
        <p:spPr>
          <a:xfrm>
            <a:off x="519766" y="4501745"/>
            <a:ext cx="3647975" cy="1517419"/>
          </a:xfrm>
          <a:prstGeom prst="horizontalScroll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CFFC5D-F5CC-0582-6BBA-BBEDE91ABC99}"/>
              </a:ext>
            </a:extLst>
          </p:cNvPr>
          <p:cNvSpPr txBox="1"/>
          <p:nvPr/>
        </p:nvSpPr>
        <p:spPr>
          <a:xfrm>
            <a:off x="96253" y="1887259"/>
            <a:ext cx="12095747" cy="29510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Reading: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Malleboina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D. Sarkar, "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Digitally Coded Intelligent Reflecting Surface for 6G Wireless Communication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 Proc. 19th </a:t>
            </a:r>
            <a:r>
              <a:rPr lang="en-IN" sz="1800" b="1" dirty="0">
                <a:solidFill>
                  <a:srgbClr val="FF2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European Conference on Antennas and Propagation (</a:t>
            </a:r>
            <a:r>
              <a:rPr lang="en-IN" sz="1800" b="1" dirty="0" err="1">
                <a:solidFill>
                  <a:srgbClr val="FF2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EuCAP</a:t>
            </a:r>
            <a:r>
              <a:rPr lang="en-IN" sz="1800" b="1" dirty="0">
                <a:solidFill>
                  <a:srgbClr val="FF2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Stockholm, Sweden, 2025, pp. 1-5.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Yashvanth, C. R. Murthy and B. D. Rao, "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Correlation-Aware Opportunistic Beamforming in IRS-Aided Multi-User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 in </a:t>
            </a:r>
            <a:r>
              <a:rPr lang="en-IN" b="1" dirty="0">
                <a:solidFill>
                  <a:srgbClr val="FF2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Wireless Communications Letters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10, Oct. 2025.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Yashvanth and Chandra R. Murthy,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“Performance Analysis of IRS Assisted Opportunistic Communications,”</a:t>
            </a:r>
            <a:r>
              <a:rPr lang="en-IN" b="1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rgbClr val="FF2F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Signal Processing</a:t>
            </a:r>
            <a:r>
              <a:rPr lang="en-IN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vol. 71, pp. 2056-2070,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Jun. 2023 </a:t>
            </a:r>
          </a:p>
        </p:txBody>
      </p:sp>
      <p:pic>
        <p:nvPicPr>
          <p:cNvPr id="3074" name="Picture 2" descr="100+ Thank You Pictures | Download Free Images on Unsplash">
            <a:extLst>
              <a:ext uri="{FF2B5EF4-FFF2-40B4-BE49-F238E27FC236}">
                <a16:creationId xmlns:a16="http://schemas.microsoft.com/office/drawing/2014/main" id="{3F75EC8B-3F01-CFAF-9A3F-CB372D7928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69"/>
          <a:stretch>
            <a:fillRect/>
          </a:stretch>
        </p:blipFill>
        <p:spPr bwMode="auto">
          <a:xfrm>
            <a:off x="0" y="4838322"/>
            <a:ext cx="12192000" cy="201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544443-14DE-71DA-0CC2-73A1FB6E0859}"/>
              </a:ext>
            </a:extLst>
          </p:cNvPr>
          <p:cNvSpPr txBox="1"/>
          <p:nvPr/>
        </p:nvSpPr>
        <p:spPr>
          <a:xfrm>
            <a:off x="96253" y="1013687"/>
            <a:ext cx="11998765" cy="8735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Yashvanth, M. Raju, A. Venkata Reddy, N. Guna Sai Kiran, Chandra R. Murthy,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Debdeep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Sarkar,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RIS Gain Without Pain: Randomization and Opportunistic Scheduling in 5G NR?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submitted in Nov. 2025 for IEEE ICC 2026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5982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63.967"/>
  <p:tag name="ORIGINALWIDTH" val="3723.284"/>
  <p:tag name="LATEXADDIN" val="\documentclass{article}&#10;\usepackage{amsmath,amssymb}&#10;\usepackage{xcolor}&#10;\pagestyle{empty}&#10;\begin{document}&#10;&#10;$ h_{k,q}(t)=\sqrt {\beta _{r,k}}\mathbf{h}_{2,k}^H\boldsymbol{ \Theta}_q(t)\mathbf{h}_1+\sqrt {\beta _{d,k}}h_{d,k}$.&#10;&#10;\end{document}"/>
  <p:tag name="IGUANATEXSIZE" val="20"/>
  <p:tag name="IGUANATEXCURSOR" val="109"/>
  <p:tag name="TRANSPARENCY" val="True"/>
  <p:tag name="LATEXENGINEID" val="0"/>
  <p:tag name="TEMPFOLDER" val=".\iguana_temp_don't_delete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win32_fixed.potx" id="{F81442EF-054B-43F2-9D42-4AC72B9AFB37}" vid="{A487745B-CFD4-4F4A-9F31-FD463ACA8A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D4C3C41E47044EA2AD423BF6FBFB74" ma:contentTypeVersion="10" ma:contentTypeDescription="Create a new document." ma:contentTypeScope="" ma:versionID="6b5cc26b070a1f27eb1bfe3767e2f9eb">
  <xsd:schema xmlns:xsd="http://www.w3.org/2001/XMLSchema" xmlns:xs="http://www.w3.org/2001/XMLSchema" xmlns:p="http://schemas.microsoft.com/office/2006/metadata/properties" xmlns:ns3="6a3aa372-8461-47a2-9d8d-d0af0cb80c0c" targetNamespace="http://schemas.microsoft.com/office/2006/metadata/properties" ma:root="true" ma:fieldsID="e4fbda00feaf3038ea7a43d9e3b13bce" ns3:_="">
    <xsd:import namespace="6a3aa372-8461-47a2-9d8d-d0af0cb80c0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3aa372-8461-47a2-9d8d-d0af0cb80c0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a3aa372-8461-47a2-9d8d-d0af0cb80c0c" xsi:nil="true"/>
  </documentManagement>
</p:properties>
</file>

<file path=customXml/itemProps1.xml><?xml version="1.0" encoding="utf-8"?>
<ds:datastoreItem xmlns:ds="http://schemas.openxmlformats.org/officeDocument/2006/customXml" ds:itemID="{E1B4CE33-3A3E-4DD2-8A94-172BEE5F6BF6}">
  <ds:schemaRefs>
    <ds:schemaRef ds:uri="6a3aa372-8461-47a2-9d8d-d0af0cb80c0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4592637-B8A5-4765-968F-7805D08B6D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49F60D-8989-43CB-A7F6-B7415B0BE245}">
  <ds:schemaRefs>
    <ds:schemaRef ds:uri="6a3aa372-8461-47a2-9d8d-d0af0cb80c0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My invention</Template>
  <TotalTime>276</TotalTime>
  <Words>1825</Words>
  <Application>Microsoft Office PowerPoint</Application>
  <PresentationFormat>Widescreen</PresentationFormat>
  <Paragraphs>203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 Math</vt:lpstr>
      <vt:lpstr>Gill Sans MT</vt:lpstr>
      <vt:lpstr>Times New Roman</vt:lpstr>
      <vt:lpstr>Wingdings</vt:lpstr>
      <vt:lpstr>Gallery</vt:lpstr>
      <vt:lpstr>IRS-aided communications</vt:lpstr>
      <vt:lpstr>PowerPoint Presentation</vt:lpstr>
      <vt:lpstr>Multiplexing gain of IRS: How many IRS(s) are needed to realize full-rank MIMO?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Practical RIS Gain without the Pain: Randomization and Opportunistic Scheduling in 5G NR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Nekkanti Guna Sai Kiran</dc:creator>
  <cp:lastModifiedBy>Nekkanti Guna Sai Kiran</cp:lastModifiedBy>
  <cp:revision>259</cp:revision>
  <cp:lastPrinted>2025-11-25T17:48:44Z</cp:lastPrinted>
  <dcterms:created xsi:type="dcterms:W3CDTF">2025-11-24T11:52:27Z</dcterms:created>
  <dcterms:modified xsi:type="dcterms:W3CDTF">2026-06-05T06:30:45Z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0x0101001AD4C3C41E47044EA2AD423BF6FBFB74</vt:lpwstr>
  </property>
</Properties>
</file>