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70" r:id="rId2"/>
    <p:sldId id="286" r:id="rId3"/>
    <p:sldId id="287" r:id="rId4"/>
    <p:sldId id="298" r:id="rId5"/>
    <p:sldId id="284" r:id="rId6"/>
    <p:sldId id="283" r:id="rId7"/>
    <p:sldId id="296" r:id="rId8"/>
    <p:sldId id="289" r:id="rId9"/>
    <p:sldId id="290" r:id="rId10"/>
    <p:sldId id="291" r:id="rId11"/>
    <p:sldId id="292" r:id="rId12"/>
    <p:sldId id="259" r:id="rId13"/>
    <p:sldId id="260" r:id="rId14"/>
    <p:sldId id="258" r:id="rId15"/>
    <p:sldId id="293" r:id="rId16"/>
    <p:sldId id="261" r:id="rId17"/>
    <p:sldId id="301" r:id="rId18"/>
    <p:sldId id="299" r:id="rId19"/>
    <p:sldId id="302" r:id="rId20"/>
    <p:sldId id="297" r:id="rId21"/>
    <p:sldId id="295" r:id="rId22"/>
    <p:sldId id="303" r:id="rId23"/>
    <p:sldId id="267" r:id="rId24"/>
    <p:sldId id="268" r:id="rId25"/>
    <p:sldId id="262" r:id="rId26"/>
    <p:sldId id="263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4508"/>
    <a:srgbClr val="0D670D"/>
    <a:srgbClr val="FF3399"/>
    <a:srgbClr val="FF2929"/>
    <a:srgbClr val="FFFFCC"/>
    <a:srgbClr val="00FF00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3741" autoAdjust="0"/>
  </p:normalViewPr>
  <p:slideViewPr>
    <p:cSldViewPr snapToGrid="0">
      <p:cViewPr varScale="1">
        <p:scale>
          <a:sx n="66" d="100"/>
          <a:sy n="66" d="100"/>
        </p:scale>
        <p:origin x="70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EF91E-AE45-4601-AA71-55D0A2DD3B14}" type="datetimeFigureOut">
              <a:rPr lang="en-IN" smtClean="0"/>
              <a:t>05-05-2026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F67C-5122-45C2-BB9D-BCF8695C51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751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0E72-56A1-8488-CF66-41F080F9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A2BBF-B6A2-645B-E6B8-C5C70E96C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7747B-8E44-7520-7997-02B2103C3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1134D-F373-3EED-59B1-419F23090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3874D-A20A-4B3E-9C12-F524953D5B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311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a drawback with this approach is that a UE who is far away from the gNB always sees a weak channel and would, therefore, rarely be scheduled.</a:t>
            </a:r>
          </a:p>
          <a:p>
            <a:pPr marL="228600" indent="-228600">
              <a:buAutoNum type="arabicPeriod"/>
            </a:pPr>
            <a:r>
              <a:rPr lang="en-US" dirty="0"/>
              <a:t>This ensures that every user gets equal resource allocation regardless of the instantaneous CQI.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F67C-5122-45C2-BB9D-BCF8695C514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226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F67C-5122-45C2-BB9D-BCF8695C514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59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CDB66-40CA-2138-FF0D-CEAB98E1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E31C7-A4C9-2429-B0F9-8470169D4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7146C-67AD-606C-76DA-FA859A038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e.g</a:t>
            </a:r>
            <a:r>
              <a:rPr lang="en-US" dirty="0"/>
              <a:t>, when IRS is configured as an ULA, h1 can be modeled as steering vector of ULA.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5ED12-9917-6FCE-374C-B45F5E291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F67C-5122-45C2-BB9D-BCF8695C514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626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</a:t>
                </a:r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𝑇_</a:t>
                </a:r>
                <a:r>
                  <a:rPr lang="en-US" i="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𝑐</a:t>
                </a:r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→∞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PF average throughput  </a:t>
                </a:r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𝑇_</a:t>
                </a:r>
                <a:r>
                  <a:rPr lang="en-US" i="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𝑘</a:t>
                </a:r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(𝑡)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each user converges to its true long-term value and becomes constant. Consequently, the PF scheduling metric depends only on the instantaneous rate </a:t>
                </a:r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𝑅_</a:t>
                </a:r>
                <a:r>
                  <a:rPr lang="en-US" i="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𝑘</a:t>
                </a:r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(𝑡)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 scheduler operates in a fully opportunistic manner. For any finite RIS switching interval </a:t>
                </a:r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𝑇_𝑠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RIS explores multiple configurations over time, ensuring that all users experience favorable channel realizations. Hence, full opportunism is achieved, and the system throughput converges to the beamforming-optimal benchmark as </a:t>
                </a:r>
                <a:r>
                  <a:rPr lang="en-US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𝐾 →∞.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F67C-5122-45C2-BB9D-BCF8695C514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895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F67C-5122-45C2-BB9D-BCF8695C514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968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0E72-56A1-8488-CF66-41F080F9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A2BBF-B6A2-645B-E6B8-C5C70E96C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7747B-8E44-7520-7997-02B2103C3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1134D-F373-3EED-59B1-419F23090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311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 err="1"/>
              <a:t>OpenAirInterface</a:t>
            </a:r>
            <a:r>
              <a:rPr lang="en-IN" b="1" dirty="0"/>
              <a:t> (OAI)</a:t>
            </a:r>
            <a:r>
              <a:rPr lang="en-IN" dirty="0"/>
              <a:t> is an open-source platform for 3GPP-compliant cellular systems.</a:t>
            </a:r>
          </a:p>
          <a:p>
            <a:r>
              <a:rPr lang="en-IN" dirty="0"/>
              <a:t>Provides software implementations of </a:t>
            </a:r>
            <a:r>
              <a:rPr lang="en-IN" b="1" dirty="0"/>
              <a:t>5G (New Radio)</a:t>
            </a:r>
            <a:r>
              <a:rPr lang="en-IN" dirty="0"/>
              <a:t>.</a:t>
            </a:r>
          </a:p>
          <a:p>
            <a:r>
              <a:rPr lang="en-IN" dirty="0"/>
              <a:t>Covers the </a:t>
            </a:r>
            <a:r>
              <a:rPr lang="en-IN" b="1" dirty="0"/>
              <a:t>entire protocol stack</a:t>
            </a:r>
            <a:r>
              <a:rPr lang="en-IN" dirty="0"/>
              <a:t>, from PHY to core network.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3874D-A20A-4B3E-9C12-F524953D5B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972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Universal Software Radio Peripherals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3874D-A20A-4B3E-9C12-F524953D5B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364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3874D-A20A-4B3E-9C12-F524953D5B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83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733D4-63D6-9EDF-A0FF-816C7329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0A935-3724-E9EB-0123-87BDB440D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6AB27C0-9A06-2948-DE08-9AC40753750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UE Placement &amp; Geometry: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Two UEs are located at azimuth angles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30</m:t>
                        </m:r>
                      </m:e>
                      <m:sup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∘</m:t>
                        </m:r>
                      </m:sup>
                    </m:sSup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45</m:t>
                        </m:r>
                      </m:e>
                      <m:sup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∘</m:t>
                        </m:r>
                      </m:sup>
                    </m:sSup>
                  </m:oMath>
                </a14:m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both with elevation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  <m:sup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∘</m:t>
                        </m:r>
                      </m:sup>
                    </m:sSup>
                  </m:oMath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RIS State Distribution: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The RIS switches between the two beamforming states corresponding to these angles.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UE Placement &amp; Geometry: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Two UEs are located at azimuth angles </a:t>
                </a:r>
                <a:r>
                  <a:rPr kumimoji="0" lang="ar-A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30^∘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 </a:t>
                </a:r>
                <a:r>
                  <a:rPr kumimoji="0" lang="ar-A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45^∘</a:t>
                </a:r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both with elevation </a:t>
                </a:r>
                <a:r>
                  <a:rPr kumimoji="0" lang="ar-A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0^∘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RIS State Distribution: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The RIS switches between the two beamforming states corresponding to these angles.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7EB12-CB9C-7614-DC0E-71BCE9936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F67C-5122-45C2-BB9D-BCF8695C5147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234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UE Placement &amp; Geometry: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Two UEs are located at azimuth angles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30</m:t>
                        </m:r>
                      </m:e>
                      <m:sup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∘</m:t>
                        </m:r>
                      </m:sup>
                    </m:sSup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45</m:t>
                        </m:r>
                      </m:e>
                      <m:sup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∘</m:t>
                        </m:r>
                      </m:sup>
                    </m:sSup>
                  </m:oMath>
                </a14:m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both with elevation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e>
                      <m:sup>
                        <m:r>
                          <a:rPr kumimoji="0" lang="ar-AE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∘</m:t>
                        </m:r>
                      </m:sup>
                    </m:sSup>
                  </m:oMath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RIS State Distribution: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The RIS switches between the two beamforming states corresponding to these angles.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UE Placement &amp; Geometry: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Two UEs are located at azimuth angles </a:t>
                </a:r>
                <a:r>
                  <a:rPr kumimoji="0" lang="ar-A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30^∘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 </a:t>
                </a:r>
                <a:r>
                  <a:rPr kumimoji="0" lang="ar-A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45^∘</a:t>
                </a:r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,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both with elevation </a:t>
                </a:r>
                <a:r>
                  <a:rPr kumimoji="0" lang="ar-A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0^∘</a:t>
                </a: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457200" marR="0" lvl="1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RIS State Distribution: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The RIS switches between the two beamforming states corresponding to these angles.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FF67C-5122-45C2-BB9D-BCF8695C5147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750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17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012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97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921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301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231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70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197117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912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5/5/2026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828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5/5/2026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79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5/5/2026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00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7.png"/><Relationship Id="rId7" Type="http://schemas.openxmlformats.org/officeDocument/2006/relationships/image" Target="../media/image19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4" Type="http://schemas.openxmlformats.org/officeDocument/2006/relationships/image" Target="../media/image2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png"/><Relationship Id="rId4" Type="http://schemas.openxmlformats.org/officeDocument/2006/relationships/image" Target="../media/image4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NULL"/><Relationship Id="rId4" Type="http://schemas.openxmlformats.org/officeDocument/2006/relationships/image" Target="../media/image4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176D-8EC9-F643-D96D-4B5C69DD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9E56-719C-7309-390B-CC0192F103B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047312" y="885456"/>
            <a:ext cx="10020987" cy="1954907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 Opportunistic </a:t>
            </a:r>
            <a:r>
              <a:rPr lang="en-US" sz="5400" dirty="0">
                <a:solidFill>
                  <a:srgbClr val="FFC000"/>
                </a:solidFill>
              </a:rPr>
              <a:t>scheduling</a:t>
            </a:r>
            <a:r>
              <a:rPr lang="en-US" sz="5400" dirty="0"/>
              <a:t> in </a:t>
            </a:r>
            <a:r>
              <a:rPr lang="en-US" sz="5400" dirty="0">
                <a:solidFill>
                  <a:schemeClr val="accent1"/>
                </a:solidFill>
              </a:rPr>
              <a:t>IRS</a:t>
            </a:r>
            <a:r>
              <a:rPr lang="en-US" sz="5400" dirty="0"/>
              <a:t>-assisted communication systems</a:t>
            </a:r>
            <a:endParaRPr lang="en-US" sz="6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D73592-AF29-DAA3-4FD7-6EE746DDB058}"/>
              </a:ext>
            </a:extLst>
          </p:cNvPr>
          <p:cNvCxnSpPr>
            <a:cxnSpLocks/>
          </p:cNvCxnSpPr>
          <p:nvPr/>
        </p:nvCxnSpPr>
        <p:spPr>
          <a:xfrm>
            <a:off x="538261" y="3613288"/>
            <a:ext cx="105300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E2DCC2-89C7-8C8F-AD2F-08FBC02ACFA0}"/>
              </a:ext>
            </a:extLst>
          </p:cNvPr>
          <p:cNvSpPr txBox="1"/>
          <p:nvPr/>
        </p:nvSpPr>
        <p:spPr>
          <a:xfrm>
            <a:off x="3777952" y="3700761"/>
            <a:ext cx="494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Guna Sai Kiran Nekkanti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ADCACE-8855-CD50-D44F-7D53E1105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61" y="4249621"/>
            <a:ext cx="1722923" cy="17229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E1FD6F-7E1F-25C6-75F3-525372B2D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273" y="4796499"/>
            <a:ext cx="3606273" cy="1101423"/>
          </a:xfrm>
          <a:prstGeom prst="rect">
            <a:avLst/>
          </a:prstGeom>
        </p:spPr>
      </p:pic>
      <p:sp>
        <p:nvSpPr>
          <p:cNvPr id="5" name="AutoShape 2" descr="IEEE ANTS 2025| IEEE International Conference on Advanced Networks and  Telecommunications Systems | 15–18 December 2025 // Delhi, India">
            <a:extLst>
              <a:ext uri="{FF2B5EF4-FFF2-40B4-BE49-F238E27FC236}">
                <a16:creationId xmlns:a16="http://schemas.microsoft.com/office/drawing/2014/main" id="{54697621-65EF-85EF-BD67-B00C92643E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9231" y="-1987193"/>
            <a:ext cx="5568593" cy="556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88A86-D5A4-C2BC-D6BC-7935C9E834F0}"/>
              </a:ext>
            </a:extLst>
          </p:cNvPr>
          <p:cNvSpPr txBox="1"/>
          <p:nvPr/>
        </p:nvSpPr>
        <p:spPr>
          <a:xfrm>
            <a:off x="4730725" y="4987659"/>
            <a:ext cx="2045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MTech ECE</a:t>
            </a:r>
            <a:endParaRPr lang="en-IN" sz="2800" b="1" dirty="0">
              <a:solidFill>
                <a:schemeClr val="accent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C79CC-F8CA-7A4A-B018-572785B08BBB}"/>
              </a:ext>
            </a:extLst>
          </p:cNvPr>
          <p:cNvSpPr txBox="1"/>
          <p:nvPr/>
        </p:nvSpPr>
        <p:spPr>
          <a:xfrm>
            <a:off x="4388470" y="5510879"/>
            <a:ext cx="3151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January 27 , 2026</a:t>
            </a:r>
            <a:endParaRPr lang="en-IN" sz="2400" b="1" dirty="0">
              <a:solidFill>
                <a:srgbClr val="7030A0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160FD3-5ECD-E073-C260-51FB3A7C7AFB}"/>
              </a:ext>
            </a:extLst>
          </p:cNvPr>
          <p:cNvSpPr txBox="1"/>
          <p:nvPr/>
        </p:nvSpPr>
        <p:spPr>
          <a:xfrm>
            <a:off x="3348115" y="4386214"/>
            <a:ext cx="6354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Mid –Project Review Presentation</a:t>
            </a:r>
            <a:endParaRPr lang="en-IN" sz="2400" b="1" dirty="0">
              <a:solidFill>
                <a:srgbClr val="00B050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98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F0A5FB-96AC-5FAA-371A-0FE4EC40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92786F-53CF-1CCF-37B2-64225CC7935B}"/>
              </a:ext>
            </a:extLst>
          </p:cNvPr>
          <p:cNvSpPr txBox="1"/>
          <p:nvPr/>
        </p:nvSpPr>
        <p:spPr>
          <a:xfrm>
            <a:off x="96252" y="150365"/>
            <a:ext cx="8266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Opportunistic Multi user Communication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EB9D41-FDF6-39C2-35E5-E0B2A9F9B784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AA9BAF-CC75-D1D8-861C-2EC90DCEE7C6}"/>
              </a:ext>
            </a:extLst>
          </p:cNvPr>
          <p:cNvSpPr txBox="1"/>
          <p:nvPr/>
        </p:nvSpPr>
        <p:spPr>
          <a:xfrm>
            <a:off x="288351" y="2188627"/>
            <a:ext cx="71881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Choices: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6D77F6-40B0-0FE6-AB05-7B8872BEAC20}"/>
                  </a:ext>
                </a:extLst>
              </p:cNvPr>
              <p:cNvSpPr txBox="1"/>
              <p:nvPr/>
            </p:nvSpPr>
            <p:spPr>
              <a:xfrm>
                <a:off x="467194" y="2686170"/>
                <a:ext cx="11585464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Max-rate scheduler:  </a:t>
                </a:r>
                <a:r>
                  <a:rPr lang="en-US" sz="2000" dirty="0"/>
                  <a:t>Schedules user with best instantaneous channel quality. In 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user system, the scheduler serves user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i="1" dirty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at time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where</a:t>
                </a:r>
                <a:endParaRPr lang="en-IN" sz="2000" dirty="0"/>
              </a:p>
              <a:p>
                <a:endParaRPr lang="en-IN" sz="20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6D77F6-40B0-0FE6-AB05-7B8872BEA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94" y="2686170"/>
                <a:ext cx="11585464" cy="1015663"/>
              </a:xfrm>
              <a:prstGeom prst="rect">
                <a:avLst/>
              </a:prstGeom>
              <a:blipFill>
                <a:blip r:embed="rId3"/>
                <a:stretch>
                  <a:fillRect l="-579" t="-3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27899D3-A59D-6C2E-9ABF-86BB3887DB32}"/>
              </a:ext>
            </a:extLst>
          </p:cNvPr>
          <p:cNvSpPr txBox="1"/>
          <p:nvPr/>
        </p:nvSpPr>
        <p:spPr>
          <a:xfrm>
            <a:off x="467194" y="4024289"/>
            <a:ext cx="97039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Round Robin scheduler: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 the users one after the other, in a round-robin fashion</a:t>
            </a:r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E3C365-9431-2931-CEBC-604B5D7A2623}"/>
              </a:ext>
            </a:extLst>
          </p:cNvPr>
          <p:cNvGrpSpPr/>
          <p:nvPr/>
        </p:nvGrpSpPr>
        <p:grpSpPr>
          <a:xfrm>
            <a:off x="288352" y="4592744"/>
            <a:ext cx="7882709" cy="2090103"/>
            <a:chOff x="1146220" y="3951481"/>
            <a:chExt cx="7882709" cy="209010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74A21DD-5598-0552-6D0A-32D86C2C3C44}"/>
                </a:ext>
              </a:extLst>
            </p:cNvPr>
            <p:cNvGrpSpPr/>
            <p:nvPr/>
          </p:nvGrpSpPr>
          <p:grpSpPr>
            <a:xfrm>
              <a:off x="1152437" y="4902810"/>
              <a:ext cx="7876492" cy="400110"/>
              <a:chOff x="1363219" y="5056082"/>
              <a:chExt cx="7876492" cy="40011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06CA426-8DDE-D7F0-CFA0-740E481B7054}"/>
                  </a:ext>
                </a:extLst>
              </p:cNvPr>
              <p:cNvGrpSpPr/>
              <p:nvPr/>
            </p:nvGrpSpPr>
            <p:grpSpPr>
              <a:xfrm>
                <a:off x="1363219" y="5056082"/>
                <a:ext cx="3506192" cy="400110"/>
                <a:chOff x="1363219" y="5056082"/>
                <a:chExt cx="3506192" cy="400110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DA6BA21E-3A52-71B4-B421-34D64973728C}"/>
                    </a:ext>
                  </a:extLst>
                </p:cNvPr>
                <p:cNvGrpSpPr/>
                <p:nvPr/>
              </p:nvGrpSpPr>
              <p:grpSpPr>
                <a:xfrm>
                  <a:off x="1363219" y="5056082"/>
                  <a:ext cx="2629644" cy="400110"/>
                  <a:chOff x="1363219" y="5056082"/>
                  <a:chExt cx="2629644" cy="400110"/>
                </a:xfrm>
              </p:grpSpPr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270DE8E8-7B98-BA6C-120C-84078DBAAE6F}"/>
                      </a:ext>
                    </a:extLst>
                  </p:cNvPr>
                  <p:cNvSpPr/>
                  <p:nvPr/>
                </p:nvSpPr>
                <p:spPr>
                  <a:xfrm>
                    <a:off x="1363219" y="5056082"/>
                    <a:ext cx="876548" cy="400110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UE - 1</a:t>
                    </a:r>
                    <a:endParaRPr lang="en-I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DDE0FBAF-082F-1821-F891-AB8F59542BAB}"/>
                      </a:ext>
                    </a:extLst>
                  </p:cNvPr>
                  <p:cNvSpPr/>
                  <p:nvPr/>
                </p:nvSpPr>
                <p:spPr>
                  <a:xfrm>
                    <a:off x="2239767" y="5056082"/>
                    <a:ext cx="876548" cy="400110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UE - 2</a:t>
                    </a:r>
                    <a:endParaRPr lang="en-I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7BC96255-77EC-863B-584C-C9EFC9072162}"/>
                      </a:ext>
                    </a:extLst>
                  </p:cNvPr>
                  <p:cNvSpPr/>
                  <p:nvPr/>
                </p:nvSpPr>
                <p:spPr>
                  <a:xfrm>
                    <a:off x="3116315" y="5056082"/>
                    <a:ext cx="876548" cy="400110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UE - 3</a:t>
                    </a:r>
                    <a:endParaRPr lang="en-I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D80B6AD-F1AD-4726-1FE8-764C7893432E}"/>
                    </a:ext>
                  </a:extLst>
                </p:cNvPr>
                <p:cNvSpPr/>
                <p:nvPr/>
              </p:nvSpPr>
              <p:spPr>
                <a:xfrm>
                  <a:off x="3992863" y="5056082"/>
                  <a:ext cx="876548" cy="400110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UE - 4</a:t>
                  </a:r>
                  <a:endPara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049FAC5-A2F9-72E0-C941-E4BA4131AD49}"/>
                  </a:ext>
                </a:extLst>
              </p:cNvPr>
              <p:cNvGrpSpPr/>
              <p:nvPr/>
            </p:nvGrpSpPr>
            <p:grpSpPr>
              <a:xfrm>
                <a:off x="4869411" y="5056082"/>
                <a:ext cx="3506192" cy="400110"/>
                <a:chOff x="1363219" y="5056082"/>
                <a:chExt cx="3506192" cy="400110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B4D18380-CCCC-2C71-0976-58655ED93352}"/>
                    </a:ext>
                  </a:extLst>
                </p:cNvPr>
                <p:cNvGrpSpPr/>
                <p:nvPr/>
              </p:nvGrpSpPr>
              <p:grpSpPr>
                <a:xfrm>
                  <a:off x="1363219" y="5056082"/>
                  <a:ext cx="2629644" cy="400110"/>
                  <a:chOff x="1363219" y="5056082"/>
                  <a:chExt cx="2629644" cy="400110"/>
                </a:xfrm>
              </p:grpSpPr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71C9271D-971E-D18F-2BDB-10ACF5EB0FC4}"/>
                      </a:ext>
                    </a:extLst>
                  </p:cNvPr>
                  <p:cNvSpPr/>
                  <p:nvPr/>
                </p:nvSpPr>
                <p:spPr>
                  <a:xfrm>
                    <a:off x="1363219" y="5056082"/>
                    <a:ext cx="876548" cy="400110"/>
                  </a:xfrm>
                  <a:prstGeom prst="rect">
                    <a:avLst/>
                  </a:prstGeom>
                  <a:noFill/>
                  <a:ln>
                    <a:solidFill>
                      <a:schemeClr val="accent3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UE - 1</a:t>
                    </a:r>
                    <a:endParaRPr lang="en-I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0E045BF2-5E46-5D86-73D9-FBEA2B19652E}"/>
                      </a:ext>
                    </a:extLst>
                  </p:cNvPr>
                  <p:cNvSpPr/>
                  <p:nvPr/>
                </p:nvSpPr>
                <p:spPr>
                  <a:xfrm>
                    <a:off x="2239767" y="5056082"/>
                    <a:ext cx="876548" cy="400110"/>
                  </a:xfrm>
                  <a:prstGeom prst="rect">
                    <a:avLst/>
                  </a:prstGeom>
                  <a:noFill/>
                  <a:ln>
                    <a:solidFill>
                      <a:schemeClr val="accent3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UE - 2</a:t>
                    </a:r>
                    <a:endParaRPr lang="en-I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DB0B6648-B068-E694-1986-3735413BD98C}"/>
                      </a:ext>
                    </a:extLst>
                  </p:cNvPr>
                  <p:cNvSpPr/>
                  <p:nvPr/>
                </p:nvSpPr>
                <p:spPr>
                  <a:xfrm>
                    <a:off x="3116315" y="5056082"/>
                    <a:ext cx="876548" cy="400110"/>
                  </a:xfrm>
                  <a:prstGeom prst="rect">
                    <a:avLst/>
                  </a:prstGeom>
                  <a:noFill/>
                  <a:ln>
                    <a:solidFill>
                      <a:schemeClr val="accent3"/>
                    </a:solidFill>
                  </a:ln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UE - 3</a:t>
                    </a:r>
                    <a:endParaRPr lang="en-I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C4E7500E-AA18-265D-8535-D79385B73015}"/>
                    </a:ext>
                  </a:extLst>
                </p:cNvPr>
                <p:cNvSpPr/>
                <p:nvPr/>
              </p:nvSpPr>
              <p:spPr>
                <a:xfrm>
                  <a:off x="3992863" y="5056082"/>
                  <a:ext cx="876548" cy="400110"/>
                </a:xfrm>
                <a:prstGeom prst="rect">
                  <a:avLst/>
                </a:prstGeom>
                <a:noFill/>
                <a:ln>
                  <a:solidFill>
                    <a:schemeClr val="accent3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UE - 4</a:t>
                  </a:r>
                  <a:endPara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4175DB6-D57E-934C-2057-23CB7015C0D8}"/>
                  </a:ext>
                </a:extLst>
              </p:cNvPr>
              <p:cNvSpPr/>
              <p:nvPr/>
            </p:nvSpPr>
            <p:spPr>
              <a:xfrm>
                <a:off x="8363163" y="5056082"/>
                <a:ext cx="876548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….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AC2C1791-84E5-D43E-2902-8AB55EB2E4A3}"/>
                </a:ext>
              </a:extLst>
            </p:cNvPr>
            <p:cNvSpPr/>
            <p:nvPr/>
          </p:nvSpPr>
          <p:spPr>
            <a:xfrm rot="5400000">
              <a:off x="2224794" y="5119552"/>
              <a:ext cx="509811" cy="876547"/>
            </a:xfrm>
            <a:prstGeom prst="rightBrace">
              <a:avLst>
                <a:gd name="adj1" fmla="val 21775"/>
                <a:gd name="adj2" fmla="val 52199"/>
              </a:avLst>
            </a:prstGeom>
            <a:ln w="3175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0160579-4F42-8800-84D3-6F81C4534FD6}"/>
                </a:ext>
              </a:extLst>
            </p:cNvPr>
            <p:cNvSpPr txBox="1"/>
            <p:nvPr/>
          </p:nvSpPr>
          <p:spPr>
            <a:xfrm>
              <a:off x="1943384" y="5703030"/>
              <a:ext cx="1047750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time slot</a:t>
              </a:r>
              <a:endParaRPr lang="en-I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23994DEC-A2BD-25B3-04CD-FA11C81A6A61}"/>
                </a:ext>
              </a:extLst>
            </p:cNvPr>
            <p:cNvSpPr/>
            <p:nvPr/>
          </p:nvSpPr>
          <p:spPr>
            <a:xfrm rot="16200000">
              <a:off x="2647519" y="2855780"/>
              <a:ext cx="509811" cy="3512410"/>
            </a:xfrm>
            <a:prstGeom prst="rightBrace">
              <a:avLst>
                <a:gd name="adj1" fmla="val 21775"/>
                <a:gd name="adj2" fmla="val 52199"/>
              </a:avLst>
            </a:prstGeom>
            <a:ln w="31750">
              <a:solidFill>
                <a:schemeClr val="accent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E6C842-000A-43D5-CF79-DEEE3E0CEA0E}"/>
                </a:ext>
              </a:extLst>
            </p:cNvPr>
            <p:cNvSpPr txBox="1"/>
            <p:nvPr/>
          </p:nvSpPr>
          <p:spPr>
            <a:xfrm>
              <a:off x="2456298" y="3951481"/>
              <a:ext cx="1047750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Round: n</a:t>
              </a:r>
              <a:endParaRPr lang="en-I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ight Brace 40">
              <a:extLst>
                <a:ext uri="{FF2B5EF4-FFF2-40B4-BE49-F238E27FC236}">
                  <a16:creationId xmlns:a16="http://schemas.microsoft.com/office/drawing/2014/main" id="{B63985A1-CD3A-0B51-D699-EE9414FD634F}"/>
                </a:ext>
              </a:extLst>
            </p:cNvPr>
            <p:cNvSpPr/>
            <p:nvPr/>
          </p:nvSpPr>
          <p:spPr>
            <a:xfrm rot="16200000">
              <a:off x="6159929" y="2836881"/>
              <a:ext cx="509811" cy="3512410"/>
            </a:xfrm>
            <a:prstGeom prst="rightBrace">
              <a:avLst>
                <a:gd name="adj1" fmla="val 21775"/>
                <a:gd name="adj2" fmla="val 52199"/>
              </a:avLst>
            </a:prstGeom>
            <a:ln w="31750">
              <a:solidFill>
                <a:schemeClr val="accent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F131AFC-64F9-68D1-AE0B-4E798A3B0F8A}"/>
                </a:ext>
              </a:extLst>
            </p:cNvPr>
            <p:cNvSpPr txBox="1"/>
            <p:nvPr/>
          </p:nvSpPr>
          <p:spPr>
            <a:xfrm>
              <a:off x="5863384" y="3967378"/>
              <a:ext cx="1314822" cy="338554"/>
            </a:xfrm>
            <a:prstGeom prst="rect">
              <a:avLst/>
            </a:prstGeom>
            <a:solidFill>
              <a:schemeClr val="accent3">
                <a:lumMod val="10000"/>
                <a:lumOff val="90000"/>
              </a:schemeClr>
            </a:solidFill>
            <a:ln w="19050">
              <a:solidFill>
                <a:schemeClr val="accent3"/>
              </a:solidFill>
              <a:prstDash val="dashDot"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Round: n +1</a:t>
              </a:r>
              <a:endParaRPr lang="en-I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9A31C05-13FD-1419-4143-1977D694C740}"/>
              </a:ext>
            </a:extLst>
          </p:cNvPr>
          <p:cNvSpPr txBox="1"/>
          <p:nvPr/>
        </p:nvSpPr>
        <p:spPr>
          <a:xfrm>
            <a:off x="8679674" y="4879857"/>
            <a:ext cx="29055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of RR scheduling, in a system with 4 users.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Cloud 44">
            <a:extLst>
              <a:ext uri="{FF2B5EF4-FFF2-40B4-BE49-F238E27FC236}">
                <a16:creationId xmlns:a16="http://schemas.microsoft.com/office/drawing/2014/main" id="{F0F4293F-A3C0-4607-C6AB-556708A47101}"/>
              </a:ext>
            </a:extLst>
          </p:cNvPr>
          <p:cNvSpPr/>
          <p:nvPr/>
        </p:nvSpPr>
        <p:spPr>
          <a:xfrm>
            <a:off x="8256333" y="4632610"/>
            <a:ext cx="3606800" cy="1015661"/>
          </a:xfrm>
          <a:prstGeom prst="cloud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CEE476-BED2-654A-29A2-DF050159E2F5}"/>
              </a:ext>
            </a:extLst>
          </p:cNvPr>
          <p:cNvGrpSpPr/>
          <p:nvPr/>
        </p:nvGrpSpPr>
        <p:grpSpPr>
          <a:xfrm>
            <a:off x="2245160" y="3302749"/>
            <a:ext cx="9574664" cy="666722"/>
            <a:chOff x="2150142" y="2817067"/>
            <a:chExt cx="9574664" cy="6667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0BD47E1-C6EE-7FE3-0243-0557F5865016}"/>
                    </a:ext>
                  </a:extLst>
                </p:cNvPr>
                <p:cNvSpPr txBox="1"/>
                <p:nvPr/>
              </p:nvSpPr>
              <p:spPr>
                <a:xfrm>
                  <a:off x="2150142" y="2948514"/>
                  <a:ext cx="6154220" cy="5352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I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00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IN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IN" sz="20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2000" i="0" dirty="0" err="1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IN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unc>
                                  <m:funcPr>
                                    <m:ctrlPr>
                                      <a:rPr lang="en-IN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IN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000" i="0" dirty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en-IN" sz="2000" i="1" dirty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IN" sz="2000" i="1" dirty="0" smtClean="0">
                                            <a:latin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IN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</m:d>
                                      </m:lim>
                                    </m:limLow>
                                  </m:fName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IN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2000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2000" i="1" dirty="0" err="1" smtClean="0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n-IN" sz="2000" i="1" dirty="0" err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IN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  <m:sup>
                                <m:r>
                                  <a:rPr lang="en-IN" sz="20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0BD47E1-C6EE-7FE3-0243-0557F5865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0142" y="2948514"/>
                  <a:ext cx="6154220" cy="5352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7CBB67-9C49-9959-5104-393B26CAAEA9}"/>
                </a:ext>
              </a:extLst>
            </p:cNvPr>
            <p:cNvSpPr txBox="1"/>
            <p:nvPr/>
          </p:nvSpPr>
          <p:spPr>
            <a:xfrm>
              <a:off x="7416706" y="2817067"/>
              <a:ext cx="4308100" cy="6463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total throughput of the system increases.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But user fairness?</a:t>
              </a:r>
              <a:endPara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546C3DB9-07B5-933B-3ADA-1CD4AE613DAE}"/>
                </a:ext>
              </a:extLst>
            </p:cNvPr>
            <p:cNvSpPr/>
            <p:nvPr/>
          </p:nvSpPr>
          <p:spPr>
            <a:xfrm>
              <a:off x="6875650" y="3000530"/>
              <a:ext cx="421806" cy="296333"/>
            </a:xfrm>
            <a:prstGeom prst="rightArrow">
              <a:avLst/>
            </a:prstGeom>
            <a:solidFill>
              <a:srgbClr val="B71E4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981783-A2FE-E8CF-1338-DC76C8A68D75}"/>
              </a:ext>
            </a:extLst>
          </p:cNvPr>
          <p:cNvSpPr/>
          <p:nvPr/>
        </p:nvSpPr>
        <p:spPr>
          <a:xfrm>
            <a:off x="165305" y="1060894"/>
            <a:ext cx="11585465" cy="105133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Opportunistic multi-user communication (MU-OC):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transmission strategy that exploits </a:t>
            </a:r>
            <a:r>
              <a:rPr lang="en-US" b="1" dirty="0">
                <a:solidFill>
                  <a:srgbClr val="FF3399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multi-user diversity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 which the user(s) with the </a:t>
            </a:r>
            <a:r>
              <a:rPr lang="en-US" b="1" dirty="0" err="1">
                <a:solidFill>
                  <a:srgbClr val="00B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favourable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instantaneous channel conditions are scheduled for transmission in each time slot</a:t>
            </a:r>
            <a:endParaRPr lang="en-IN" dirty="0">
              <a:solidFill>
                <a:schemeClr val="tx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492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11DAA9-A39E-23DE-8A1E-207CA9B3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4B98A-30A9-EF95-88A8-B38775804692}"/>
              </a:ext>
            </a:extLst>
          </p:cNvPr>
          <p:cNvSpPr txBox="1"/>
          <p:nvPr/>
        </p:nvSpPr>
        <p:spPr>
          <a:xfrm>
            <a:off x="96253" y="150365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PF Scheduler Interpretation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A2B62F-3866-FF5E-7958-21611B26833C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B338A2-D005-0917-AA84-1887FC8B7D71}"/>
                  </a:ext>
                </a:extLst>
              </p:cNvPr>
              <p:cNvSpPr txBox="1"/>
              <p:nvPr/>
            </p:nvSpPr>
            <p:spPr>
              <a:xfrm>
                <a:off x="0" y="880977"/>
                <a:ext cx="1074179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3.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Proportional Fair scheduler: </a:t>
                </a:r>
                <a:r>
                  <a:rPr lang="en-US" dirty="0"/>
                  <a:t>In a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user system, the scheduler serves user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at time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endParaRPr lang="en-IN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B338A2-D005-0917-AA84-1887FC8B7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80977"/>
                <a:ext cx="10741794" cy="400110"/>
              </a:xfrm>
              <a:prstGeom prst="rect">
                <a:avLst/>
              </a:prstGeom>
              <a:blipFill>
                <a:blip r:embed="rId3"/>
                <a:stretch>
                  <a:fillRect l="-454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3D5FD9-840D-BDF5-EFA3-32E78F99BA95}"/>
                  </a:ext>
                </a:extLst>
              </p:cNvPr>
              <p:cNvSpPr txBox="1"/>
              <p:nvPr/>
            </p:nvSpPr>
            <p:spPr>
              <a:xfrm>
                <a:off x="721553" y="1384033"/>
                <a:ext cx="2416751" cy="519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e>
                        <m:sup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US" sz="16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∈</m:t>
                                  </m:r>
                                  <m:r>
                                    <m:rPr>
                                      <m:lit/>
                                    </m:r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{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1,2,…,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𝐊</m:t>
                                  </m:r>
                                  <m:r>
                                    <m:rPr>
                                      <m:lit/>
                                    </m:r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}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3D5FD9-840D-BDF5-EFA3-32E78F99B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53" y="1384033"/>
                <a:ext cx="2416751" cy="519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31CBD1-4666-F351-B4ED-5DFE3CD24C02}"/>
                  </a:ext>
                </a:extLst>
              </p:cNvPr>
              <p:cNvSpPr txBox="1"/>
              <p:nvPr/>
            </p:nvSpPr>
            <p:spPr>
              <a:xfrm>
                <a:off x="4420406" y="1291639"/>
                <a:ext cx="3185231" cy="728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en-I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IN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16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0" lang="en-IN" sz="16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kumimoji="0" lang="en-IN" sz="1600" b="0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IN" sz="1600" b="0" i="1" u="none" strike="noStrike" kern="1200" cap="none" spc="0" normalizeH="0" baseline="0" noProof="0" dirty="0" err="1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IN" sz="1600" b="0" i="1" u="none" strike="noStrike" kern="1200" cap="none" spc="0" normalizeH="0" baseline="0" noProof="0" dirty="0" err="1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kumimoji="0" lang="en-IN" sz="1600" b="0" i="1" u="none" strike="noStrike" kern="1200" cap="none" spc="0" normalizeH="0" baseline="0" noProof="0" dirty="0" err="1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kumimoji="0" lang="en-IN" sz="1600" b="0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IN" sz="1600" b="0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kumimoji="0" lang="en-IN" sz="16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kumimoji="0" lang="en-IN" sz="16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en-IN" sz="1600" b="0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IN" sz="1600" b="0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𝑃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kumimoji="0" lang="en-IN" sz="1600" b="0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IN" sz="1600" b="0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kumimoji="0" lang="en-IN" sz="1600" b="0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31CBD1-4666-F351-B4ED-5DFE3CD24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406" y="1291639"/>
                <a:ext cx="3185231" cy="7287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20639DE-00C5-A01D-466C-2B3D89013DA8}"/>
              </a:ext>
            </a:extLst>
          </p:cNvPr>
          <p:cNvSpPr txBox="1"/>
          <p:nvPr/>
        </p:nvSpPr>
        <p:spPr>
          <a:xfrm>
            <a:off x="3619099" y="1475864"/>
            <a:ext cx="885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C1296-80B6-A9C6-A354-647CDABD559D}"/>
              </a:ext>
            </a:extLst>
          </p:cNvPr>
          <p:cNvSpPr txBox="1"/>
          <p:nvPr/>
        </p:nvSpPr>
        <p:spPr>
          <a:xfrm>
            <a:off x="7627298" y="1500242"/>
            <a:ext cx="779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99E63D-89FF-654E-F6B3-7B2707A0B9BC}"/>
                  </a:ext>
                </a:extLst>
              </p:cNvPr>
              <p:cNvSpPr txBox="1"/>
              <p:nvPr/>
            </p:nvSpPr>
            <p:spPr>
              <a:xfrm>
                <a:off x="495598" y="2104954"/>
                <a:ext cx="4254366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IN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</m:t>
                          </m:r>
                        </m:e>
                      </m:d>
                      <m:r>
                        <a:rPr kumimoji="0" lang="en-IN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f>
                            <m:fPr>
                              <m:ctrlP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16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kumimoji="0" lang="en-US" sz="16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kumimoji="0" lang="en-IN" sz="16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6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IN" sz="16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IN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kumimoji="0" lang="en-IN" sz="16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6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en-IN" sz="1600" b="0" i="1" u="none" strike="noStrike" kern="1200" cap="none" spc="0" normalizeH="0" baseline="0" noProof="0" dirty="0" err="1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e>
                        <m:sub>
                          <m:r>
                            <m:rPr>
                              <m:lit/>
                            </m:r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{</m:t>
                          </m:r>
                          <m: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𝐤</m:t>
                          </m:r>
                          <m: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sSup>
                            <m:sSupPr>
                              <m:ctrlP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𝐤</m:t>
                              </m:r>
                            </m:e>
                            <m:sup>
                              <m: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6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𝐭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kumimoji="0" lang="en-IN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}</m:t>
                          </m:r>
                        </m:sub>
                      </m:sSub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99E63D-89FF-654E-F6B3-7B2707A0B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98" y="2104954"/>
                <a:ext cx="4254366" cy="6455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87DA7C-4FF5-EF19-1090-2B17DC251F63}"/>
                  </a:ext>
                </a:extLst>
              </p:cNvPr>
              <p:cNvSpPr txBox="1"/>
              <p:nvPr/>
            </p:nvSpPr>
            <p:spPr>
              <a:xfrm>
                <a:off x="8303881" y="1531020"/>
                <a:ext cx="22433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averaging window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87DA7C-4FF5-EF19-1090-2B17DC251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3881" y="1531020"/>
                <a:ext cx="2243324" cy="338554"/>
              </a:xfrm>
              <a:prstGeom prst="rect">
                <a:avLst/>
              </a:prstGeom>
              <a:blipFill>
                <a:blip r:embed="rId7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B31BB8-F6C1-7C02-3E25-C48EF56481DB}"/>
                  </a:ext>
                </a:extLst>
              </p:cNvPr>
              <p:cNvSpPr txBox="1"/>
              <p:nvPr/>
            </p:nvSpPr>
            <p:spPr>
              <a:xfrm>
                <a:off x="139424" y="3225238"/>
                <a:ext cx="5164170" cy="744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∗ </m:t>
                      </m:r>
                      <m:sSub>
                        <m:sSubPr>
                          <m:ctrlPr>
                            <a:rPr lang="en-IN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 − 1</m:t>
                              </m:r>
                            </m:e>
                          </m:d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sSup>
                                <m:s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  <m:r>
                        <a:rPr lang="en-IN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dirty="0"/>
              </a:p>
              <a:p>
                <a:pPr algn="ctr"/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I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𝐶𝑁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B31BB8-F6C1-7C02-3E25-C48EF5648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24" y="3225238"/>
                <a:ext cx="5164170" cy="7446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B27281-0527-5BBA-F3FA-6E97346F355B}"/>
                  </a:ext>
                </a:extLst>
              </p:cNvPr>
              <p:cNvSpPr txBox="1"/>
              <p:nvPr/>
            </p:nvSpPr>
            <p:spPr>
              <a:xfrm>
                <a:off x="40567" y="4430027"/>
                <a:ext cx="61444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hugely impacts the performance:</a:t>
                </a:r>
              </a:p>
              <a:p>
                <a:pPr marL="800100" lvl="1" indent="-342900" algn="just">
                  <a:buFont typeface="Wingdings" panose="05000000000000000000" pitchFamily="2" charset="2"/>
                  <a:buChar char="q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dirty="0">
                    <a:solidFill>
                      <a:srgbClr val="FF33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Highly fair across Users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less importance to rate!</a:t>
                </a:r>
              </a:p>
              <a:p>
                <a:pPr marL="800100" lvl="1" indent="-342900">
                  <a:buFont typeface="Wingdings" panose="05000000000000000000" pitchFamily="2" charset="2"/>
                  <a:buChar char="q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 the user with the highest instantaneous rate, ensuring fairness only in a long-term sense.</a:t>
                </a:r>
                <a:endParaRPr lang="en-US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Fast-Fading system (α ≈ 0), the performance is better compared to slow fading (α ≈ 1)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B27281-0527-5BBA-F3FA-6E97346F3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7" y="4430027"/>
                <a:ext cx="6144476" cy="2308324"/>
              </a:xfrm>
              <a:prstGeom prst="rect">
                <a:avLst/>
              </a:prstGeom>
              <a:blipFill>
                <a:blip r:embed="rId9"/>
                <a:stretch>
                  <a:fillRect l="-694" t="-1587" r="-1190" b="-3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58C8A04-BD3C-F983-1AE8-8E37498D5626}"/>
              </a:ext>
            </a:extLst>
          </p:cNvPr>
          <p:cNvSpPr txBox="1"/>
          <p:nvPr/>
        </p:nvSpPr>
        <p:spPr>
          <a:xfrm>
            <a:off x="0" y="2921352"/>
            <a:ext cx="1843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67FAA2-FAE0-57E8-8A12-99E3154BB01D}"/>
              </a:ext>
            </a:extLst>
          </p:cNvPr>
          <p:cNvSpPr txBox="1"/>
          <p:nvPr/>
        </p:nvSpPr>
        <p:spPr>
          <a:xfrm>
            <a:off x="0" y="4025708"/>
            <a:ext cx="6261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Remarks: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BD07DA-0C12-FA51-A83E-1481C15322DC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6316684" y="2316430"/>
            <a:ext cx="5623560" cy="422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0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4C82F8-87D0-3094-3900-D6A739CD6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31352F5-6305-776E-E4C7-E894F4E477FD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7">
            <a:extLst>
              <a:ext uri="{FF2B5EF4-FFF2-40B4-BE49-F238E27FC236}">
                <a16:creationId xmlns:a16="http://schemas.microsoft.com/office/drawing/2014/main" id="{BEB8975F-78B3-B2E7-BA3E-A513E2D5E73E}"/>
              </a:ext>
            </a:extLst>
          </p:cNvPr>
          <p:cNvSpPr txBox="1"/>
          <p:nvPr/>
        </p:nvSpPr>
        <p:spPr>
          <a:xfrm>
            <a:off x="96253" y="112377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Intelligent reflecting surfaces (IRS)</a:t>
            </a:r>
            <a:endParaRPr lang="en-IN" sz="36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DF099F-BDD7-5D48-27D1-5A78BB89FDBF}"/>
                  </a:ext>
                </a:extLst>
              </p:cNvPr>
              <p:cNvSpPr txBox="1"/>
              <p:nvPr/>
            </p:nvSpPr>
            <p:spPr>
              <a:xfrm>
                <a:off x="2786476" y="4691451"/>
                <a:ext cx="3716957" cy="465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rad>
                      <m:sSup>
                        <m:sSup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p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𝑯</m:t>
                          </m:r>
                        </m:sup>
                      </m:sSup>
                      <m:d>
                        <m:d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IN" sz="2000" i="1" dirty="0" err="1">
                              <a:latin typeface="Cambria Math" panose="02040503050406030204" pitchFamily="18" charset="0"/>
                            </a:rPr>
                            <m:t>𝐜</m:t>
                          </m:r>
                          <m:r>
                            <a:rPr lang="en-IN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i="1" dirty="0" err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DF099F-BDD7-5D48-27D1-5A78BB89F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476" y="4691451"/>
                <a:ext cx="3716957" cy="465064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7564932-72D8-CBFD-9BBC-686734C18D5C}"/>
              </a:ext>
            </a:extLst>
          </p:cNvPr>
          <p:cNvSpPr txBox="1"/>
          <p:nvPr/>
        </p:nvSpPr>
        <p:spPr>
          <a:xfrm>
            <a:off x="3037301" y="5306073"/>
            <a:ext cx="1004760" cy="369332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Path loss</a:t>
            </a:r>
            <a:endParaRPr lang="en-IN" dirty="0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16C5D6BC-C75F-A083-8709-72D0A29E8D8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4042061" y="5156516"/>
            <a:ext cx="420402" cy="334223"/>
          </a:xfrm>
          <a:prstGeom prst="curvedConnector3">
            <a:avLst>
              <a:gd name="adj1" fmla="val 97579"/>
            </a:avLst>
          </a:prstGeom>
          <a:ln w="317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7F6A45-D8DF-B511-547E-F87221309896}"/>
                  </a:ext>
                </a:extLst>
              </p:cNvPr>
              <p:cNvSpPr txBox="1"/>
              <p:nvPr/>
            </p:nvSpPr>
            <p:spPr>
              <a:xfrm>
                <a:off x="6172200" y="4763456"/>
                <a:ext cx="4082865" cy="464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p>
                                <m:sSup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7F6A45-D8DF-B511-547E-F87221309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763456"/>
                <a:ext cx="4082865" cy="464999"/>
              </a:xfrm>
              <a:prstGeom prst="rect">
                <a:avLst/>
              </a:prstGeom>
              <a:blipFill>
                <a:blip r:embed="rId7"/>
                <a:stretch>
                  <a:fillRect b="-77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A318F9-3ADB-B520-1E7C-73992E6C528D}"/>
                  </a:ext>
                </a:extLst>
              </p:cNvPr>
              <p:cNvSpPr txBox="1"/>
              <p:nvPr/>
            </p:nvSpPr>
            <p:spPr>
              <a:xfrm>
                <a:off x="6096000" y="5334147"/>
                <a:ext cx="2228249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𝐜</m:t>
                          </m:r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A318F9-3ADB-B520-1E7C-73992E6C5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34147"/>
                <a:ext cx="2228249" cy="381515"/>
              </a:xfrm>
              <a:prstGeom prst="rect">
                <a:avLst/>
              </a:prstGeom>
              <a:blipFill>
                <a:blip r:embed="rId8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8752773-5BED-1F3A-84A7-B2B79FC54F43}"/>
                  </a:ext>
                </a:extLst>
              </p:cNvPr>
              <p:cNvSpPr/>
              <p:nvPr/>
            </p:nvSpPr>
            <p:spPr>
              <a:xfrm>
                <a:off x="5415516" y="6037174"/>
                <a:ext cx="6689875" cy="465016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sSub>
                      <m:sSubPr>
                        <m:ctrlP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mostly a strong LOS path between base station and IRS 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8752773-5BED-1F3A-84A7-B2B79FC54F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516" y="6037174"/>
                <a:ext cx="6689875" cy="465016"/>
              </a:xfrm>
              <a:prstGeom prst="roundRect">
                <a:avLst/>
              </a:prstGeom>
              <a:blipFill>
                <a:blip r:embed="rId9"/>
                <a:stretch>
                  <a:fillRect l="-364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F0E7A447-66CB-3F96-028E-9F22CBDE00CD}"/>
              </a:ext>
            </a:extLst>
          </p:cNvPr>
          <p:cNvGrpSpPr/>
          <p:nvPr/>
        </p:nvGrpSpPr>
        <p:grpSpPr>
          <a:xfrm>
            <a:off x="96253" y="5685057"/>
            <a:ext cx="6262576" cy="908061"/>
            <a:chOff x="96253" y="5685057"/>
            <a:chExt cx="6262576" cy="9080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720DB50-0FB8-C948-0DB6-BADA9FBE1239}"/>
                    </a:ext>
                  </a:extLst>
                </p:cNvPr>
                <p:cNvSpPr txBox="1"/>
                <p:nvPr/>
              </p:nvSpPr>
              <p:spPr>
                <a:xfrm>
                  <a:off x="745043" y="6165372"/>
                  <a:ext cx="4082865" cy="4277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dirty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IN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sSup>
                          <m:sSup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p>
                        </m:sSup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𝐜</m:t>
                            </m:r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  <m:sSub>
                          <m:sSubPr>
                            <m:ctrlPr>
                              <a:rPr lang="en-I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720DB50-0FB8-C948-0DB6-BADA9FBE1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043" y="6165372"/>
                  <a:ext cx="4082865" cy="427746"/>
                </a:xfrm>
                <a:prstGeom prst="rect">
                  <a:avLst/>
                </a:prstGeom>
                <a:blipFill>
                  <a:blip r:embed="rId10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3CD3093-A277-80A9-701B-876A2BD2EB2E}"/>
                    </a:ext>
                  </a:extLst>
                </p:cNvPr>
                <p:cNvSpPr txBox="1"/>
                <p:nvPr/>
              </p:nvSpPr>
              <p:spPr>
                <a:xfrm>
                  <a:off x="96253" y="5685057"/>
                  <a:ext cx="6262576" cy="4580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54965" indent="-342900">
                    <a:lnSpc>
                      <a:spcPct val="150000"/>
                    </a:lnSpc>
                    <a:spcBef>
                      <a:spcPts val="1425"/>
                    </a:spcBef>
                    <a:buFont typeface="Wingdings" pitchFamily="2" charset="2"/>
                    <a:buChar char="Ø"/>
                    <a:tabLst>
                      <a:tab pos="193040" algn="l"/>
                    </a:tabLst>
                  </a:pP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Received signal</a:t>
                  </a:r>
                  <a:r>
                    <a:rPr lang="en-US"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at UE </a:t>
                  </a:r>
                  <a14:m>
                    <m:oMath xmlns:m="http://schemas.openxmlformats.org/officeDocument/2006/math">
                      <m:r>
                        <a:rPr lang="en-US" sz="1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– 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</m:oMath>
                  </a14:m>
                  <a:r>
                    <a:rPr lang="en-US" sz="1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: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3CD3093-A277-80A9-701B-876A2BD2EB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53" y="5685057"/>
                  <a:ext cx="6262576" cy="458074"/>
                </a:xfrm>
                <a:prstGeom prst="rect">
                  <a:avLst/>
                </a:prstGeom>
                <a:blipFill>
                  <a:blip r:embed="rId11"/>
                  <a:stretch>
                    <a:fillRect l="-487" b="-21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71C4476-6C91-AE00-88F4-C71B8C95C0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038" y="1109618"/>
            <a:ext cx="5591406" cy="3265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E33BD2D6-116D-8A7D-CCEC-4EC7009863B4}"/>
                  </a:ext>
                </a:extLst>
              </p:cNvPr>
              <p:cNvSpPr txBox="1"/>
              <p:nvPr/>
            </p:nvSpPr>
            <p:spPr>
              <a:xfrm>
                <a:off x="152400" y="77282"/>
                <a:ext cx="12039600" cy="4397807"/>
              </a:xfrm>
              <a:prstGeom prst="rect">
                <a:avLst/>
              </a:prstGeom>
            </p:spPr>
            <p:txBody>
              <a:bodyPr vert="horz" wrap="square" lIns="0" tIns="180975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54965" indent="-342900">
                  <a:lnSpc>
                    <a:spcPct val="150000"/>
                  </a:lnSpc>
                  <a:spcBef>
                    <a:spcPts val="1425"/>
                  </a:spcBef>
                  <a:buFont typeface="Wingdings" pitchFamily="2" charset="2"/>
                  <a:buChar char="Ø"/>
                  <a:tabLst>
                    <a:tab pos="193040" algn="l"/>
                  </a:tabLst>
                </a:pP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 known as </a:t>
                </a:r>
                <a:r>
                  <a:rPr lang="en-US" sz="2000" spc="-5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reconfigurable intelligent surfaces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(RIS)</a:t>
                </a:r>
              </a:p>
              <a:p>
                <a:pPr marL="354965" indent="-342900">
                  <a:lnSpc>
                    <a:spcPct val="150000"/>
                  </a:lnSpc>
                  <a:spcBef>
                    <a:spcPts val="1425"/>
                  </a:spcBef>
                  <a:buFont typeface="Wingdings" pitchFamily="2" charset="2"/>
                  <a:buChar char="Ø"/>
                  <a:tabLst>
                    <a:tab pos="193040" algn="l"/>
                  </a:tabLst>
                </a:pPr>
                <a:r>
                  <a:rPr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Meta</a:t>
                </a:r>
                <a:r>
                  <a:rPr lang="en-IN" sz="2000" spc="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surfaces</a:t>
                </a:r>
                <a:r>
                  <a:rPr sz="2000" spc="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made up of</a:t>
                </a:r>
                <a:r>
                  <a:rPr sz="2000" spc="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passive</a:t>
                </a:r>
                <a:r>
                  <a:rPr sz="2000" spc="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elements</a:t>
                </a:r>
                <a:endParaRPr lang="en-US" sz="2000" spc="-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1360" lvl="1" indent="-352425">
                  <a:lnSpc>
                    <a:spcPct val="150000"/>
                  </a:lnSpc>
                  <a:spcBef>
                    <a:spcPts val="1325"/>
                  </a:spcBef>
                  <a:buClr>
                    <a:srgbClr val="000000"/>
                  </a:buClr>
                  <a:buFont typeface="Wingdings" pitchFamily="2" charset="2"/>
                  <a:buChar char="ü"/>
                  <a:tabLst>
                    <a:tab pos="721360" algn="l"/>
                  </a:tabLst>
                </a:pPr>
                <a:r>
                  <a:rPr lang="en-US" sz="2000" spc="-1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</a:t>
                </a:r>
                <a:r>
                  <a:rPr lang="en-US" sz="2000" spc="20" dirty="0">
                    <a:solidFill>
                      <a:srgbClr val="FF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signals</a:t>
                </a:r>
                <a:r>
                  <a:rPr lang="en-US" sz="2000" spc="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sz="2000" spc="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required</a:t>
                </a:r>
                <a:r>
                  <a:rPr lang="en-US" sz="2000" spc="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directions</a:t>
                </a:r>
              </a:p>
              <a:p>
                <a:pPr marL="721360" lvl="1" indent="-352425">
                  <a:lnSpc>
                    <a:spcPct val="150000"/>
                  </a:lnSpc>
                  <a:spcBef>
                    <a:spcPts val="1325"/>
                  </a:spcBef>
                  <a:buClr>
                    <a:srgbClr val="000000"/>
                  </a:buClr>
                  <a:buFont typeface="Wingdings" pitchFamily="2" charset="2"/>
                  <a:buChar char="ü"/>
                  <a:tabLst>
                    <a:tab pos="721360" algn="l"/>
                  </a:tabLst>
                </a:pPr>
                <a:r>
                  <a:rPr lang="en-US" sz="2000" spc="-1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Alters</a:t>
                </a:r>
                <a:r>
                  <a:rPr lang="en-US" sz="2000" spc="35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spc="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wireless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</a:t>
                </a:r>
              </a:p>
              <a:p>
                <a:pPr marL="264160" indent="-352425">
                  <a:lnSpc>
                    <a:spcPct val="150000"/>
                  </a:lnSpc>
                  <a:spcBef>
                    <a:spcPts val="1325"/>
                  </a:spcBef>
                  <a:buClr>
                    <a:srgbClr val="000000"/>
                  </a:buClr>
                  <a:buFont typeface="Wingdings" panose="05000000000000000000" pitchFamily="2" charset="2"/>
                  <a:buChar char="Ø"/>
                  <a:tabLst>
                    <a:tab pos="721360" algn="l"/>
                  </a:tabLst>
                </a:pPr>
                <a:r>
                  <a:rPr lang="en-US" sz="2000" u="sng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Perks: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Boosts</a:t>
                </a:r>
                <a:r>
                  <a:rPr lang="en-US" sz="2000" spc="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SNR/</a:t>
                </a:r>
                <a:r>
                  <a:rPr lang="en-US" sz="2000" spc="-1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SINR, </a:t>
                </a:r>
                <a:r>
                  <a:rPr lang="en-US" sz="2000" spc="-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en-US" sz="2000" spc="-1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efficiency</a:t>
                </a:r>
                <a:r>
                  <a:rPr 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spc="-1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coverage</a:t>
                </a:r>
                <a:r>
                  <a:rPr lang="en-US" sz="2000" spc="-5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etc.</a:t>
                </a:r>
              </a:p>
              <a:p>
                <a:pPr marL="354965" indent="-342900">
                  <a:lnSpc>
                    <a:spcPct val="150000"/>
                  </a:lnSpc>
                  <a:spcBef>
                    <a:spcPts val="1425"/>
                  </a:spcBef>
                  <a:buFont typeface="Wingdings" pitchFamily="2" charset="2"/>
                  <a:buChar char="Ø"/>
                  <a:tabLst>
                    <a:tab pos="193040" algn="l"/>
                  </a:tabLs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Controls the channel by modifying the reflection coefficients at the IRS</a:t>
                </a:r>
                <a:endParaRPr lang="en-US" sz="2000" dirty="0"/>
              </a:p>
              <a:p>
                <a:pPr marL="354965" indent="-342900">
                  <a:lnSpc>
                    <a:spcPct val="150000"/>
                  </a:lnSpc>
                  <a:spcBef>
                    <a:spcPts val="1425"/>
                  </a:spcBef>
                  <a:buFont typeface="Wingdings" pitchFamily="2" charset="2"/>
                  <a:buChar char="Ø"/>
                  <a:tabLst>
                    <a:tab pos="193040" algn="l"/>
                  </a:tabLs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Effective channel at UE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–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E33BD2D6-116D-8A7D-CCEC-4EC700986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7282"/>
                <a:ext cx="12039600" cy="4397807"/>
              </a:xfrm>
              <a:prstGeom prst="rect">
                <a:avLst/>
              </a:prstGeom>
              <a:blipFill>
                <a:blip r:embed="rId13"/>
                <a:stretch>
                  <a:fillRect l="-1215" b="-26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880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E32ED1-BEF0-79BF-0F04-BDDEA541EC58}"/>
              </a:ext>
            </a:extLst>
          </p:cNvPr>
          <p:cNvSpPr txBox="1"/>
          <p:nvPr/>
        </p:nvSpPr>
        <p:spPr>
          <a:xfrm>
            <a:off x="96253" y="150366"/>
            <a:ext cx="706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Benchmark and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3-Fold Overheads</a:t>
            </a:r>
            <a:endParaRPr lang="en-IN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6F51CD-D0B1-C177-6C68-EE90CAB1BB19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97B346-3892-DD9B-2702-F1FCC74124B5}"/>
              </a:ext>
            </a:extLst>
          </p:cNvPr>
          <p:cNvGrpSpPr/>
          <p:nvPr/>
        </p:nvGrpSpPr>
        <p:grpSpPr>
          <a:xfrm>
            <a:off x="5912472" y="5633882"/>
            <a:ext cx="6282736" cy="769269"/>
            <a:chOff x="750771" y="2938960"/>
            <a:chExt cx="5479560" cy="894938"/>
          </a:xfrm>
          <a:effectLst>
            <a:glow rad="228600">
              <a:schemeClr val="accent4">
                <a:satMod val="175000"/>
                <a:alpha val="40000"/>
              </a:schemeClr>
            </a:glow>
          </a:effectLst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1BFB9997-1F73-8AD2-58D2-8A61BB86680E}"/>
                </a:ext>
              </a:extLst>
            </p:cNvPr>
            <p:cNvSpPr/>
            <p:nvPr/>
          </p:nvSpPr>
          <p:spPr>
            <a:xfrm>
              <a:off x="750771" y="2981100"/>
              <a:ext cx="5059156" cy="852798"/>
            </a:xfrm>
            <a:prstGeom prst="roundRect">
              <a:avLst/>
            </a:prstGeom>
            <a:solidFill>
              <a:srgbClr val="FFFFCC"/>
            </a:solidFill>
            <a:ln>
              <a:solidFill>
                <a:srgbClr val="00B05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5D2B26F-D954-CC89-6B76-05B6DA804BCA}"/>
                </a:ext>
              </a:extLst>
            </p:cNvPr>
            <p:cNvSpPr/>
            <p:nvPr/>
          </p:nvSpPr>
          <p:spPr>
            <a:xfrm>
              <a:off x="750771" y="2938960"/>
              <a:ext cx="5057022" cy="465473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rPr>
                <a:t>Solution </a:t>
              </a: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7CFEE6-9005-F3A7-A802-30BC2500EAE2}"/>
                </a:ext>
              </a:extLst>
            </p:cNvPr>
            <p:cNvSpPr txBox="1"/>
            <p:nvPr/>
          </p:nvSpPr>
          <p:spPr>
            <a:xfrm>
              <a:off x="750771" y="3322953"/>
              <a:ext cx="5479560" cy="465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Randomized RIS + Opportunistic Communications</a:t>
              </a:r>
              <a:endPara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073E970-56B2-3E8E-7736-D9B54EF48492}"/>
              </a:ext>
            </a:extLst>
          </p:cNvPr>
          <p:cNvGrpSpPr/>
          <p:nvPr/>
        </p:nvGrpSpPr>
        <p:grpSpPr>
          <a:xfrm>
            <a:off x="264171" y="5121961"/>
            <a:ext cx="5097101" cy="1585673"/>
            <a:chOff x="264171" y="5121961"/>
            <a:chExt cx="5097101" cy="158567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B43BD0D-8BAF-29D7-07A1-198F857D9DB2}"/>
                </a:ext>
              </a:extLst>
            </p:cNvPr>
            <p:cNvSpPr/>
            <p:nvPr/>
          </p:nvSpPr>
          <p:spPr>
            <a:xfrm>
              <a:off x="271160" y="5137965"/>
              <a:ext cx="5090112" cy="156966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2226449-CD22-F3C5-9167-577A91991EE2}"/>
                </a:ext>
              </a:extLst>
            </p:cNvPr>
            <p:cNvSpPr/>
            <p:nvPr/>
          </p:nvSpPr>
          <p:spPr>
            <a:xfrm>
              <a:off x="271158" y="5121961"/>
              <a:ext cx="5090113" cy="5195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Gill Sans MT"/>
                </a:rPr>
                <a:t>Problem</a:t>
              </a:r>
              <a:endPara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D99ABC-C946-FA67-E84B-5B18B31E82C9}"/>
                </a:ext>
              </a:extLst>
            </p:cNvPr>
            <p:cNvSpPr txBox="1"/>
            <p:nvPr/>
          </p:nvSpPr>
          <p:spPr>
            <a:xfrm>
              <a:off x="264171" y="5594180"/>
              <a:ext cx="49616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How can we obtain optimal benefits without optimizing the IRS and avoiding the three-fold overheads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8C04BE-AAA7-EF2B-0D64-6E5FC7B7591C}"/>
                  </a:ext>
                </a:extLst>
              </p:cNvPr>
              <p:cNvSpPr txBox="1"/>
              <p:nvPr/>
            </p:nvSpPr>
            <p:spPr>
              <a:xfrm>
                <a:off x="149420" y="816489"/>
                <a:ext cx="6072322" cy="3949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4965" marR="0" lvl="0" indent="-342900" algn="l" defTabSz="457200" rtl="0" eaLnBrk="1" fontAlgn="auto" latinLnBrk="0" hangingPunct="1">
                  <a:lnSpc>
                    <a:spcPct val="150000"/>
                  </a:lnSpc>
                  <a:spcBef>
                    <a:spcPts val="1425"/>
                  </a:spcBef>
                  <a:spcAft>
                    <a:spcPts val="0"/>
                  </a:spcAft>
                  <a:buClrTx/>
                  <a:buSzTx/>
                  <a:buFont typeface="Wingdings" pitchFamily="2" charset="2"/>
                  <a:buChar char="Ø"/>
                  <a:tabLst>
                    <a:tab pos="193040" algn="l"/>
                  </a:tabLst>
                  <a:defRPr/>
                </a:pPr>
                <a:r>
                  <a:rPr lang="en-US" spc="-5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beamforming SE at UE-k with optimized IRS is</a:t>
                </a:r>
              </a:p>
              <a:p>
                <a:pPr marL="12065" lvl="0" defTabSz="457200">
                  <a:lnSpc>
                    <a:spcPct val="150000"/>
                  </a:lnSpc>
                  <a:spcBef>
                    <a:spcPts val="1425"/>
                  </a:spcBef>
                  <a:tabLst>
                    <a:tab pos="193040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IN" dirty="0">
                              <a:latin typeface="Cambria Math" panose="02040503050406030204" pitchFamily="18" charset="0"/>
                            </a:rPr>
                            <m:t>BF</m:t>
                          </m:r>
                        </m:sup>
                      </m:sSubSup>
                      <m:r>
                        <a:rPr lang="en-IN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IN" i="1" dirty="0" err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  <m:nary>
                                    <m:naryPr>
                                      <m:chr m:val="∑"/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  <m:sSub>
                                <m:sSub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i="0" dirty="0">
                  <a:latin typeface="Times New Roman" panose="02020603050405020304" pitchFamily="18" charset="0"/>
                </a:endParaRPr>
              </a:p>
              <a:p>
                <a:pPr marL="12065" lvl="0" defTabSz="457200">
                  <a:spcBef>
                    <a:spcPts val="1425"/>
                  </a:spcBef>
                  <a:tabLst>
                    <a:tab pos="193040" algn="l"/>
                  </a:tabLst>
                  <a:defRPr/>
                </a:pPr>
                <a:r>
                  <a:rPr kumimoji="0" lang="en-US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It is achieved when</a:t>
                </a:r>
              </a:p>
              <a:p>
                <a:pPr marL="12065" lvl="0" algn="ctr" defTabSz="457200">
                  <a:spcBef>
                    <a:spcPts val="1425"/>
                  </a:spcBef>
                  <a:tabLst>
                    <a:tab pos="193040" algn="l"/>
                  </a:tabLst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>
                        <m: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d>
                          <m:dPr>
                            <m:ctrlPr>
                              <a:rPr lang="en-IN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∠</m:t>
                            </m:r>
                            <m:d>
                              <m:dPr>
                                <m:ctrlPr>
                                  <a:rPr lang="en-IN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a:rPr lang="en-IN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  <m: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sup>
                    </m:sSup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I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IN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I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</m:oMath>
                </a14:m>
                <a:r>
                  <a:rPr kumimoji="0" lang="en-US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</a:p>
              <a:p>
                <a:pPr marL="12065" lvl="0" algn="ctr" defTabSz="457200">
                  <a:spcBef>
                    <a:spcPts val="1425"/>
                  </a:spcBef>
                  <a:tabLst>
                    <a:tab pos="193040" algn="l"/>
                  </a:tabLst>
                  <a:defRPr/>
                </a:pPr>
                <a:endParaRPr kumimoji="0" lang="en-US" sz="1800" b="0" i="0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297815" lvl="0" indent="-285750" defTabSz="457200">
                  <a:spcBef>
                    <a:spcPts val="1425"/>
                  </a:spcBef>
                  <a:buFont typeface="Wingdings" panose="05000000000000000000" pitchFamily="2" charset="2"/>
                  <a:buChar char="Ø"/>
                  <a:tabLst>
                    <a:tab pos="193040" algn="l"/>
                  </a:tabLst>
                  <a:defRPr/>
                </a:pPr>
                <a:r>
                  <a:rPr kumimoji="0" lang="en-US" sz="1800" b="1" i="0" u="none" strike="noStrike" kern="1200" cap="none" spc="-5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BF gain </a:t>
                </a:r>
                <a:r>
                  <a:rPr kumimoji="0" lang="en-US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pc="-5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element IRS scales as </a:t>
                </a:r>
                <a14:m>
                  <m:oMath xmlns:m="http://schemas.openxmlformats.org/officeDocument/2006/math">
                    <m:r>
                      <a:rPr lang="en-US" i="1" spc="-5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𝐎</m:t>
                    </m:r>
                    <m:d>
                      <m:dPr>
                        <m:ctrlPr>
                          <a:rPr lang="en-US" i="1" spc="-5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pc="-5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spc="-5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i="1" spc="-5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kumimoji="0" lang="en-US" sz="1800" b="0" i="0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755015" lvl="1" indent="-285750" defTabSz="457200">
                  <a:spcBef>
                    <a:spcPts val="1425"/>
                  </a:spcBef>
                  <a:buFont typeface="Wingdings" panose="05000000000000000000" pitchFamily="2" charset="2"/>
                  <a:buChar char="q"/>
                  <a:tabLst>
                    <a:tab pos="193040" algn="l"/>
                  </a:tabLst>
                  <a:defRPr/>
                </a:pPr>
                <a:r>
                  <a:rPr lang="en-US" spc="-5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IRS enables constructive superposition of signal copies at every UE.</a:t>
                </a:r>
                <a:endParaRPr kumimoji="0" lang="en-US" b="0" i="0" u="none" strike="noStrike" kern="1200" cap="none" spc="-5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8C04BE-AAA7-EF2B-0D64-6E5FC7B75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20" y="816489"/>
                <a:ext cx="6072322" cy="3949414"/>
              </a:xfrm>
              <a:prstGeom prst="rect">
                <a:avLst/>
              </a:prstGeom>
              <a:blipFill>
                <a:blip r:embed="rId2"/>
                <a:stretch>
                  <a:fillRect l="-703" b="-15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F8DE9B9-D869-0BFB-2A0B-79B7AE597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101" y="1126769"/>
            <a:ext cx="6516991" cy="392027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754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79A3A0-4C32-CAC0-B66B-4D99B4CBA8E3}"/>
              </a:ext>
            </a:extLst>
          </p:cNvPr>
          <p:cNvSpPr txBox="1"/>
          <p:nvPr/>
        </p:nvSpPr>
        <p:spPr>
          <a:xfrm>
            <a:off x="96253" y="150365"/>
            <a:ext cx="10655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Randomized RIS + Opportunistic Communications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9DB692-E6D2-5347-50EB-4BE8AC4AF303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072DB14-6736-BCE8-F1EA-CB4AFB38E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923" y="1048370"/>
            <a:ext cx="6003859" cy="557220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C61E36-D50E-F8D0-CDF5-5833B46B3934}"/>
              </a:ext>
            </a:extLst>
          </p:cNvPr>
          <p:cNvSpPr/>
          <p:nvPr/>
        </p:nvSpPr>
        <p:spPr>
          <a:xfrm>
            <a:off x="65218" y="1162838"/>
            <a:ext cx="5950014" cy="1195030"/>
          </a:xfrm>
          <a:prstGeom prst="round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algn="just">
              <a:spcBef>
                <a:spcPts val="1425"/>
              </a:spcBef>
              <a:tabLst>
                <a:tab pos="193040" algn="l"/>
              </a:tabLst>
            </a:pPr>
            <a:r>
              <a:rPr lang="en-US" sz="2000" b="1" spc="-5" dirty="0">
                <a:solidFill>
                  <a:srgbClr val="0745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: </a:t>
            </a: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tune </a:t>
            </a: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RIS configurations and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 one of K UEs opportunistically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the best channel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time slot!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2BEE0-A361-B106-0DDA-FF576AC1E009}"/>
              </a:ext>
            </a:extLst>
          </p:cNvPr>
          <p:cNvSpPr txBox="1"/>
          <p:nvPr/>
        </p:nvSpPr>
        <p:spPr>
          <a:xfrm>
            <a:off x="119064" y="2458143"/>
            <a:ext cx="60038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RIS phase optimization is unnecessary, as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scheduler exploits RIS gain via UE CQI feedback.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UEs periodically report CQI (≈80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the UE aligned with the RIS reports higher CQI.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scheduler uses CQI to identify and schedule the RIS-favored 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loud 3">
                <a:extLst>
                  <a:ext uri="{FF2B5EF4-FFF2-40B4-BE49-F238E27FC236}">
                    <a16:creationId xmlns:a16="http://schemas.microsoft.com/office/drawing/2014/main" id="{63AF3B24-F8E6-2433-5F58-B6CB48A71922}"/>
                  </a:ext>
                </a:extLst>
              </p:cNvPr>
              <p:cNvSpPr/>
              <p:nvPr/>
            </p:nvSpPr>
            <p:spPr>
              <a:xfrm>
                <a:off x="250255" y="4706754"/>
                <a:ext cx="5872668" cy="1678373"/>
              </a:xfrm>
              <a:prstGeom prst="cloud">
                <a:avLst/>
              </a:prstGeom>
              <a:solidFill>
                <a:schemeClr val="accent3">
                  <a:lumMod val="10000"/>
                  <a:lumOff val="90000"/>
                </a:schemeClr>
              </a:solidFill>
              <a:ln>
                <a:solidFill>
                  <a:srgbClr val="00B0F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UEs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→∞, </m:t>
                    </m:r>
                  </m:oMath>
                </a14:m>
                <a:endParaRPr lang="en-US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andomized RIS </a:t>
                </a:r>
                <a:r>
                  <a:rPr lang="en-US" sz="1600" dirty="0">
                    <a:solidFill>
                      <a:schemeClr val="tx1"/>
                    </a:solidFill>
                  </a:rPr>
                  <a:t>becomes optimal for at least one UE, and 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opportunistic scheduling </a:t>
                </a:r>
                <a:r>
                  <a:rPr lang="en-US" sz="1600" dirty="0">
                    <a:solidFill>
                      <a:schemeClr val="tx1"/>
                    </a:solidFill>
                  </a:rPr>
                  <a:t>of that UE will procure the full RIS gain.</a:t>
                </a:r>
              </a:p>
            </p:txBody>
          </p:sp>
        </mc:Choice>
        <mc:Fallback xmlns="">
          <p:sp>
            <p:nvSpPr>
              <p:cNvPr id="4" name="Cloud 3">
                <a:extLst>
                  <a:ext uri="{FF2B5EF4-FFF2-40B4-BE49-F238E27FC236}">
                    <a16:creationId xmlns:a16="http://schemas.microsoft.com/office/drawing/2014/main" id="{63AF3B24-F8E6-2433-5F58-B6CB48A719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55" y="4706754"/>
                <a:ext cx="5872668" cy="1678373"/>
              </a:xfrm>
              <a:prstGeom prst="cloud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4323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487422-976F-2452-9925-FDB68838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A67F0F-D862-B858-69D8-89342AED6CA6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F21C391-A5B9-E7B1-202A-47B297256C1F}"/>
              </a:ext>
            </a:extLst>
          </p:cNvPr>
          <p:cNvSpPr txBox="1"/>
          <p:nvPr/>
        </p:nvSpPr>
        <p:spPr>
          <a:xfrm>
            <a:off x="96253" y="150365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Choice of RIS states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 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96FF2BE-09DF-9567-564C-4965C5D31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41" y="919044"/>
                <a:ext cx="6373659" cy="707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E4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UE Geometry Matters:</a:t>
                </a:r>
              </a:p>
              <a:p>
                <a:pPr marR="0" lvl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E4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    </a:t>
                </a: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RIS sees each user through azimuth/elevation angles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sz="1800" b="0" i="1" u="none" strike="noStrike" kern="1200" cap="none" spc="0" normalizeH="0" baseline="0" noProof="0" dirty="0" err="1" smtClean="0">
                                <a:ln>
                                  <a:noFill/>
                                </a:ln>
                                <a:solidFill>
                                  <a:schemeClr val="accent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chemeClr val="accent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kumimoji="0" lang="en-US" altLang="en-US" sz="18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schemeClr val="accent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alt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en-US" sz="18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schemeClr val="accent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chemeClr val="accent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kumimoji="0" lang="en-US" altLang="en-US" sz="1800" b="0" i="1" u="none" strike="noStrike" kern="1200" cap="none" spc="0" normalizeH="0" baseline="0" noProof="0" dirty="0" err="1" smtClean="0">
                                <a:ln>
                                  <a:noFill/>
                                </a:ln>
                                <a:solidFill>
                                  <a:schemeClr val="accent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​</m:t>
                        </m:r>
                      </m:e>
                    </m:d>
                    <m:r>
                      <a:rPr kumimoji="0" lang="en-US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96FF2BE-09DF-9567-564C-4965C5D31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41" y="919044"/>
                <a:ext cx="6373659" cy="707886"/>
              </a:xfrm>
              <a:prstGeom prst="rect">
                <a:avLst/>
              </a:prstGeom>
              <a:blipFill>
                <a:blip r:embed="rId2"/>
                <a:stretch>
                  <a:fillRect l="-860" t="-4310" b="-120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3E9AB10-B0F2-B9AE-A175-9986FFDD0096}"/>
              </a:ext>
            </a:extLst>
          </p:cNvPr>
          <p:cNvSpPr txBox="1"/>
          <p:nvPr/>
        </p:nvSpPr>
        <p:spPr>
          <a:xfrm>
            <a:off x="87998" y="2976361"/>
            <a:ext cx="62519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Sampling Distribution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D43BE8-2D7F-20C8-DAC4-DD8A4F973668}"/>
                  </a:ext>
                </a:extLst>
              </p:cNvPr>
              <p:cNvSpPr txBox="1"/>
              <p:nvPr/>
            </p:nvSpPr>
            <p:spPr>
              <a:xfrm>
                <a:off x="1029150" y="2564641"/>
                <a:ext cx="61159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en-US" sz="1800" b="1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</m:t>
                    </m:r>
                    <m:r>
                      <a:rPr lang="en-US" altLang="en-US" sz="1800" b="1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={(</m:t>
                    </m:r>
                    <m:sSub>
                      <m:sSubPr>
                        <m:ctrlPr>
                          <a:rPr lang="en-US" altLang="en-US" sz="18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800" b="1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en-US" sz="1800" b="1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1800" b="1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8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800" b="1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en-US" sz="1800" b="1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1800" b="1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),…,(</m:t>
                    </m:r>
                    <m:sSub>
                      <m:sSubPr>
                        <m:ctrlPr>
                          <a:rPr lang="en-US" altLang="en-US" sz="18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800" b="1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en-US" sz="1800" b="1" i="1" dirty="0" err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US" altLang="en-US" sz="1800" b="1" i="1" dirty="0" err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800" b="1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8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800" b="1" i="1" dirty="0" err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en-US" sz="1800" b="1" i="1" dirty="0" err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US" altLang="en-US" sz="1800" b="1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lit/>
                      </m:rPr>
                      <a:rPr lang="en-US" altLang="en-US" sz="1800" b="1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en-US" sz="1800" b="1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altLang="en-US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 distribution</a:t>
                </a: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D43BE8-2D7F-20C8-DAC4-DD8A4F973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150" y="2564641"/>
                <a:ext cx="611592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CE2858-FDA6-987F-3210-C2B0C99CBD99}"/>
                  </a:ext>
                </a:extLst>
              </p:cNvPr>
              <p:cNvSpPr txBox="1"/>
              <p:nvPr/>
            </p:nvSpPr>
            <p:spPr>
              <a:xfrm>
                <a:off x="352038" y="1924876"/>
                <a:ext cx="11226817" cy="6621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the RIS operate in one of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phase configurations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en-US" sz="1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en-US" sz="1800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en-US" sz="1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en-US" sz="1800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en-US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configuration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800" b="1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en-US" sz="1800" b="1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altLang="en-US" sz="1800" b="1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selected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en-US" b="1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sub>
                    </m:sSub>
                    <m:r>
                      <a:rPr lang="en-US" altLang="en-US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sub>
                    </m:sSub>
                    <m:r>
                      <a:rPr lang="en-US" alt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</m:t>
                    </m:r>
                    <m:nary>
                      <m:naryPr>
                        <m:chr m:val="∑"/>
                        <m:ctrlPr>
                          <a:rPr lang="en-US" alt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ℓ=1</m:t>
                        </m:r>
                      </m:sub>
                      <m:sup>
                        <m:r>
                          <a:rPr lang="en-US" alt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altLang="en-US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i="1" dirty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sub>
                        </m:sSub>
                      </m:e>
                    </m:nary>
                    <m:r>
                      <a:rPr lang="en-US" alt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</m:t>
                    </m:r>
                  </m:oMath>
                </a14:m>
                <a:endParaRPr lang="en-US" altLang="en-US" sz="18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CE2858-FDA6-987F-3210-C2B0C99CB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38" y="1924876"/>
                <a:ext cx="11226817" cy="662169"/>
              </a:xfrm>
              <a:prstGeom prst="rect">
                <a:avLst/>
              </a:prstGeom>
              <a:blipFill>
                <a:blip r:embed="rId4"/>
                <a:stretch>
                  <a:fillRect l="-489" t="-23148" b="-1046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945EBCA-2E48-C14D-477C-1DEA7B679787}"/>
              </a:ext>
            </a:extLst>
          </p:cNvPr>
          <p:cNvSpPr txBox="1"/>
          <p:nvPr/>
        </p:nvSpPr>
        <p:spPr>
          <a:xfrm>
            <a:off x="27141" y="4075449"/>
            <a:ext cx="62519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B71E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wise Operation 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E94C36-382F-2B23-1C96-D5F4FB1877C6}"/>
              </a:ext>
            </a:extLst>
          </p:cNvPr>
          <p:cNvSpPr txBox="1"/>
          <p:nvPr/>
        </p:nvSpPr>
        <p:spPr>
          <a:xfrm>
            <a:off x="352038" y="3394089"/>
            <a:ext cx="5622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Matching the RIS phase distribution to the users’ angular statistics maximizes the system throughput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E38FCC-692E-D919-83E6-AC4811353194}"/>
                  </a:ext>
                </a:extLst>
              </p:cNvPr>
              <p:cNvSpPr txBox="1"/>
              <p:nvPr/>
            </p:nvSpPr>
            <p:spPr>
              <a:xfrm>
                <a:off x="752959" y="5837356"/>
                <a:ext cx="4699297" cy="437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IN" sz="20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dirty="0" err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sz="2000" i="1" dirty="0" err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sz="20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E38FCC-692E-D919-83E6-AC4811353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59" y="5837356"/>
                <a:ext cx="4699297" cy="437684"/>
              </a:xfrm>
              <a:prstGeom prst="rect">
                <a:avLst/>
              </a:prstGeom>
              <a:blipFill>
                <a:blip r:embed="rId6"/>
                <a:stretch>
                  <a:fillRect t="-1408" b="-23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F9F7C1-19F4-4EB5-7234-7022728217CB}"/>
                  </a:ext>
                </a:extLst>
              </p:cNvPr>
              <p:cNvSpPr txBox="1"/>
              <p:nvPr/>
            </p:nvSpPr>
            <p:spPr>
              <a:xfrm>
                <a:off x="281132" y="4556293"/>
                <a:ext cx="56843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RIS operates in a block-wise manner, maintaining a fixed phase configuration over a block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I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slots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the beginning of each block, the RIS selects one of the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predefined configurations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F9F7C1-19F4-4EB5-7234-702272821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32" y="4556293"/>
                <a:ext cx="5684314" cy="1200329"/>
              </a:xfrm>
              <a:prstGeom prst="rect">
                <a:avLst/>
              </a:prstGeom>
              <a:blipFill>
                <a:blip r:embed="rId7"/>
                <a:stretch>
                  <a:fillRect l="-643" t="-2538" r="-857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C534EF9-9F79-20A2-CE57-789A8223A4CF}"/>
              </a:ext>
            </a:extLst>
          </p:cNvPr>
          <p:cNvSpPr txBox="1"/>
          <p:nvPr/>
        </p:nvSpPr>
        <p:spPr>
          <a:xfrm>
            <a:off x="27141" y="1605938"/>
            <a:ext cx="6150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Finite RIS Codebook :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4312B0-6205-9E41-F49F-821C9AF2FE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446" y="2587045"/>
            <a:ext cx="6416688" cy="408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81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C31DD7-D4D8-0FC0-40FA-E73A21B6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EA5B58-8BE9-EE26-ECD6-5AB192E39A00}"/>
              </a:ext>
            </a:extLst>
          </p:cNvPr>
          <p:cNvSpPr txBox="1"/>
          <p:nvPr/>
        </p:nvSpPr>
        <p:spPr>
          <a:xfrm>
            <a:off x="96253" y="150365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Theorem 1 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917D3DF-A842-3280-32F9-FF92E85B7797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5AB86FE-A908-C253-E1C0-A7910E76A5EC}"/>
                  </a:ext>
                </a:extLst>
              </p:cNvPr>
              <p:cNvSpPr/>
              <p:nvPr/>
            </p:nvSpPr>
            <p:spPr>
              <a:xfrm>
                <a:off x="96253" y="1088039"/>
                <a:ext cx="11723571" cy="2715944"/>
              </a:xfrm>
              <a:prstGeom prst="roundRect">
                <a:avLst>
                  <a:gd name="adj" fmla="val 127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  <a:softEdge rad="63500"/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RIS-assisted downlink system with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users and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RIS configurations. The RIS switches independently among these configurations, staying in each for a finite duration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slots. At every switching instant, the configuration is drawn </a:t>
                </a:r>
                <a:r>
                  <a:rPr lang="en-IN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i.i.d.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according to the probability mass function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IN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sSubSup>
                      <m:sSubSupPr>
                        <m:ctrlP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ℓ=1</m:t>
                        </m:r>
                      </m:sub>
                      <m:sup>
                        <m: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en-IN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20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 Linear Rate Assumption, together with proportional-fair (PF) scheduling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system throughput satisfies</a:t>
                </a:r>
              </a:p>
              <a:p>
                <a:pPr algn="just"/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IN" sz="2400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IN" sz="2400" b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𝐥𝐢𝐦</m:t>
                            </m:r>
                          </m:e>
                          <m:lim>
                            <m:r>
                              <a:rPr lang="en-IN" sz="2400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  <m:r>
                              <a:rPr lang="en-IN" sz="2400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IN" sz="2400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𝒔𝒚𝒔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IN" sz="2400" b="1" i="1" dirty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b="1" i="1" dirty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</m:d>
                              </m:sup>
                            </m:sSubSup>
                            <m:r>
                              <a:rPr lang="en-IN" sz="2400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ctrlP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IN" sz="2400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sz="2400" b="1" i="1" dirty="0" err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2400" b="1" i="1" dirty="0" err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IN" sz="2400" b="1" i="1" dirty="0" err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  <m:sup>
                                    <m:r>
                                      <a:rPr lang="en-IN" sz="2400" b="1" i="1" dirty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𝑩𝑭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</m:e>
                    </m:func>
                    <m:r>
                      <a:rPr lang="en-IN" sz="2400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endParaRPr lang="en-IN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</m:sup>
                    </m:sSubSup>
                  </m:oMath>
                </a14:m>
                <a:r>
                  <a:rPr lang="en-IN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denotes the beamforming rate of user</a:t>
                </a:r>
                <a14:m>
                  <m:oMath xmlns:m="http://schemas.openxmlformats.org/officeDocument/2006/math"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 its optimal RIS configuration.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5AB86FE-A908-C253-E1C0-A7910E76A5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3" y="1088039"/>
                <a:ext cx="11723571" cy="2715944"/>
              </a:xfrm>
              <a:prstGeom prst="roundRect">
                <a:avLst>
                  <a:gd name="adj" fmla="val 12752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  <a:softEdge rad="63500"/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2ABF8C09-0513-31F0-9286-F71CAB3230A8}"/>
                  </a:ext>
                </a:extLst>
              </p:cNvPr>
              <p:cNvSpPr/>
              <p:nvPr/>
            </p:nvSpPr>
            <p:spPr>
              <a:xfrm>
                <a:off x="188367" y="4605448"/>
                <a:ext cx="6474667" cy="2102187"/>
              </a:xfrm>
              <a:prstGeom prst="roundRect">
                <a:avLst/>
              </a:prstGeom>
              <a:solidFill>
                <a:srgbClr val="FFFFCC"/>
              </a:solidFill>
              <a:ln>
                <a:solidFill>
                  <a:srgbClr val="00B050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numCol="1" spcCol="0" rtlCol="0" anchor="ctr"/>
              <a:lstStyle/>
              <a:p>
                <a:pPr marL="285750" lvl="0" indent="-285750" defTabSz="457200">
                  <a:lnSpc>
                    <a:spcPct val="150000"/>
                  </a:lnSpc>
                  <a:buFont typeface="Wingdings" panose="05000000000000000000" pitchFamily="2" charset="2"/>
                  <a:buChar char="q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→∞⇒</m:t>
                    </m:r>
                    <m:sSub>
                      <m:sSubPr>
                        <m:ctrlP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changes very slowly with t.</a:t>
                </a:r>
              </a:p>
              <a:p>
                <a:pPr marL="285750" lvl="0" indent="-285750" defTabSz="457200">
                  <a:lnSpc>
                    <a:spcPct val="150000"/>
                  </a:lnSpc>
                  <a:buFont typeface="Wingdings" panose="05000000000000000000" pitchFamily="2" charset="2"/>
                  <a:buChar char="q"/>
                  <a:defRPr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PF metric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depends only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lvl="0" indent="-285750" defTabSz="457200">
                  <a:lnSpc>
                    <a:spcPct val="150000"/>
                  </a:lnSpc>
                  <a:buFont typeface="Wingdings" panose="05000000000000000000" pitchFamily="2" charset="2"/>
                  <a:buChar char="q"/>
                  <a:defRPr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m:rPr>
                        <m:lit/>
                      </m:rP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 explores multiple configurations</a:t>
                </a:r>
              </a:p>
              <a:p>
                <a:pPr marL="285750" lvl="0" indent="-285750" defTabSz="457200">
                  <a:lnSpc>
                    <a:spcPct val="150000"/>
                  </a:lnSpc>
                  <a:buFont typeface="Wingdings" panose="05000000000000000000" pitchFamily="2" charset="2"/>
                  <a:buChar char="q"/>
                  <a:defRPr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Favorable channel realizations @ all users : Full opportunism</a:t>
                </a:r>
              </a:p>
              <a:p>
                <a:pPr marL="285750" lvl="0" indent="-285750" defTabSz="457200">
                  <a:lnSpc>
                    <a:spcPct val="150000"/>
                  </a:lnSpc>
                  <a:buFont typeface="Wingdings" panose="05000000000000000000" pitchFamily="2" charset="2"/>
                  <a:buChar char="q"/>
                  <a:defRPr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Throughput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beamforming-optimal as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→∞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2ABF8C09-0513-31F0-9286-F71CAB323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67" y="4605448"/>
                <a:ext cx="6474667" cy="210218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710B67C-8822-433F-DEC8-B6B9C65B5213}"/>
              </a:ext>
            </a:extLst>
          </p:cNvPr>
          <p:cNvSpPr txBox="1"/>
          <p:nvPr/>
        </p:nvSpPr>
        <p:spPr>
          <a:xfrm>
            <a:off x="188367" y="3943105"/>
            <a:ext cx="2923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Interpretation: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Folded Corner 4">
                <a:extLst>
                  <a:ext uri="{FF2B5EF4-FFF2-40B4-BE49-F238E27FC236}">
                    <a16:creationId xmlns:a16="http://schemas.microsoft.com/office/drawing/2014/main" id="{08A3E857-0ABB-2742-BED6-D0421366348B}"/>
                  </a:ext>
                </a:extLst>
              </p:cNvPr>
              <p:cNvSpPr/>
              <p:nvPr/>
            </p:nvSpPr>
            <p:spPr>
              <a:xfrm>
                <a:off x="7166345" y="4763386"/>
                <a:ext cx="4837287" cy="1637413"/>
              </a:xfrm>
              <a:prstGeom prst="foldedCorner">
                <a:avLst>
                  <a:gd name="adj" fmla="val 25417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IN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IN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large must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be, for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I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achieve full opportunistic gains?</a:t>
                </a:r>
              </a:p>
            </p:txBody>
          </p:sp>
        </mc:Choice>
        <mc:Fallback xmlns="">
          <p:sp>
            <p:nvSpPr>
              <p:cNvPr id="5" name="Rectangle: Folded Corner 4">
                <a:extLst>
                  <a:ext uri="{FF2B5EF4-FFF2-40B4-BE49-F238E27FC236}">
                    <a16:creationId xmlns:a16="http://schemas.microsoft.com/office/drawing/2014/main" id="{08A3E857-0ABB-2742-BED6-D042136634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345" y="4763386"/>
                <a:ext cx="4837287" cy="1637413"/>
              </a:xfrm>
              <a:prstGeom prst="foldedCorner">
                <a:avLst>
                  <a:gd name="adj" fmla="val 25417"/>
                </a:avLst>
              </a:prstGeom>
              <a:blipFill>
                <a:blip r:embed="rId5"/>
                <a:stretch>
                  <a:fillRect b="-1832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9131F3-E75D-18BA-6703-C11D3D44B7A6}"/>
                  </a:ext>
                </a:extLst>
              </p:cNvPr>
              <p:cNvSpPr txBox="1"/>
              <p:nvPr/>
            </p:nvSpPr>
            <p:spPr>
              <a:xfrm>
                <a:off x="5425263" y="4859079"/>
                <a:ext cx="61509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practice :  Finite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9131F3-E75D-18BA-6703-C11D3D44B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263" y="4859079"/>
                <a:ext cx="6150934" cy="400110"/>
              </a:xfrm>
              <a:prstGeom prst="rect">
                <a:avLst/>
              </a:prstGeom>
              <a:blipFill>
                <a:blip r:embed="rId6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228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25F57B-1528-9DBD-D677-743E24945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5DB0F4-9719-FE51-F36D-72E99F8A1BA6}"/>
                  </a:ext>
                </a:extLst>
              </p:cNvPr>
              <p:cNvSpPr txBox="1"/>
              <p:nvPr/>
            </p:nvSpPr>
            <p:spPr>
              <a:xfrm>
                <a:off x="96253" y="150365"/>
                <a:ext cx="68238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Gill Sans MT"/>
                    <a:ea typeface="+mn-ea"/>
                    <a:cs typeface="+mn-cs"/>
                  </a:rPr>
                  <a:t>Theorem 2 (Finite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MT"/>
                  </a:rPr>
                  <a:t>)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Gill Sans MT"/>
                    <a:ea typeface="+mn-ea"/>
                    <a:cs typeface="+mn-cs"/>
                  </a:rPr>
                  <a:t> </a:t>
                </a:r>
                <a:endParaRPr kumimoji="0" lang="en-I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5DB0F4-9719-FE51-F36D-72E99F8A1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3" y="150365"/>
                <a:ext cx="6823878" cy="646331"/>
              </a:xfrm>
              <a:prstGeom prst="rect">
                <a:avLst/>
              </a:prstGeom>
              <a:blipFill>
                <a:blip r:embed="rId3"/>
                <a:stretch>
                  <a:fillRect l="-2860" t="-12264" b="-443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8FAA1C-3895-0715-99C9-3EEEF4CC883A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E9DD81-D2D8-BD77-F3E3-D73FE6A002C9}"/>
                  </a:ext>
                </a:extLst>
              </p:cNvPr>
              <p:cNvSpPr txBox="1"/>
              <p:nvPr/>
            </p:nvSpPr>
            <p:spPr>
              <a:xfrm>
                <a:off x="96252" y="936121"/>
                <a:ext cx="11723570" cy="3002810"/>
              </a:xfrm>
              <a:prstGeom prst="rect">
                <a:avLst/>
              </a:prstGeom>
              <a:solidFill>
                <a:schemeClr val="accent3">
                  <a:lumMod val="10000"/>
                  <a:lumOff val="90000"/>
                </a:schemeClr>
              </a:solidFill>
              <a:ln>
                <a:solidFill>
                  <a:schemeClr val="accent2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  <a:softEdge rad="63500"/>
              </a:effec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the RIS-assisted PF scheduling system of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latin typeface="Cambria Math" panose="02040503050406030204" pitchFamily="18" charset="0"/>
                      </a:rPr>
                      <m:t>𝑇h𝑒𝑜𝑟𝑒𝑚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IN" sz="16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Fix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IN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6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IN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I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 dirty="0"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IN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6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IN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I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IN" sz="16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16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satisfies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IN" b="1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  <m:r>
                      <a:rPr lang="en-IN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func>
                      <m:funcPr>
                        <m:ctrlPr>
                          <a:rPr lang="en-IN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IN" b="1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𝐦𝐚𝐱</m:t>
                        </m:r>
                      </m:fName>
                      <m:e>
                        <m:r>
                          <m:rPr>
                            <m:lit/>
                          </m:rPr>
                          <a:rPr lang="en-IN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  <m:r>
                      <a:rPr lang="en-IN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f>
                      <m:fPr>
                        <m:ctrl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sSubSup>
                          <m:sSubSupPr>
                            <m:ctrlP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b="1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</m:den>
                    </m:f>
                    <m:r>
                      <a:rPr lang="en-IN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𝒍𝒏</m:t>
                    </m:r>
                    <m:d>
                      <m:dPr>
                        <m:ctrlPr>
                          <a:rPr lang="en-IN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IN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𝜼</m:t>
                                </m:r>
                              </m:e>
                              <m:sub>
                                <m:r>
                                  <a:rPr lang="en-IN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IN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f>
                      <m:fPr>
                        <m:ctrl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sSubSup>
                          <m:sSubSupPr>
                            <m:ctrlP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b="1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</m:den>
                    </m:f>
                    <m:r>
                      <a:rPr lang="en-IN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𝒍𝒏</m:t>
                    </m:r>
                    <m:d>
                      <m:dPr>
                        <m:ctrlPr>
                          <a:rPr lang="en-IN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  <m:r>
                              <a:rPr lang="en-IN" b="1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𝑲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IN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𝜼</m:t>
                                </m:r>
                              </m:e>
                              <m:sub>
                                <m:r>
                                  <a:rPr lang="en-IN" b="1" i="1" dirty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lit/>
                      </m:rPr>
                      <a:rPr lang="en-IN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IN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with probability at least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1−</m:t>
                    </m:r>
                    <m:sSub>
                      <m:sSubPr>
                        <m:ctrlP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IN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PF throughput vector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𝐓</m:t>
                        </m:r>
                      </m:e>
                    </m:acc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IN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acc>
                          <m:accPr>
                            <m:chr m:val="̃"/>
                            <m:ctrlPr>
                              <a:rPr lang="en-IN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(where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N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IN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long-term throughput of user </a:t>
                </a:r>
                <a14:m>
                  <m:oMath xmlns:m="http://schemas.openxmlformats.org/officeDocument/2006/math">
                    <m:r>
                      <a:rPr lang="en-IN" sz="16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under PF scheduling) satisfies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IN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acc>
                      <m:accPr>
                        <m:chr m:val="̃"/>
                        <m:ctrlPr>
                          <a:rPr lang="en-IN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</m:acc>
                    <m:r>
                      <a:rPr lang="en-IN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p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b>
                      <m:sSubPr>
                        <m:ctrl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b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</m:sSub>
                    <m:r>
                      <a:rPr lang="en-IN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𝝐</m:t>
                        </m:r>
                      </m:e>
                      <m:sub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𝝐</m:t>
                        </m:r>
                      </m:e>
                      <m:sub>
                        <m:r>
                          <a:rPr lang="en-IN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the asymptotic optimal throughput vector given explicitly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𝐓</m:t>
                        </m:r>
                      </m:e>
                      <m:sup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den>
                    </m:f>
                    <m:sSup>
                      <m:sSupPr>
                        <m:ctrlPr>
                          <a:rPr lang="en-IN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16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𝐵𝐹</m:t>
                                </m:r>
                              </m:sup>
                            </m:sSubSup>
                            <m:r>
                              <a:rPr lang="en-IN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lit/>
                              </m:rPr>
                              <a:rPr lang="en-IN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16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𝐵𝐹</m:t>
                                </m:r>
                              </m:sup>
                            </m:sSubSup>
                            <m:r>
                              <a:rPr lang="en-IN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lit/>
                              </m:rPr>
                              <a:rPr lang="en-IN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IN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…</m:t>
                            </m:r>
                            <m:r>
                              <a:rPr lang="en-IN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lit/>
                              </m:rPr>
                              <a:rPr lang="en-IN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IN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sub>
                              <m:sup>
                                <m:r>
                                  <a:rPr lang="en-IN" sz="16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𝐵𝐹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p>
                    <m:r>
                      <a:rPr lang="en-IN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IN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𝟙</m:t>
                        </m:r>
                      </m:sup>
                    </m:sSup>
                    <m:r>
                      <a:rPr lang="en-IN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E9DD81-D2D8-BD77-F3E3-D73FE6A00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2" y="936121"/>
                <a:ext cx="11723570" cy="30028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  <a:softEdge rad="63500"/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377438-A4B8-A517-1BA5-330241359239}"/>
                  </a:ext>
                </a:extLst>
              </p:cNvPr>
              <p:cNvSpPr txBox="1"/>
              <p:nvPr/>
            </p:nvSpPr>
            <p:spPr>
              <a:xfrm>
                <a:off x="346510" y="4326358"/>
                <a:ext cx="1174923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+mj-lt"/>
                  <a:buAutoNum type="arabicParenR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actual visiting frequency of each RIS state converges to its intended selection probability,</a:t>
                </a:r>
              </a:p>
              <a:p>
                <a:pPr marL="457200" indent="-457200" algn="just">
                  <a:buFont typeface="+mj-lt"/>
                  <a:buAutoNum type="arabicParenR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buFont typeface="+mj-lt"/>
                  <a:buAutoNum type="arabicParenR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algn="just">
                  <a:buFont typeface="+mj-lt"/>
                  <a:buAutoNum type="arabicParenR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user is scheduled sufficiently often so that the average throughput over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window converges to the actual average throughput.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377438-A4B8-A517-1BA5-330241359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10" y="4326358"/>
                <a:ext cx="11749238" cy="1754326"/>
              </a:xfrm>
              <a:prstGeom prst="rect">
                <a:avLst/>
              </a:prstGeom>
              <a:blipFill>
                <a:blip r:embed="rId5"/>
                <a:stretch>
                  <a:fillRect l="-363" t="-2091" b="-4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779027-A0AA-8FBA-E8C7-806E9C601679}"/>
                  </a:ext>
                </a:extLst>
              </p:cNvPr>
              <p:cNvSpPr txBox="1"/>
              <p:nvPr/>
            </p:nvSpPr>
            <p:spPr>
              <a:xfrm>
                <a:off x="96252" y="3926248"/>
                <a:ext cx="61505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sz="20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should be long enough </a:t>
                </a:r>
                <a:r>
                  <a:rPr lang="en-IN" sz="20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IN" sz="20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779027-A0AA-8FBA-E8C7-806E9C601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2" y="3926248"/>
                <a:ext cx="6150542" cy="400110"/>
              </a:xfrm>
              <a:prstGeom prst="rect">
                <a:avLst/>
              </a:prstGeom>
              <a:blipFill>
                <a:blip r:embed="rId6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2A802A-F1C2-29DB-56DA-3A8356D97F70}"/>
                  </a:ext>
                </a:extLst>
              </p:cNvPr>
              <p:cNvSpPr txBox="1"/>
              <p:nvPr/>
            </p:nvSpPr>
            <p:spPr>
              <a:xfrm>
                <a:off x="1641108" y="4697571"/>
                <a:ext cx="6020601" cy="784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sz="1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 dirty="0" err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sz="1600" i="1" dirty="0" err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IN" sz="1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 dirty="0" err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sz="1600" i="1" dirty="0" err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p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nary>
                      <m:r>
                        <m:rPr>
                          <m:lit/>
                        </m:rPr>
                        <a:rPr lang="en-IN" sz="1600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sz="1600" i="1" dirty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16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sz="1600" i="1" dirty="0" err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lit/>
                        </m:rPr>
                        <a:rPr lang="en-IN" sz="1600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IN" sz="16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IN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IN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sz="1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IN" sz="1600" i="1" dirty="0" err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2A802A-F1C2-29DB-56DA-3A8356D97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108" y="4697571"/>
                <a:ext cx="6020601" cy="7847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2A7BC2-6E70-91A1-EECD-0D9AD3235BA6}"/>
                  </a:ext>
                </a:extLst>
              </p:cNvPr>
              <p:cNvSpPr txBox="1"/>
              <p:nvPr/>
            </p:nvSpPr>
            <p:spPr>
              <a:xfrm>
                <a:off x="2856716" y="5582251"/>
                <a:ext cx="4371858" cy="13387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sz="16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sz="16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IN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IN" sz="16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sz="16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IN" sz="16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1600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IN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nary>
                      <m:r>
                        <m:rPr>
                          <m:lit/>
                        </m:rPr>
                        <a:rPr lang="en-IN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IN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en-IN" sz="16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6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IN" sz="16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6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scheduled</m:t>
                      </m:r>
                      <m:r>
                        <m:rPr>
                          <m:nor/>
                        </m:rPr>
                        <a:rPr lang="en-IN" sz="16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6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IN" sz="16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lit/>
                        </m:rPr>
                        <a:rPr lang="en-IN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I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IN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IN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82A7BC2-6E70-91A1-EECD-0D9AD3235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716" y="5582251"/>
                <a:ext cx="4371858" cy="13387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1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029AFB-1525-F8E1-CCA5-5AA1B8915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746D5-382D-5BE4-DB61-1A456B975D0D}"/>
              </a:ext>
            </a:extLst>
          </p:cNvPr>
          <p:cNvSpPr txBox="1"/>
          <p:nvPr/>
        </p:nvSpPr>
        <p:spPr>
          <a:xfrm>
            <a:off x="0" y="192505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Simulation Results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68A153-A717-2E63-ED73-58FBEEE01987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DBAF92-6947-DD55-53D1-58945877D15A}"/>
              </a:ext>
            </a:extLst>
          </p:cNvPr>
          <p:cNvSpPr/>
          <p:nvPr/>
        </p:nvSpPr>
        <p:spPr>
          <a:xfrm>
            <a:off x="1259637" y="5583421"/>
            <a:ext cx="1435396" cy="9781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 = 16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K = 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L = 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A3ECF669-40B9-CD9C-983D-6BC9DBB7CDC6}"/>
                  </a:ext>
                </a:extLst>
              </p:cNvPr>
              <p:cNvSpPr/>
              <p:nvPr/>
            </p:nvSpPr>
            <p:spPr>
              <a:xfrm>
                <a:off x="9304082" y="5554385"/>
                <a:ext cx="1845612" cy="103622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0.1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0.1</m:t>
                      </m:r>
                    </m:oMath>
                  </m:oMathPara>
                </a14:m>
                <a:endParaRPr dirty="0"/>
              </a:p>
              <a:p>
                <a:pPr algn="ctr"/>
                <a:endParaRPr dirty="0"/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A3ECF669-40B9-CD9C-983D-6BC9DBB7CD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4082" y="5554385"/>
                <a:ext cx="1845612" cy="103622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2FEA05F-C6F4-AC8D-E744-49AB1471B3B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3501" y="1456523"/>
            <a:ext cx="5801914" cy="3838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989943-4DAE-6CB1-2191-2D4E60CD8CC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87427" y="1456523"/>
            <a:ext cx="5072514" cy="36810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BFF4F6-1D33-C225-1213-4A7A82828129}"/>
              </a:ext>
            </a:extLst>
          </p:cNvPr>
          <p:cNvSpPr txBox="1"/>
          <p:nvPr/>
        </p:nvSpPr>
        <p:spPr>
          <a:xfrm>
            <a:off x="7637645" y="5091743"/>
            <a:ext cx="3859732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511300"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Averaging Window </a:t>
            </a:r>
            <a:r>
              <a:rPr lang="en-IN" sz="1400" i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1400" i="1" kern="100" baseline="-25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endParaRPr lang="en-IN" sz="10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419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176D-8EC9-F643-D96D-4B5C69DD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9E56-719C-7309-390B-CC0192F103B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23631" y="819205"/>
            <a:ext cx="11791517" cy="2284656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rgbClr val="00B050"/>
                </a:solidFill>
              </a:rPr>
              <a:t>Experiments: </a:t>
            </a:r>
            <a:r>
              <a:rPr lang="en-US" sz="4400" dirty="0"/>
              <a:t>RIS Gain without the Pain via Randomization and Opportunistic Scheduling in 5G NR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D73592-AF29-DAA3-4FD7-6EE746DDB058}"/>
              </a:ext>
            </a:extLst>
          </p:cNvPr>
          <p:cNvCxnSpPr>
            <a:cxnSpLocks/>
          </p:cNvCxnSpPr>
          <p:nvPr/>
        </p:nvCxnSpPr>
        <p:spPr>
          <a:xfrm>
            <a:off x="583861" y="3103861"/>
            <a:ext cx="105300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E2DCC2-89C7-8C8F-AD2F-08FBC02ACFA0}"/>
              </a:ext>
            </a:extLst>
          </p:cNvPr>
          <p:cNvSpPr txBox="1"/>
          <p:nvPr/>
        </p:nvSpPr>
        <p:spPr>
          <a:xfrm>
            <a:off x="3824367" y="3242632"/>
            <a:ext cx="494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Guna Sai Kiran Nekkanti</a:t>
            </a:r>
            <a:endParaRPr lang="en-IN" sz="28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BBCAC-CEBD-7795-70B3-08D4299C88FA}"/>
              </a:ext>
            </a:extLst>
          </p:cNvPr>
          <p:cNvSpPr txBox="1"/>
          <p:nvPr/>
        </p:nvSpPr>
        <p:spPr>
          <a:xfrm>
            <a:off x="276851" y="3904622"/>
            <a:ext cx="11638297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>
                <a:latin typeface="Times New Roman"/>
                <a:cs typeface="Times New Roman"/>
              </a:rPr>
              <a:t>Joint work with: </a:t>
            </a:r>
            <a:r>
              <a:rPr lang="en-US" sz="2800" b="1" dirty="0">
                <a:solidFill>
                  <a:schemeClr val="accent1"/>
                </a:solidFill>
                <a:latin typeface="Times New Roman"/>
                <a:cs typeface="Times New Roman"/>
              </a:rPr>
              <a:t>L. Yashvanth, Raju Malleboina, Venkatareddy Akumalla, 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Debdeep Sarkar,  Prof. Chandra R. Murthy</a:t>
            </a:r>
            <a:endParaRPr lang="en-IN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2" descr="IEEE ANTS 2025| IEEE International Conference on Advanced Networks and  Telecommunications Systems | 15–18 December 2025 // Delhi, India">
            <a:extLst>
              <a:ext uri="{FF2B5EF4-FFF2-40B4-BE49-F238E27FC236}">
                <a16:creationId xmlns:a16="http://schemas.microsoft.com/office/drawing/2014/main" id="{54697621-65EF-85EF-BD67-B00C92643E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9231" y="-1987193"/>
            <a:ext cx="5568593" cy="556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878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1934-1397-7D64-AEAD-9C6D8B39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F61E052-1072-508E-40CF-8BC8E7CA765E}"/>
              </a:ext>
            </a:extLst>
          </p:cNvPr>
          <p:cNvSpPr txBox="1"/>
          <p:nvPr/>
        </p:nvSpPr>
        <p:spPr>
          <a:xfrm>
            <a:off x="96253" y="105877"/>
            <a:ext cx="922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Indigenously Built RIS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01CBA6-A340-DB46-3033-029FA8389D88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radiator&#10;&#10;AI-generated content may be incorrect.">
            <a:extLst>
              <a:ext uri="{FF2B5EF4-FFF2-40B4-BE49-F238E27FC236}">
                <a16:creationId xmlns:a16="http://schemas.microsoft.com/office/drawing/2014/main" id="{610365CA-D095-612C-3A2D-877AA3C97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5329"/>
            <a:ext cx="5140977" cy="2532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610957-DF50-F5CD-35D7-F74902FD7FD6}"/>
                  </a:ext>
                </a:extLst>
              </p:cNvPr>
              <p:cNvSpPr txBox="1"/>
              <p:nvPr/>
            </p:nvSpPr>
            <p:spPr>
              <a:xfrm>
                <a:off x="5159902" y="1045096"/>
                <a:ext cx="6925062" cy="2951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just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RIS design using a 1-bit digitally coded metasurface at </a:t>
                </a: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 GHz</a:t>
                </a:r>
              </a:p>
              <a:p>
                <a:pPr marL="285750" marR="0" lvl="0" indent="-285750" algn="just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Has </a:t>
                </a: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1024 elements</a:t>
                </a: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 each element is </a:t>
                </a: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configured via PIN-diode</a:t>
                </a:r>
              </a:p>
              <a:p>
                <a:pPr marL="285750" marR="0" lvl="0" indent="-285750" algn="just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Single-layer design with a single switch per unit cell</a:t>
                </a:r>
              </a:p>
              <a:p>
                <a:pPr marL="285750" marR="0" lvl="0" indent="-285750" algn="just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 </a:t>
                </a: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FPGA controller </a:t>
                </a: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used for programming &amp; dynamic steering</a:t>
                </a:r>
              </a:p>
              <a:p>
                <a:pPr marL="285750" marR="0" lvl="0" indent="-285750" algn="just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Scan loss-free steering range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75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75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kumimoji="0" lang="en-US" sz="1800" b="0" i="1" u="none" strike="noStrike" kern="1200" cap="none" spc="75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p>
                    <m:r>
                      <a:rPr kumimoji="0" lang="en-US" sz="1800" b="0" i="1" u="none" strike="noStrike" kern="1200" cap="none" spc="75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kumimoji="0" lang="en-US" sz="1800" b="0" i="1" u="none" strike="noStrike" kern="1200" cap="none" spc="75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75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60</m:t>
                        </m:r>
                      </m:e>
                      <m:sup>
                        <m:r>
                          <a:rPr kumimoji="0" lang="en-US" sz="1800" b="0" i="1" u="none" strike="noStrike" kern="1200" cap="none" spc="75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kumimoji="0" lang="en-US" sz="1800" b="0" i="0" u="none" strike="noStrike" kern="1200" cap="none" spc="75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 algn="just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Low cost and low power </a:t>
                </a: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consumption (&lt;2 W) design</a:t>
                </a:r>
              </a:p>
              <a:p>
                <a:pPr marL="285750" marR="0" lvl="0" indent="-285750" algn="just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Suitable for </a:t>
                </a: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432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sub-6 GHz wireless communications </a:t>
                </a:r>
                <a:r>
                  <a:rPr kumimoji="0" lang="en-US" sz="1800" b="0" i="0" u="none" strike="noStrike" kern="1200" cap="none" spc="75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&amp; other freq.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610957-DF50-F5CD-35D7-F74902FD7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902" y="1045096"/>
                <a:ext cx="6925062" cy="2951064"/>
              </a:xfrm>
              <a:prstGeom prst="rect">
                <a:avLst/>
              </a:prstGeom>
              <a:blipFill>
                <a:blip r:embed="rId3"/>
                <a:stretch>
                  <a:fillRect l="-528" b="-22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36">
            <a:extLst>
              <a:ext uri="{FF2B5EF4-FFF2-40B4-BE49-F238E27FC236}">
                <a16:creationId xmlns:a16="http://schemas.microsoft.com/office/drawing/2014/main" id="{B976E59E-FDD2-C534-92C2-038A08826579}"/>
              </a:ext>
            </a:extLst>
          </p:cNvPr>
          <p:cNvSpPr txBox="1"/>
          <p:nvPr/>
        </p:nvSpPr>
        <p:spPr>
          <a:xfrm>
            <a:off x="1118049" y="841550"/>
            <a:ext cx="28283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75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Full RIS structure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0806F-5027-6C22-43A9-F94EB2B4AF91}"/>
              </a:ext>
            </a:extLst>
          </p:cNvPr>
          <p:cNvSpPr txBox="1"/>
          <p:nvPr/>
        </p:nvSpPr>
        <p:spPr>
          <a:xfrm>
            <a:off x="112295" y="4627735"/>
            <a:ext cx="26100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Unit-cell of a 1-bit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digitally coded RIS: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3D 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4FD439-D0EE-E22C-A657-FD0DE276C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798" y="4181243"/>
            <a:ext cx="5107711" cy="1837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DB8D94-A880-FF4C-0E1E-2F0DD1AF4F29}"/>
              </a:ext>
            </a:extLst>
          </p:cNvPr>
          <p:cNvSpPr/>
          <p:nvPr/>
        </p:nvSpPr>
        <p:spPr>
          <a:xfrm>
            <a:off x="8460607" y="5043088"/>
            <a:ext cx="3455469" cy="569580"/>
          </a:xfrm>
          <a:prstGeom prst="roundRect">
            <a:avLst/>
          </a:prstGeom>
          <a:solidFill>
            <a:schemeClr val="accent3">
              <a:lumMod val="25000"/>
              <a:lumOff val="75000"/>
            </a:schemeClr>
          </a:solidFill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Equivalent circuit of PIN diode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D2B7FB-9D43-CFF0-B3C1-B15B580D3EB2}"/>
              </a:ext>
            </a:extLst>
          </p:cNvPr>
          <p:cNvCxnSpPr>
            <a:cxnSpLocks/>
          </p:cNvCxnSpPr>
          <p:nvPr/>
        </p:nvCxnSpPr>
        <p:spPr>
          <a:xfrm flipH="1">
            <a:off x="7769509" y="5335976"/>
            <a:ext cx="6911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47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CB73A4-AB6B-47EB-2CD1-131A2DB9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A25764E-239B-9111-13C1-20E0F9A86309}"/>
              </a:ext>
            </a:extLst>
          </p:cNvPr>
          <p:cNvSpPr txBox="1"/>
          <p:nvPr/>
        </p:nvSpPr>
        <p:spPr>
          <a:xfrm>
            <a:off x="96253" y="105877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The OpenAirInterface for 5G NR 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9132A9-F853-5BA9-6054-8B110425DBFD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96971C-6C53-B3A8-220A-0EBF2F8D651D}"/>
              </a:ext>
            </a:extLst>
          </p:cNvPr>
          <p:cNvSpPr txBox="1"/>
          <p:nvPr/>
        </p:nvSpPr>
        <p:spPr>
          <a:xfrm>
            <a:off x="151877" y="2743360"/>
            <a:ext cx="2726719" cy="366189"/>
          </a:xfrm>
          <a:prstGeom prst="rect">
            <a:avLst/>
          </a:prstGeom>
          <a:solidFill>
            <a:srgbClr val="66FF66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2870F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Discrete-Rate Adaptation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12870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EC2AE0-3560-164F-9237-AB375393A719}"/>
              </a:ext>
            </a:extLst>
          </p:cNvPr>
          <p:cNvSpPr/>
          <p:nvPr/>
        </p:nvSpPr>
        <p:spPr>
          <a:xfrm>
            <a:off x="151878" y="2764308"/>
            <a:ext cx="2726719" cy="36618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6082C8-1AF1-30B4-F158-B3AE165177EE}"/>
              </a:ext>
            </a:extLst>
          </p:cNvPr>
          <p:cNvSpPr/>
          <p:nvPr/>
        </p:nvSpPr>
        <p:spPr>
          <a:xfrm>
            <a:off x="96253" y="1432333"/>
            <a:ext cx="5312526" cy="120981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40 MHz bandwidth (5 GHz carrier), 30 kHz SCS.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0.5 ms slots with 14 OFDM symbols.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TDD frame: 10-slot periodicity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D111DE-2F66-1041-F75D-F681B5BE0C97}"/>
              </a:ext>
            </a:extLst>
          </p:cNvPr>
          <p:cNvSpPr/>
          <p:nvPr/>
        </p:nvSpPr>
        <p:spPr>
          <a:xfrm>
            <a:off x="96253" y="3257898"/>
            <a:ext cx="6513712" cy="141019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Uses 3GPP MCS Table 1 (29 levels).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MCS range: 3 to CQI-dependent max (CQI every 80 ms).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HARQ adjust: ±1 MCS based on BLER (&lt;0.05 / &gt;0.15).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Retransmissions: Up to 3 HARQ repeats with same MCS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B4581B-515C-D04E-0736-697B753A4402}"/>
              </a:ext>
            </a:extLst>
          </p:cNvPr>
          <p:cNvSpPr txBox="1"/>
          <p:nvPr/>
        </p:nvSpPr>
        <p:spPr>
          <a:xfrm>
            <a:off x="151878" y="950418"/>
            <a:ext cx="281544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Communication Resources: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145DE83-5552-E19E-DA68-B952B920E672}"/>
              </a:ext>
            </a:extLst>
          </p:cNvPr>
          <p:cNvSpPr/>
          <p:nvPr/>
        </p:nvSpPr>
        <p:spPr>
          <a:xfrm>
            <a:off x="181314" y="940837"/>
            <a:ext cx="2786005" cy="36933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603C7D-1B84-B550-A5E5-D07FAD50B6E1}"/>
              </a:ext>
            </a:extLst>
          </p:cNvPr>
          <p:cNvSpPr txBox="1"/>
          <p:nvPr/>
        </p:nvSpPr>
        <p:spPr>
          <a:xfrm>
            <a:off x="181314" y="4795490"/>
            <a:ext cx="21849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Resource Allocation: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814A4D9-DC89-190E-37DF-59AE41E30C15}"/>
              </a:ext>
            </a:extLst>
          </p:cNvPr>
          <p:cNvSpPr/>
          <p:nvPr/>
        </p:nvSpPr>
        <p:spPr>
          <a:xfrm>
            <a:off x="181314" y="4795490"/>
            <a:ext cx="2184934" cy="38455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44E602-5BD2-D3BB-1769-6045E120EA63}"/>
              </a:ext>
            </a:extLst>
          </p:cNvPr>
          <p:cNvSpPr txBox="1"/>
          <p:nvPr/>
        </p:nvSpPr>
        <p:spPr>
          <a:xfrm>
            <a:off x="96253" y="5283842"/>
            <a:ext cx="6983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In OAI, users are scheduled using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Proportional Fair scheduler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B53F08-1204-F409-DE34-C7E3F4F611B7}"/>
              </a:ext>
            </a:extLst>
          </p:cNvPr>
          <p:cNvSpPr txBox="1"/>
          <p:nvPr/>
        </p:nvSpPr>
        <p:spPr>
          <a:xfrm>
            <a:off x="91360" y="5756972"/>
            <a:ext cx="614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Scheduling rule: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owchart: Alternate Process 3">
                <a:extLst>
                  <a:ext uri="{FF2B5EF4-FFF2-40B4-BE49-F238E27FC236}">
                    <a16:creationId xmlns:a16="http://schemas.microsoft.com/office/drawing/2014/main" id="{8E6B421D-7D0C-47EC-F070-B668FD4318FC}"/>
                  </a:ext>
                </a:extLst>
              </p:cNvPr>
              <p:cNvSpPr/>
              <p:nvPr/>
            </p:nvSpPr>
            <p:spPr>
              <a:xfrm>
                <a:off x="6930189" y="5236543"/>
                <a:ext cx="4739713" cy="1410190"/>
              </a:xfrm>
              <a:prstGeom prst="flowChartAlternateProcess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Interpretation: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285750" indent="-285750" defTabSz="457200">
                  <a:buClr>
                    <a:srgbClr val="FF3399"/>
                  </a:buClr>
                  <a:buFont typeface="Wingdings" panose="05000000000000000000" pitchFamily="2" charset="2"/>
                  <a:buChar char="v"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  <m:r>
                      <a:rPr lang="en-US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→ more opportunistic (higher throughput).</a:t>
                </a:r>
              </a:p>
              <a:p>
                <a:pPr marL="285750" indent="-285750" defTabSz="457200">
                  <a:buClr>
                    <a:srgbClr val="FF3399"/>
                  </a:buClr>
                  <a:buFont typeface="Wingdings" panose="05000000000000000000" pitchFamily="2" charset="2"/>
                  <a:buChar char="v"/>
                  <a:defRPr/>
                </a:pPr>
                <a:r>
                  <a:rPr 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</a:t>
                </a:r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kumimoji="0" 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→ more fairness (frequent service to all UEs).</a:t>
                </a:r>
              </a:p>
            </p:txBody>
          </p:sp>
        </mc:Choice>
        <mc:Fallback xmlns="">
          <p:sp>
            <p:nvSpPr>
              <p:cNvPr id="4" name="Flowchart: Alternate Process 3">
                <a:extLst>
                  <a:ext uri="{FF2B5EF4-FFF2-40B4-BE49-F238E27FC236}">
                    <a16:creationId xmlns:a16="http://schemas.microsoft.com/office/drawing/2014/main" id="{8E6B421D-7D0C-47EC-F070-B668FD4318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189" y="5236543"/>
                <a:ext cx="4739713" cy="1410190"/>
              </a:xfrm>
              <a:prstGeom prst="flowChartAlternateProcess">
                <a:avLst/>
              </a:prstGeom>
              <a:blipFill>
                <a:blip r:embed="rId3"/>
                <a:stretch>
                  <a:fillRect t="-3404" b="-8085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8F6311-3021-996C-9606-B30768FFB5E7}"/>
                  </a:ext>
                </a:extLst>
              </p:cNvPr>
              <p:cNvSpPr txBox="1"/>
              <p:nvPr/>
            </p:nvSpPr>
            <p:spPr>
              <a:xfrm>
                <a:off x="1171431" y="6169409"/>
                <a:ext cx="2416751" cy="519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e>
                        <m:sup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1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0" lang="en-US" sz="16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∈</m:t>
                                  </m:r>
                                  <m:r>
                                    <m:rPr>
                                      <m:lit/>
                                    </m:r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{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,…,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𝐊</m:t>
                                  </m:r>
                                  <m:r>
                                    <m:rPr>
                                      <m:lit/>
                                    </m:r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}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8F6311-3021-996C-9606-B30768FFB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431" y="6169409"/>
                <a:ext cx="2416751" cy="519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1D96ADFA-FE5C-34FE-D1A8-E8FC31D0FC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223" y="950418"/>
            <a:ext cx="5127530" cy="37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68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CDA4E-8E91-8661-7A72-419AEC19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8B7EAE-BBEC-68D3-0D67-E81320DF4899}"/>
              </a:ext>
            </a:extLst>
          </p:cNvPr>
          <p:cNvSpPr txBox="1"/>
          <p:nvPr/>
        </p:nvSpPr>
        <p:spPr>
          <a:xfrm>
            <a:off x="96253" y="105877"/>
            <a:ext cx="922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Setup of our RIS-aided 5G NR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ABCBCB-7BDE-CF1C-D9A4-C6A93CD7BB22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BA7FB146-F59A-7D93-B473-B798E418AF5B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96EB4E-D5A5-B9AF-AB4D-54ECAD41B846}"/>
              </a:ext>
            </a:extLst>
          </p:cNvPr>
          <p:cNvSpPr txBox="1"/>
          <p:nvPr/>
        </p:nvSpPr>
        <p:spPr>
          <a:xfrm>
            <a:off x="8078055" y="1051671"/>
            <a:ext cx="35125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5G NR Testbed Setup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7138DC7-4B2C-1C62-9396-A0FC81BCC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412" y="1464374"/>
            <a:ext cx="5579444" cy="4572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Implemented using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OpenAirInterface (OAI).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Operates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monolithic Stand-Alone (SA).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4582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Full 5G RAN protocol stack 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4582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5G core network.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USRPs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act as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RUs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OTA communication.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OAI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gNB and UE stacks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run on: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Intel i7,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 cores @ 4.9 GHz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 GB RAM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Ubuntu 22.04 LTS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low-latency kernel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AA2591-094D-A2D4-DDF6-A871782E8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02" y="1588170"/>
            <a:ext cx="7173380" cy="38647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5685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785F27-3671-D64A-EB33-5E8A317B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2289A-4071-D4B3-88DF-4FCDC2F70808}"/>
              </a:ext>
            </a:extLst>
          </p:cNvPr>
          <p:cNvSpPr txBox="1"/>
          <p:nvPr/>
        </p:nvSpPr>
        <p:spPr>
          <a:xfrm>
            <a:off x="0" y="192505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Block Diagram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FB004B-F57E-4F36-2266-F4D4B8F1EC9E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ACD4FF4-5051-6DD8-0505-73C15F695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649"/>
            <a:ext cx="12192000" cy="608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0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3454D-AE44-EADA-322F-9ECB6918F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383F0BA-4C17-F372-852F-5069169022AA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Core Idea 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D710F5-4273-01CD-5575-58FCA4F00794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1D7B72-EA47-A386-4079-E666D1571E04}"/>
                  </a:ext>
                </a:extLst>
              </p:cNvPr>
              <p:cNvSpPr txBox="1"/>
              <p:nvPr/>
            </p:nvSpPr>
            <p:spPr>
              <a:xfrm>
                <a:off x="96252" y="1079785"/>
                <a:ext cx="1161019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I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582C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Randomized RIS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RIS switches between phase states with a switching time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marR="0" lvl="0" indent="-28575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I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582C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Proportional fair scheduler: </a:t>
                </a: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gNB employs a PF scheduler with EWMA parameter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1D7B72-EA47-A386-4079-E666D1571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2" y="1079785"/>
                <a:ext cx="11610195" cy="830997"/>
              </a:xfrm>
              <a:prstGeom prst="rect">
                <a:avLst/>
              </a:prstGeom>
              <a:blipFill>
                <a:blip r:embed="rId3"/>
                <a:stretch>
                  <a:fillRect l="-735" t="-5882" b="-16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E57D4B-F8B4-9B6D-1988-093190FFE5DD}"/>
                  </a:ext>
                </a:extLst>
              </p:cNvPr>
              <p:cNvSpPr txBox="1"/>
              <p:nvPr/>
            </p:nvSpPr>
            <p:spPr>
              <a:xfrm>
                <a:off x="1406480" y="4382028"/>
                <a:ext cx="8295252" cy="1107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𝐔𝐬𝐢𝐧𝐠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𝐚𝐩𝐩𝐫𝐨𝐩𝐫𝐢𝐚𝐭𝐞𝐥𝐲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𝐜𝐡𝐨𝐬𝐞𝐧</m:t>
                      </m:r>
                      <m:r>
                        <a:rPr kumimoji="0" lang="en-US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r>
                        <a:rPr kumimoji="0" lang="en-I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sSub>
                        <m:sSubPr>
                          <m:ctrlPr>
                            <a:rPr kumimoji="0" lang="ar-AE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ar-AE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ar-AE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𝒄</m:t>
                          </m:r>
                        </m:sub>
                      </m:sSub>
                      <m:r>
                        <a:rPr kumimoji="0" lang="ar-AE" sz="2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sSub>
                        <m:sSubPr>
                          <m:ctrlP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𝑻</m:t>
                          </m:r>
                        </m:e>
                        <m:sub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𝒔</m:t>
                          </m:r>
                        </m:sub>
                      </m:sSub>
                      <m:r>
                        <a:rPr kumimoji="0" lang="ar-AE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ar-AE" sz="2800" b="1" i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ar-AE" sz="28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 </m:t>
                      </m:r>
                      <m:sSubSup>
                        <m:sSubSupPr>
                          <m:ctrlPr>
                            <a:rPr kumimoji="0" lang="ar-AE" sz="2800" b="1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𝒓𝒂𝒏𝒅</m:t>
                          </m:r>
                        </m:sub>
                        <m:sup>
                          <m:d>
                            <m:dPr>
                              <m:ctrlPr>
                                <a:rPr kumimoji="0" lang="ar-AE" sz="28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ar-AE" sz="28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𝑲</m:t>
                              </m:r>
                            </m:e>
                          </m:d>
                        </m:sup>
                      </m:sSubSup>
                      <m:r>
                        <a:rPr kumimoji="0" lang="ar-AE" sz="2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Sup>
                        <m:sSubSupPr>
                          <m:ctrlP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𝑹</m:t>
                          </m:r>
                        </m:e>
                        <m:sub>
                          <m:r>
                            <a:rPr kumimoji="0" lang="ar-AE" sz="2800" b="1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𝒐𝒑𝒕</m:t>
                          </m:r>
                        </m:sub>
                        <m:sup>
                          <m:d>
                            <m:dPr>
                              <m:ctrlPr>
                                <a:rPr kumimoji="0" lang="ar-AE" sz="28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ar-AE" sz="2800" b="1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𝑲</m:t>
                              </m:r>
                            </m:e>
                          </m:d>
                        </m:sup>
                      </m:sSubSup>
                      <m:r>
                        <a:rPr kumimoji="0" lang="ar-AE" sz="2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ar-AE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E57D4B-F8B4-9B6D-1988-093190FFE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480" y="4382028"/>
                <a:ext cx="8295252" cy="1107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E68CB8-A78A-FE34-ED84-875D8235EC05}"/>
              </a:ext>
            </a:extLst>
          </p:cNvPr>
          <p:cNvSpPr/>
          <p:nvPr/>
        </p:nvSpPr>
        <p:spPr>
          <a:xfrm>
            <a:off x="465024" y="2299477"/>
            <a:ext cx="10178167" cy="3325145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0D8847-901A-1595-F8D7-D52BEAA8195D}"/>
              </a:ext>
            </a:extLst>
          </p:cNvPr>
          <p:cNvSpPr/>
          <p:nvPr/>
        </p:nvSpPr>
        <p:spPr>
          <a:xfrm>
            <a:off x="465024" y="2299478"/>
            <a:ext cx="10178167" cy="873701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A random RIS phase will be optimal to atleast one UE: Multi-user diversity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B19B65-F42E-14CB-594C-E069AD6E8B36}"/>
                  </a:ext>
                </a:extLst>
              </p:cNvPr>
              <p:cNvSpPr txBox="1"/>
              <p:nvPr/>
            </p:nvSpPr>
            <p:spPr>
              <a:xfrm>
                <a:off x="624289" y="3195155"/>
                <a:ext cx="9859635" cy="1052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𝑜𝑝𝑡</m:t>
                        </m:r>
                      </m:sub>
                      <m:sup>
                        <m:d>
                          <m:dPr>
                            <m:ctrlPr>
                              <a:rPr kumimoji="0" lang="en-I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6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6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𝐾</m:t>
                            </m:r>
                          </m:e>
                        </m:d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</m:t>
                        </m:r>
                      </m:sup>
                    </m:sSubSup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:  Throughput under RR scheduling of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𝐊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UEs with optimized RIS phase.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I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kumimoji="0" lang="en-I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6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𝑟𝑎𝑛𝑑</m:t>
                        </m:r>
                      </m:sub>
                      <m:sup>
                        <m:d>
                          <m:dPr>
                            <m:ctrlPr>
                              <a:rPr kumimoji="0" lang="en-I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FF006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FF006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𝐾</m:t>
                            </m:r>
                          </m:e>
                        </m:d>
                      </m:sup>
                    </m:sSubSup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:  Throughput under PF scheduling of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𝐊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UEs with randomized RIS phase</a:t>
                </a: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3B19B65-F42E-14CB-594C-E069AD6E8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89" y="3195155"/>
                <a:ext cx="9859635" cy="1052083"/>
              </a:xfrm>
              <a:prstGeom prst="rect">
                <a:avLst/>
              </a:prstGeom>
              <a:blipFill>
                <a:blip r:embed="rId5"/>
                <a:stretch>
                  <a:fillRect b="-104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Graphic 20" descr="Key">
            <a:extLst>
              <a:ext uri="{FF2B5EF4-FFF2-40B4-BE49-F238E27FC236}">
                <a16:creationId xmlns:a16="http://schemas.microsoft.com/office/drawing/2014/main" id="{049B8626-C4FA-402F-F539-1DA8B6D0CE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0076085" y="2831221"/>
            <a:ext cx="2889233" cy="226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12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0B5C-23C6-9644-DF4D-BC7186841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2E84BAD-DBD7-CBAD-3C83-774C63BB47AD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With RIS and Without RIS (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Random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 Switching)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C89307-1F51-2463-EE06-45988DC9B471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367EA237-3C1B-3E54-BBD4-96EAF1B807EF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826018-7D88-74A1-8CC1-9F51A889D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375715"/>
              </p:ext>
            </p:extLst>
          </p:nvPr>
        </p:nvGraphicFramePr>
        <p:xfrm>
          <a:off x="221816" y="1181996"/>
          <a:ext cx="8128000" cy="27455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8866515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603595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742556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560896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14924547"/>
                    </a:ext>
                  </a:extLst>
                </a:gridCol>
              </a:tblGrid>
              <a:tr h="68079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vs without RIS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RSRP (in dBm)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Throughput (in Mbps)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21334"/>
                  </a:ext>
                </a:extLst>
              </a:tr>
              <a:tr h="705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5409"/>
                  </a:ext>
                </a:extLst>
              </a:tr>
              <a:tr h="6610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Without RIS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25.2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26.3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64101"/>
                  </a:ext>
                </a:extLst>
              </a:tr>
              <a:tr h="6986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RIS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-100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-97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55.9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2177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croll: Horizontal 14">
                <a:extLst>
                  <a:ext uri="{FF2B5EF4-FFF2-40B4-BE49-F238E27FC236}">
                    <a16:creationId xmlns:a16="http://schemas.microsoft.com/office/drawing/2014/main" id="{EA264E2E-A3CA-EAF1-A252-7F0A8D91D02C}"/>
                  </a:ext>
                </a:extLst>
              </p:cNvPr>
              <p:cNvSpPr/>
              <p:nvPr/>
            </p:nvSpPr>
            <p:spPr>
              <a:xfrm>
                <a:off x="46677" y="4081117"/>
                <a:ext cx="3811169" cy="2060166"/>
              </a:xfrm>
              <a:prstGeom prst="horizontalScroll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E4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Experiment Parameters: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Switching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0" lang="en-US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1,3</a:t>
                </a:r>
                <a:r>
                  <a:rPr kumimoji="0" lang="en-US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9, 15 sec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PF Parameters: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alt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100,  2000,  20000</m:t>
                    </m:r>
                  </m:oMath>
                </a14:m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.</a:t>
                </a: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71E4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Scroll: Horizontal 14">
                <a:extLst>
                  <a:ext uri="{FF2B5EF4-FFF2-40B4-BE49-F238E27FC236}">
                    <a16:creationId xmlns:a16="http://schemas.microsoft.com/office/drawing/2014/main" id="{EA264E2E-A3CA-EAF1-A252-7F0A8D91D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7" y="4081117"/>
                <a:ext cx="3811169" cy="2060166"/>
              </a:xfrm>
              <a:prstGeom prst="horizontalScroll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BBDBA389-4A97-5579-A576-C041D6CF95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1254" y="4511036"/>
                <a:ext cx="8382423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kumimoji="0" lang="en-US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must be long enough for the aligned UE to benefit from the RIS beamforming gain.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must not be too long, otherwise the PF scheduler will start serving the other UE.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So, the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must be tuned carefully for good system performance.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In this work,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kumimoji="0" lang="en-US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is chosen empirically.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BBDBA389-4A97-5579-A576-C041D6CF9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1254" y="4511036"/>
                <a:ext cx="8382423" cy="1200329"/>
              </a:xfrm>
              <a:prstGeom prst="rect">
                <a:avLst/>
              </a:prstGeom>
              <a:blipFill>
                <a:blip r:embed="rId4"/>
                <a:stretch>
                  <a:fillRect l="-509" t="-2538" r="-509" b="-76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8AEA2009-7A8A-4F20-D41F-E6FC24341764}"/>
              </a:ext>
            </a:extLst>
          </p:cNvPr>
          <p:cNvSpPr/>
          <p:nvPr/>
        </p:nvSpPr>
        <p:spPr>
          <a:xfrm rot="5568897">
            <a:off x="8172098" y="2967603"/>
            <a:ext cx="1148028" cy="737101"/>
          </a:xfrm>
          <a:prstGeom prst="curvedDownArrow">
            <a:avLst>
              <a:gd name="adj1" fmla="val 25000"/>
              <a:gd name="adj2" fmla="val 61462"/>
              <a:gd name="adj3" fmla="val 46650"/>
            </a:avLst>
          </a:prstGeom>
          <a:solidFill>
            <a:srgbClr val="B71E4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966206-5BE5-97E8-D832-E485CB9CD1AB}"/>
                  </a:ext>
                </a:extLst>
              </p:cNvPr>
              <p:cNvSpPr txBox="1"/>
              <p:nvPr/>
            </p:nvSpPr>
            <p:spPr>
              <a:xfrm>
                <a:off x="4314556" y="4132412"/>
                <a:ext cx="6182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E4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Choice of the switching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B71E4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B71E4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kumimoji="0" 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B71E4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E4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:</a:t>
                </a:r>
                <a:endPara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B71E4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966206-5BE5-97E8-D832-E485CB9CD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556" y="4132412"/>
                <a:ext cx="6182832" cy="369332"/>
              </a:xfrm>
              <a:prstGeom prst="rect">
                <a:avLst/>
              </a:prstGeom>
              <a:blipFill>
                <a:blip r:embed="rId5"/>
                <a:stretch>
                  <a:fillRect l="-888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B06A383-0076-14A0-E05F-700C439DDED6}"/>
              </a:ext>
            </a:extLst>
          </p:cNvPr>
          <p:cNvSpPr txBox="1"/>
          <p:nvPr/>
        </p:nvSpPr>
        <p:spPr>
          <a:xfrm>
            <a:off x="8893996" y="1753697"/>
            <a:ext cx="2925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RSRP increment: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10-13 dB  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Rate increment: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Mbps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DD3637F8-7333-D338-8CA9-FA6AE43DF5AD}"/>
              </a:ext>
            </a:extLst>
          </p:cNvPr>
          <p:cNvSpPr/>
          <p:nvPr/>
        </p:nvSpPr>
        <p:spPr>
          <a:xfrm>
            <a:off x="8455631" y="1525260"/>
            <a:ext cx="3736369" cy="1103968"/>
          </a:xfrm>
          <a:prstGeom prst="cloud">
            <a:avLst/>
          </a:prstGeom>
          <a:noFill/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195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BFD6-B39F-A3EC-E899-D6FA30DCF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419A86-E504-4CE8-690F-783DCF0FA0DC}"/>
                  </a:ext>
                </a:extLst>
              </p:cNvPr>
              <p:cNvSpPr txBox="1"/>
              <p:nvPr/>
            </p:nvSpPr>
            <p:spPr>
              <a:xfrm>
                <a:off x="96253" y="77001"/>
                <a:ext cx="99428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RSRP and Throughput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3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3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sz="3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sub>
                        </m:sSub>
                        <m: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20000</m:t>
                        </m:r>
                        <m: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3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3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sz="3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sub>
                        </m:sSub>
                        <m: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 </m:t>
                        </m:r>
                        <m: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  <m: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sec</m:t>
                        </m:r>
                      </m:e>
                    </m:d>
                  </m:oMath>
                </a14:m>
                <a:endParaRPr kumimoji="0" lang="en-I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419A86-E504-4CE8-690F-783DCF0FA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3" y="77001"/>
                <a:ext cx="9942896" cy="646331"/>
              </a:xfrm>
              <a:prstGeom prst="rect">
                <a:avLst/>
              </a:prstGeom>
              <a:blipFill>
                <a:blip r:embed="rId2"/>
                <a:stretch>
                  <a:fillRect l="-1901" t="-15094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1B00DB-BFE6-CE17-9C9C-98F77AFF88A1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BAC2CDB4-7692-0CC1-0491-12F3BCCCDAF4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BF092F-88CB-2AA4-0154-6646E24AC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91" y="1144135"/>
            <a:ext cx="5795409" cy="4569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78AA35-4F3F-A11F-57C4-512B4C29B2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110" y="1144135"/>
            <a:ext cx="5657299" cy="436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94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C6866-F17A-A445-B612-568A7156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BC725B6-D9CC-A385-E0CD-79D61580635B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BLER and MCS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97CCC-C20D-4898-C1AC-43E247D471CD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C79830BB-AF7C-4E91-8080-528D97D8921D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1F95F-7641-CC24-66F1-45E4B3465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245465"/>
            <a:ext cx="5726820" cy="4395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B5746C-8DBD-1761-E617-0191BFCB6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003" y="1217363"/>
            <a:ext cx="5726821" cy="442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77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ACDD1-4B1D-2E72-F35C-6A1E74AF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B356E6E-CD38-FF5E-57C4-0C1E1F92BCFB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Randomized RIS Can Procure Full Benefits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785861-3021-94A2-273D-7D70A40D7E60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C9B07FB3-2006-7917-FCA0-F7F34E4BDAD5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969AE0-DBA1-5749-BF78-DAA17759B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8" y="1124519"/>
            <a:ext cx="5495843" cy="4569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F50EC4-A14B-8E79-5C97-540303555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038" y="1830373"/>
            <a:ext cx="6022350" cy="315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91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05B1-8DEA-95C6-E1A4-1D579CF3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A7032DF-26DD-D83E-6F0D-DF59E4EED0E0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Randomized RIS always Helps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FD6B03-760B-C4FF-1AFC-55C9E03390E6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50688A40-9FC9-C4E6-09E8-F16A9B1E7E41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3A8E85-1968-2CDD-D7E8-927534FA5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66" y="1397708"/>
            <a:ext cx="5098432" cy="4249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BD9E73-A5C7-8468-DBA3-072493A0F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589" y="1210492"/>
            <a:ext cx="5076645" cy="443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98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211647-9BB0-F2C4-52D3-A08331368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703235-5A27-8FA5-C7E4-6A311E1A77B4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Conclusion 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A3B37A-972E-AC2C-1F3F-D958C56C7C2A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0B75989-C948-2E2E-2458-E00FFE24B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40" y="784096"/>
            <a:ext cx="11819822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 integration with a real-time 5G system significantly improves performance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RIS configurations achieve near-optimal gains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5G NR opportunistic scheduling naturally exploits RIS benefits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Near-optimal performance without explicit RIS optimization enables low-complexity integration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502C24-6331-029A-6A7E-A82B8DBF4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3" y="2985811"/>
            <a:ext cx="8912993" cy="96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evaluation to large-scale 5G networks with more 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scalability and performance under dynamic and mobile scenarios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B455E-E4E2-0C4A-B296-8EFA63A5A732}"/>
              </a:ext>
            </a:extLst>
          </p:cNvPr>
          <p:cNvSpPr txBox="1"/>
          <p:nvPr/>
        </p:nvSpPr>
        <p:spPr>
          <a:xfrm>
            <a:off x="34752" y="2697840"/>
            <a:ext cx="2923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Future Work :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0BFDD12-2159-CB91-456C-660227C684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61861" y="1394861"/>
            <a:ext cx="2186539" cy="218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61E4D-5558-0FE9-BD51-EF504201EF21}"/>
              </a:ext>
            </a:extLst>
          </p:cNvPr>
          <p:cNvSpPr txBox="1"/>
          <p:nvPr/>
        </p:nvSpPr>
        <p:spPr>
          <a:xfrm>
            <a:off x="96253" y="3884584"/>
            <a:ext cx="2800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Publications: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A5E61C-18C5-9879-181D-D3CFB27B9B7E}"/>
              </a:ext>
            </a:extLst>
          </p:cNvPr>
          <p:cNvSpPr txBox="1"/>
          <p:nvPr/>
        </p:nvSpPr>
        <p:spPr>
          <a:xfrm>
            <a:off x="186089" y="4438082"/>
            <a:ext cx="11819822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ICC 2026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Paper Accepted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Yashvanth, M. Raju, A. Venkata Reddy, N. Guna Sai Kiran, Chandra R. Murthy,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Debdeep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Sarkar,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/>
              <a:t>“</a:t>
            </a:r>
            <a:r>
              <a:rPr lang="en-IN" sz="2000" i="1" dirty="0">
                <a:solidFill>
                  <a:srgbClr val="00B0F0"/>
                </a:solidFill>
              </a:rPr>
              <a:t>Practical RIS Gain Without the Pain: Randomization and Opportunistic Scheduling in 5G NR”</a:t>
            </a:r>
            <a:endParaRPr lang="en-IN" sz="2000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93094-B76F-4621-882E-607A519FE8D8}"/>
              </a:ext>
            </a:extLst>
          </p:cNvPr>
          <p:cNvSpPr txBox="1"/>
          <p:nvPr/>
        </p:nvSpPr>
        <p:spPr>
          <a:xfrm>
            <a:off x="114440" y="5638403"/>
            <a:ext cx="74499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ANTS 2025, IIIT Delhi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Demo Presented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20A309-E183-1CE9-9DF1-7E1AD2929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947" y="2634200"/>
            <a:ext cx="1704213" cy="16635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3FF2E2-1EA4-D363-A1E5-1501DBF074D0}"/>
              </a:ext>
            </a:extLst>
          </p:cNvPr>
          <p:cNvSpPr txBox="1"/>
          <p:nvPr/>
        </p:nvSpPr>
        <p:spPr>
          <a:xfrm>
            <a:off x="96253" y="6073725"/>
            <a:ext cx="10175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MobiCom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2025, Open-AI RAN Workshop, Hong Kong, China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Poster Presented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703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5957-A9C9-242C-0389-4FF11E84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6FD123-D0CE-93E2-071E-89CC454390DD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References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F65AC3-6F67-0D47-6A0E-5D5E7645901E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8A509F30-5B10-A432-F67F-9AC2EEA5A11A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FFC5D-F5CC-0582-6BBA-BBEDE91ABC99}"/>
              </a:ext>
            </a:extLst>
          </p:cNvPr>
          <p:cNvSpPr txBox="1"/>
          <p:nvPr/>
        </p:nvSpPr>
        <p:spPr>
          <a:xfrm>
            <a:off x="96253" y="893434"/>
            <a:ext cx="12095747" cy="25355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R. Malleboina and D. Sarkar, "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Digitally Coded Intelligent Reflecting Surface for 6G Wireless Communication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," Proc. 19th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European Conference on Antennas and Propagation (EuCAP),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Stockholm, Sweden, 2025, pp. 1-5.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L. Yashvanth, C. R. Murthy and B. D. Rao, "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Spatial Correlation-Aware Opportunistic Beamforming in IRS-Aided Multi-User Systems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," in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IEEE Wireless Communications Letters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vol. 14, no. 10, Oct. 2025.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L. Yashvanth and Chandra R. Murthy,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“Performance Analysis of IRS Assisted Opportunistic Communications,”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IEEE Transactions on Signal Processing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vol. 71, pp. 2056-2070,</a:t>
            </a:r>
            <a: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Jun. 2023 </a:t>
            </a:r>
          </a:p>
        </p:txBody>
      </p:sp>
      <p:pic>
        <p:nvPicPr>
          <p:cNvPr id="3074" name="Picture 2" descr="100+ Thank You Pictures | Download Free Images on Unsplash">
            <a:extLst>
              <a:ext uri="{FF2B5EF4-FFF2-40B4-BE49-F238E27FC236}">
                <a16:creationId xmlns:a16="http://schemas.microsoft.com/office/drawing/2014/main" id="{3F75EC8B-3F01-CFAF-9A3F-CB372D7928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9"/>
          <a:stretch>
            <a:fillRect/>
          </a:stretch>
        </p:blipFill>
        <p:spPr bwMode="auto">
          <a:xfrm>
            <a:off x="0" y="3590228"/>
            <a:ext cx="12192000" cy="326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598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CC9A-24A5-089E-7FAB-91D5ED4B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465EC7-B143-A8F2-54E3-8A31E5564D57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With RIS and Without RIS (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/>
              </a:rPr>
              <a:t>Alternate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MT"/>
                <a:ea typeface="+mn-ea"/>
                <a:cs typeface="+mn-cs"/>
              </a:rPr>
              <a:t> Switching)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2A61C2-CBD2-D76F-7BB7-D308D3F1DA2B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8A78C5F7-7E86-A39C-0E90-744144AAD1C4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1DE1C0-91A8-1DA8-C7AD-BA588D537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922644"/>
              </p:ext>
            </p:extLst>
          </p:nvPr>
        </p:nvGraphicFramePr>
        <p:xfrm>
          <a:off x="221816" y="1181996"/>
          <a:ext cx="8128000" cy="27455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8866515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603595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742556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560896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14924547"/>
                    </a:ext>
                  </a:extLst>
                </a:gridCol>
              </a:tblGrid>
              <a:tr h="68079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vs without RIS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RSRP (in dBm)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Throughput (in Mbps)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21334"/>
                  </a:ext>
                </a:extLst>
              </a:tr>
              <a:tr h="705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UE-2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5409"/>
                  </a:ext>
                </a:extLst>
              </a:tr>
              <a:tr h="6610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Without RIS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-112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40.70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47.40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64101"/>
                  </a:ext>
                </a:extLst>
              </a:tr>
              <a:tr h="6986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RIS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-105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-102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50.10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58.20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2177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croll: Horizontal 14">
                <a:extLst>
                  <a:ext uri="{FF2B5EF4-FFF2-40B4-BE49-F238E27FC236}">
                    <a16:creationId xmlns:a16="http://schemas.microsoft.com/office/drawing/2014/main" id="{DE6684FF-AFF9-B9A7-1C20-40CA775CEF70}"/>
                  </a:ext>
                </a:extLst>
              </p:cNvPr>
              <p:cNvSpPr/>
              <p:nvPr/>
            </p:nvSpPr>
            <p:spPr>
              <a:xfrm>
                <a:off x="388146" y="3958998"/>
                <a:ext cx="3372987" cy="2060166"/>
              </a:xfrm>
              <a:prstGeom prst="horizontalScroll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E4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Experiment Parameters: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Switching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= 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9 sec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PF Parameters: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alt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alt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100</m:t>
                    </m:r>
                    <m:r>
                      <a:rPr kumimoji="0" lang="en-US" alt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 </m:t>
                    </m:r>
                    <m:r>
                      <a:rPr kumimoji="0" lang="en-US" alt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2000</m:t>
                    </m:r>
                    <m:r>
                      <a:rPr kumimoji="0" lang="en-US" alt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 </m:t>
                    </m:r>
                    <m:r>
                      <a:rPr kumimoji="0" lang="en-US" alt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20000</m:t>
                    </m:r>
                  </m:oMath>
                </a14:m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.</a:t>
                </a: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71E4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Scroll: Horizontal 14">
                <a:extLst>
                  <a:ext uri="{FF2B5EF4-FFF2-40B4-BE49-F238E27FC236}">
                    <a16:creationId xmlns:a16="http://schemas.microsoft.com/office/drawing/2014/main" id="{DE6684FF-AFF9-B9A7-1C20-40CA775CEF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6" y="3958998"/>
                <a:ext cx="3372987" cy="2060166"/>
              </a:xfrm>
              <a:prstGeom prst="horizontalScroll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FDE0C5F6-5902-64B2-4FF6-65AAD8698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753" y="4501745"/>
                <a:ext cx="8382423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kumimoji="0" lang="en-US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must be long enough for the aligned UE to benefit from the RIS beamforming gain.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must not be too long, otherwise the PF scheduler will start serving the other UE.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So, the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alt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must be tuned carefully for good system performance.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In this work,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kumimoji="0" lang="en-US" alt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is chosen empirically.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FDE0C5F6-5902-64B2-4FF6-65AAD86984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2753" y="4501745"/>
                <a:ext cx="8382423" cy="1200329"/>
              </a:xfrm>
              <a:prstGeom prst="rect">
                <a:avLst/>
              </a:prstGeom>
              <a:blipFill>
                <a:blip r:embed="rId4"/>
                <a:stretch>
                  <a:fillRect l="-509" t="-2030" r="-509" b="-76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CC148D88-6A31-0D8C-E577-221BF916B673}"/>
              </a:ext>
            </a:extLst>
          </p:cNvPr>
          <p:cNvSpPr/>
          <p:nvPr/>
        </p:nvSpPr>
        <p:spPr>
          <a:xfrm rot="5568897">
            <a:off x="8172098" y="2967603"/>
            <a:ext cx="1148028" cy="737101"/>
          </a:xfrm>
          <a:prstGeom prst="curvedDownArrow">
            <a:avLst>
              <a:gd name="adj1" fmla="val 25000"/>
              <a:gd name="adj2" fmla="val 61462"/>
              <a:gd name="adj3" fmla="val 46650"/>
            </a:avLst>
          </a:prstGeom>
          <a:solidFill>
            <a:srgbClr val="B71E4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F93621-19D0-3FD2-EF29-876470939C3A}"/>
                  </a:ext>
                </a:extLst>
              </p:cNvPr>
              <p:cNvSpPr txBox="1"/>
              <p:nvPr/>
            </p:nvSpPr>
            <p:spPr>
              <a:xfrm>
                <a:off x="3892753" y="4132412"/>
                <a:ext cx="6182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E4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Choice of the switching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B71E4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B71E4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kumimoji="0" lang="en-US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B71E4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71E4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:</a:t>
                </a:r>
                <a:endPara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B71E4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F93621-19D0-3FD2-EF29-876470939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753" y="4132412"/>
                <a:ext cx="6182832" cy="369332"/>
              </a:xfrm>
              <a:prstGeom prst="rect">
                <a:avLst/>
              </a:prstGeom>
              <a:blipFill>
                <a:blip r:embed="rId5"/>
                <a:stretch>
                  <a:fillRect l="-88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AFB908F-E216-EB9A-6019-8060BCF4CBA1}"/>
              </a:ext>
            </a:extLst>
          </p:cNvPr>
          <p:cNvSpPr txBox="1"/>
          <p:nvPr/>
        </p:nvSpPr>
        <p:spPr>
          <a:xfrm>
            <a:off x="8893996" y="1753697"/>
            <a:ext cx="2739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RSRP increment: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7–8 dB  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Rate increment: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10 Mbps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CE979173-936F-7598-8549-AF20BEBA52E2}"/>
              </a:ext>
            </a:extLst>
          </p:cNvPr>
          <p:cNvSpPr/>
          <p:nvPr/>
        </p:nvSpPr>
        <p:spPr>
          <a:xfrm>
            <a:off x="8455631" y="1525260"/>
            <a:ext cx="3736369" cy="1103968"/>
          </a:xfrm>
          <a:prstGeom prst="cloud">
            <a:avLst/>
          </a:prstGeom>
          <a:noFill/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996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9EAC-AF5B-4575-51F0-2D0FEE3D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A845CB-49DF-2848-B568-4075C1780A61}"/>
                  </a:ext>
                </a:extLst>
              </p:cNvPr>
              <p:cNvSpPr txBox="1"/>
              <p:nvPr/>
            </p:nvSpPr>
            <p:spPr>
              <a:xfrm>
                <a:off x="96253" y="77001"/>
                <a:ext cx="99428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RSRP and Throughput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3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3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sz="3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𝑐</m:t>
                            </m:r>
                          </m:sub>
                        </m:sSub>
                        <m:r>
                          <a:rPr kumimoji="0" lang="en-US" sz="3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=20000</m:t>
                        </m:r>
                      </m:e>
                    </m:d>
                  </m:oMath>
                </a14:m>
                <a:endParaRPr kumimoji="0" lang="en-IN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A845CB-49DF-2848-B568-4075C1780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3" y="77001"/>
                <a:ext cx="9942896" cy="646331"/>
              </a:xfrm>
              <a:prstGeom prst="rect">
                <a:avLst/>
              </a:prstGeom>
              <a:blipFill>
                <a:blip r:embed="rId2"/>
                <a:stretch>
                  <a:fillRect l="-1901" t="-15094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949A87-DA42-D1BA-555B-F1D9252FA725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33F85E21-C395-2FFE-828E-A13F1D5681C6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622DD-A06C-9CB8-923C-AAEC53C68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79" y="1407415"/>
            <a:ext cx="5393301" cy="4043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8BB0B-66A9-7A06-CC0F-128110C13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555" y="1407414"/>
            <a:ext cx="5393302" cy="404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7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F346-D9AC-850F-5710-2246745F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0F0745-5DB7-9D61-3DEC-A3152E526E41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BLER and MCS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759C17-6D99-497F-9128-5A286ADF2554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581F00A1-73F4-2735-9613-7C6900E5F524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5930CA-5FA0-121F-5AD3-0CAC7CE84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78" y="1421846"/>
            <a:ext cx="5354800" cy="4014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E20E2F-DED7-D47C-E304-9C180C769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088" y="1351160"/>
            <a:ext cx="5354800" cy="40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71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C8A1-3EF4-B8A4-B3F7-F6BB006C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7CE279-8519-84AA-4A28-778F6E696473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Randomized RIS Can Procure Full Benefits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5D745D-F1D8-CBB4-E727-8C0EA6E6EC17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1B3F8AD5-1692-B727-1B99-3691F90168E5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9568C0-B944-5617-3A99-73A36F27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0" y="1404990"/>
            <a:ext cx="5399771" cy="4048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CDC24B-5F61-5D41-4E7A-319CA312C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861" y="1404988"/>
            <a:ext cx="5399771" cy="404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391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7078</TotalTime>
  <Words>2295</Words>
  <Application>Microsoft Office PowerPoint</Application>
  <PresentationFormat>Widescreen</PresentationFormat>
  <Paragraphs>288</Paragraphs>
  <Slides>27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Cambria Math</vt:lpstr>
      <vt:lpstr>Gill Sans MT</vt:lpstr>
      <vt:lpstr>Sans Serif Collection</vt:lpstr>
      <vt:lpstr>Times New Roman</vt:lpstr>
      <vt:lpstr>Wingdings</vt:lpstr>
      <vt:lpstr>Gallery</vt:lpstr>
      <vt:lpstr> Opportunistic scheduling in IRS-assisted communication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Experiments: RIS Gain without the Pain via Randomization and Opportunistic Scheduling in 5G NR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Nekkanti Guna Sai Kiran</dc:creator>
  <cp:lastModifiedBy>Nekkanti Guna Sai Kiran</cp:lastModifiedBy>
  <cp:revision>42</cp:revision>
  <cp:lastPrinted>2026-01-26T10:35:38Z</cp:lastPrinted>
  <dcterms:created xsi:type="dcterms:W3CDTF">2025-12-16T14:46:07Z</dcterms:created>
  <dcterms:modified xsi:type="dcterms:W3CDTF">2026-05-06T09:13:14Z</dcterms:modified>
</cp:coreProperties>
</file>