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70" r:id="rId2"/>
    <p:sldId id="298" r:id="rId3"/>
    <p:sldId id="284" r:id="rId4"/>
    <p:sldId id="283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4508"/>
    <a:srgbClr val="0D670D"/>
    <a:srgbClr val="FF3399"/>
    <a:srgbClr val="FF2929"/>
    <a:srgbClr val="FFFFCC"/>
    <a:srgbClr val="00FF00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73605" autoAdjust="0"/>
  </p:normalViewPr>
  <p:slideViewPr>
    <p:cSldViewPr snapToGrid="0">
      <p:cViewPr varScale="1">
        <p:scale>
          <a:sx n="49" d="100"/>
          <a:sy n="49" d="100"/>
        </p:scale>
        <p:origin x="1376" y="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EF91E-AE45-4601-AA71-55D0A2DD3B14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F67C-5122-45C2-BB9D-BCF8695C51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751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0E72-56A1-8488-CF66-41F080F9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A2BBF-B6A2-645B-E6B8-C5C70E96C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7747B-8E44-7520-7997-02B2103C3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1134D-F373-3EED-59B1-419F23090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3874D-A20A-4B3E-9C12-F524953D5B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311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CDB66-40CA-2138-FF0D-CEAB98E1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E31C7-A4C9-2429-B0F9-8470169D4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7146C-67AD-606C-76DA-FA859A038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e.g</a:t>
            </a:r>
            <a:r>
              <a:rPr lang="en-US" dirty="0"/>
              <a:t>, when IRS is configured as an ULA, h1 can be modeled as steering vector of ULA.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5ED12-9917-6FCE-374C-B45F5E291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F67C-5122-45C2-BB9D-BCF8695C514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626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3874D-A20A-4B3E-9C12-F524953D5B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83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17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0122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9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921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301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231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70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197117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912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2/24/2026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828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2/24/2026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795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2/24/2026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00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46.png"/><Relationship Id="rId4" Type="http://schemas.openxmlformats.org/officeDocument/2006/relationships/image" Target="../media/image4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176D-8EC9-F643-D96D-4B5C69DD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9E56-719C-7309-390B-CC0192F103B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047312" y="885456"/>
            <a:ext cx="10020987" cy="1954907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 Opportunistic </a:t>
            </a:r>
            <a:r>
              <a:rPr lang="en-US" sz="5400" dirty="0">
                <a:solidFill>
                  <a:srgbClr val="FFC000"/>
                </a:solidFill>
              </a:rPr>
              <a:t>scheduling</a:t>
            </a:r>
            <a:r>
              <a:rPr lang="en-US" sz="5400" dirty="0"/>
              <a:t> in </a:t>
            </a:r>
            <a:r>
              <a:rPr lang="en-US" sz="5400" dirty="0">
                <a:solidFill>
                  <a:schemeClr val="accent1"/>
                </a:solidFill>
              </a:rPr>
              <a:t>IRS</a:t>
            </a:r>
            <a:r>
              <a:rPr lang="en-US" sz="5400" dirty="0"/>
              <a:t>-assisted communication systems</a:t>
            </a:r>
            <a:endParaRPr lang="en-US" sz="6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D73592-AF29-DAA3-4FD7-6EE746DDB058}"/>
              </a:ext>
            </a:extLst>
          </p:cNvPr>
          <p:cNvCxnSpPr>
            <a:cxnSpLocks/>
          </p:cNvCxnSpPr>
          <p:nvPr/>
        </p:nvCxnSpPr>
        <p:spPr>
          <a:xfrm>
            <a:off x="538261" y="3613288"/>
            <a:ext cx="105300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E2DCC2-89C7-8C8F-AD2F-08FBC02ACFA0}"/>
              </a:ext>
            </a:extLst>
          </p:cNvPr>
          <p:cNvSpPr txBox="1"/>
          <p:nvPr/>
        </p:nvSpPr>
        <p:spPr>
          <a:xfrm>
            <a:off x="3764889" y="4073224"/>
            <a:ext cx="4947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Guna Sai Kiran Nekkanti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ADCACE-8855-CD50-D44F-7D53E1105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61" y="4249621"/>
            <a:ext cx="1722923" cy="17229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E1FD6F-7E1F-25C6-75F3-525372B2D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273" y="4796499"/>
            <a:ext cx="3606273" cy="1101423"/>
          </a:xfrm>
          <a:prstGeom prst="rect">
            <a:avLst/>
          </a:prstGeom>
        </p:spPr>
      </p:pic>
      <p:sp>
        <p:nvSpPr>
          <p:cNvPr id="5" name="AutoShape 2" descr="IEEE ANTS 2025| IEEE International Conference on Advanced Networks and  Telecommunications Systems | 15–18 December 2025 // Delhi, India">
            <a:extLst>
              <a:ext uri="{FF2B5EF4-FFF2-40B4-BE49-F238E27FC236}">
                <a16:creationId xmlns:a16="http://schemas.microsoft.com/office/drawing/2014/main" id="{54697621-65EF-85EF-BD67-B00C92643E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9231" y="-1987193"/>
            <a:ext cx="5568593" cy="556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88A86-D5A4-C2BC-D6BC-7935C9E834F0}"/>
              </a:ext>
            </a:extLst>
          </p:cNvPr>
          <p:cNvSpPr txBox="1"/>
          <p:nvPr/>
        </p:nvSpPr>
        <p:spPr>
          <a:xfrm>
            <a:off x="4730725" y="4987659"/>
            <a:ext cx="2045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MTech ECE</a:t>
            </a:r>
            <a:endParaRPr lang="en-IN" sz="2800" b="1" dirty="0">
              <a:solidFill>
                <a:schemeClr val="accent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C79CC-F8CA-7A4A-B018-572785B08BBB}"/>
              </a:ext>
            </a:extLst>
          </p:cNvPr>
          <p:cNvSpPr txBox="1"/>
          <p:nvPr/>
        </p:nvSpPr>
        <p:spPr>
          <a:xfrm>
            <a:off x="4388470" y="5510879"/>
            <a:ext cx="3151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January 27 , 2026</a:t>
            </a:r>
            <a:endParaRPr lang="en-IN" sz="2400" b="1" dirty="0">
              <a:solidFill>
                <a:srgbClr val="7030A0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98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4C82F8-87D0-3094-3900-D6A739CD6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31352F5-6305-776E-E4C7-E894F4E477FD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7">
            <a:extLst>
              <a:ext uri="{FF2B5EF4-FFF2-40B4-BE49-F238E27FC236}">
                <a16:creationId xmlns:a16="http://schemas.microsoft.com/office/drawing/2014/main" id="{BEB8975F-78B3-B2E7-BA3E-A513E2D5E73E}"/>
              </a:ext>
            </a:extLst>
          </p:cNvPr>
          <p:cNvSpPr txBox="1"/>
          <p:nvPr/>
        </p:nvSpPr>
        <p:spPr>
          <a:xfrm>
            <a:off x="96253" y="112377"/>
            <a:ext cx="682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Intelligent reflecting surfaces (IRS)</a:t>
            </a:r>
            <a:endParaRPr lang="en-IN" sz="36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DF099F-BDD7-5D48-27D1-5A78BB89FDBF}"/>
                  </a:ext>
                </a:extLst>
              </p:cNvPr>
              <p:cNvSpPr txBox="1"/>
              <p:nvPr/>
            </p:nvSpPr>
            <p:spPr>
              <a:xfrm>
                <a:off x="2786476" y="4691451"/>
                <a:ext cx="3716957" cy="465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rad>
                      <m:sSup>
                        <m:sSup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p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𝑯</m:t>
                          </m:r>
                        </m:sup>
                      </m:sSup>
                      <m:d>
                        <m:d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IN" sz="2000" i="1" dirty="0" err="1">
                              <a:latin typeface="Cambria Math" panose="02040503050406030204" pitchFamily="18" charset="0"/>
                            </a:rPr>
                            <m:t>𝐜</m:t>
                          </m:r>
                          <m:r>
                            <a:rPr lang="en-IN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 dirty="0" err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DF099F-BDD7-5D48-27D1-5A78BB89F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476" y="4691451"/>
                <a:ext cx="3716957" cy="465064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7564932-72D8-CBFD-9BBC-686734C18D5C}"/>
              </a:ext>
            </a:extLst>
          </p:cNvPr>
          <p:cNvSpPr txBox="1"/>
          <p:nvPr/>
        </p:nvSpPr>
        <p:spPr>
          <a:xfrm>
            <a:off x="3037301" y="5306073"/>
            <a:ext cx="1004760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Path loss</a:t>
            </a:r>
            <a:endParaRPr lang="en-IN" dirty="0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16C5D6BC-C75F-A083-8709-72D0A29E8D84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4042061" y="5156516"/>
            <a:ext cx="420402" cy="334223"/>
          </a:xfrm>
          <a:prstGeom prst="curvedConnector3">
            <a:avLst>
              <a:gd name="adj1" fmla="val 97579"/>
            </a:avLst>
          </a:prstGeom>
          <a:ln w="317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7F6A45-D8DF-B511-547E-F87221309896}"/>
                  </a:ext>
                </a:extLst>
              </p:cNvPr>
              <p:cNvSpPr txBox="1"/>
              <p:nvPr/>
            </p:nvSpPr>
            <p:spPr>
              <a:xfrm>
                <a:off x="6172200" y="4763456"/>
                <a:ext cx="4082865" cy="464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p>
                                <m:s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7F6A45-D8DF-B511-547E-F87221309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763456"/>
                <a:ext cx="4082865" cy="464999"/>
              </a:xfrm>
              <a:prstGeom prst="rect">
                <a:avLst/>
              </a:prstGeom>
              <a:blipFill>
                <a:blip r:embed="rId7"/>
                <a:stretch>
                  <a:fillRect b="-77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A318F9-3ADB-B520-1E7C-73992E6C528D}"/>
                  </a:ext>
                </a:extLst>
              </p:cNvPr>
              <p:cNvSpPr txBox="1"/>
              <p:nvPr/>
            </p:nvSpPr>
            <p:spPr>
              <a:xfrm>
                <a:off x="6096000" y="5334147"/>
                <a:ext cx="2228249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𝐜</m:t>
                          </m:r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A318F9-3ADB-B520-1E7C-73992E6C5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334147"/>
                <a:ext cx="2228249" cy="381515"/>
              </a:xfrm>
              <a:prstGeom prst="rect">
                <a:avLst/>
              </a:prstGeom>
              <a:blipFill>
                <a:blip r:embed="rId8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8752773-5BED-1F3A-84A7-B2B79FC54F43}"/>
                  </a:ext>
                </a:extLst>
              </p:cNvPr>
              <p:cNvSpPr/>
              <p:nvPr/>
            </p:nvSpPr>
            <p:spPr>
              <a:xfrm>
                <a:off x="5415516" y="6037174"/>
                <a:ext cx="6689875" cy="465016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sSub>
                      <m:sSubPr>
                        <m:ctrlP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mostly a strong LOS path between base station and IRS 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8752773-5BED-1F3A-84A7-B2B79FC54F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516" y="6037174"/>
                <a:ext cx="6689875" cy="465016"/>
              </a:xfrm>
              <a:prstGeom prst="roundRect">
                <a:avLst/>
              </a:prstGeom>
              <a:blipFill>
                <a:blip r:embed="rId9"/>
                <a:stretch>
                  <a:fillRect l="-364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0E7A447-66CB-3F96-028E-9F22CBDE00CD}"/>
              </a:ext>
            </a:extLst>
          </p:cNvPr>
          <p:cNvGrpSpPr/>
          <p:nvPr/>
        </p:nvGrpSpPr>
        <p:grpSpPr>
          <a:xfrm>
            <a:off x="96253" y="5685057"/>
            <a:ext cx="6262576" cy="908061"/>
            <a:chOff x="96253" y="5685057"/>
            <a:chExt cx="6262576" cy="9080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720DB50-0FB8-C948-0DB6-BADA9FBE1239}"/>
                    </a:ext>
                  </a:extLst>
                </p:cNvPr>
                <p:cNvSpPr txBox="1"/>
                <p:nvPr/>
              </p:nvSpPr>
              <p:spPr>
                <a:xfrm>
                  <a:off x="745043" y="6165372"/>
                  <a:ext cx="4082865" cy="4277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IN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sSup>
                          <m:sSup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sup>
                        </m:sSup>
                        <m:d>
                          <m:d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𝐜</m:t>
                            </m:r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  <m:sSub>
                          <m:sSubPr>
                            <m:ctrlPr>
                              <a:rPr lang="en-I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720DB50-0FB8-C948-0DB6-BADA9FBE1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043" y="6165372"/>
                  <a:ext cx="4082865" cy="427746"/>
                </a:xfrm>
                <a:prstGeom prst="rect">
                  <a:avLst/>
                </a:prstGeom>
                <a:blipFill>
                  <a:blip r:embed="rId10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3CD3093-A277-80A9-701B-876A2BD2EB2E}"/>
                    </a:ext>
                  </a:extLst>
                </p:cNvPr>
                <p:cNvSpPr txBox="1"/>
                <p:nvPr/>
              </p:nvSpPr>
              <p:spPr>
                <a:xfrm>
                  <a:off x="96253" y="5685057"/>
                  <a:ext cx="6262576" cy="4580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54965" indent="-342900">
                    <a:lnSpc>
                      <a:spcPct val="150000"/>
                    </a:lnSpc>
                    <a:spcBef>
                      <a:spcPts val="1425"/>
                    </a:spcBef>
                    <a:buFont typeface="Wingdings" pitchFamily="2" charset="2"/>
                    <a:buChar char="Ø"/>
                    <a:tabLst>
                      <a:tab pos="193040" algn="l"/>
                    </a:tabLst>
                  </a:pP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Received signal</a:t>
                  </a:r>
                  <a:r>
                    <a:rPr lang="en-US"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at UE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–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</m:oMath>
                  </a14:m>
                  <a:r>
                    <a:rPr lang="en-US"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: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3CD3093-A277-80A9-701B-876A2BD2E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53" y="5685057"/>
                  <a:ext cx="6262576" cy="458074"/>
                </a:xfrm>
                <a:prstGeom prst="rect">
                  <a:avLst/>
                </a:prstGeom>
                <a:blipFill>
                  <a:blip r:embed="rId11"/>
                  <a:stretch>
                    <a:fillRect l="-487" b="-21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71C4476-6C91-AE00-88F4-C71B8C95C0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038" y="1109618"/>
            <a:ext cx="5591406" cy="3265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E33BD2D6-116D-8A7D-CCEC-4EC7009863B4}"/>
                  </a:ext>
                </a:extLst>
              </p:cNvPr>
              <p:cNvSpPr txBox="1"/>
              <p:nvPr/>
            </p:nvSpPr>
            <p:spPr>
              <a:xfrm>
                <a:off x="152400" y="758708"/>
                <a:ext cx="12039600" cy="4397807"/>
              </a:xfrm>
              <a:prstGeom prst="rect">
                <a:avLst/>
              </a:prstGeom>
            </p:spPr>
            <p:txBody>
              <a:bodyPr vert="horz" wrap="square" lIns="0" tIns="180975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4965" indent="-342900">
                  <a:lnSpc>
                    <a:spcPct val="150000"/>
                  </a:lnSpc>
                  <a:spcBef>
                    <a:spcPts val="1425"/>
                  </a:spcBef>
                  <a:buFont typeface="Wingdings" pitchFamily="2" charset="2"/>
                  <a:buChar char="Ø"/>
                  <a:tabLst>
                    <a:tab pos="193040" algn="l"/>
                  </a:tabLst>
                </a:pP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Also known as </a:t>
                </a:r>
                <a:r>
                  <a:rPr lang="en-US" sz="2000" spc="-5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reconfigurable intelligent surfaces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(RIS)</a:t>
                </a:r>
              </a:p>
              <a:p>
                <a:pPr marL="354965" indent="-342900">
                  <a:lnSpc>
                    <a:spcPct val="150000"/>
                  </a:lnSpc>
                  <a:spcBef>
                    <a:spcPts val="1425"/>
                  </a:spcBef>
                  <a:buFont typeface="Wingdings" pitchFamily="2" charset="2"/>
                  <a:buChar char="Ø"/>
                  <a:tabLst>
                    <a:tab pos="193040" algn="l"/>
                  </a:tabLst>
                </a:pPr>
                <a:r>
                  <a:rPr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Meta</a:t>
                </a:r>
                <a:r>
                  <a:rPr lang="en-IN" sz="2000" spc="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surfaces</a:t>
                </a:r>
                <a:r>
                  <a:rPr sz="2000" spc="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made up of</a:t>
                </a:r>
                <a:r>
                  <a:rPr sz="2000" spc="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passive</a:t>
                </a:r>
                <a:r>
                  <a:rPr sz="2000" spc="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elements</a:t>
                </a:r>
                <a:endParaRPr lang="en-US" sz="2000" spc="-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1360" lvl="1" indent="-352425">
                  <a:lnSpc>
                    <a:spcPct val="150000"/>
                  </a:lnSpc>
                  <a:spcBef>
                    <a:spcPts val="1325"/>
                  </a:spcBef>
                  <a:buClr>
                    <a:srgbClr val="000000"/>
                  </a:buClr>
                  <a:buFont typeface="Wingdings" pitchFamily="2" charset="2"/>
                  <a:buChar char="ü"/>
                  <a:tabLst>
                    <a:tab pos="721360" algn="l"/>
                  </a:tabLst>
                </a:pPr>
                <a:r>
                  <a:rPr lang="en-US" sz="2000" spc="-1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</a:t>
                </a:r>
                <a:r>
                  <a:rPr lang="en-US" sz="2000" spc="20" dirty="0">
                    <a:solidFill>
                      <a:srgbClr val="FF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signals</a:t>
                </a:r>
                <a:r>
                  <a:rPr lang="en-US" sz="2000" spc="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sz="2000" spc="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required</a:t>
                </a:r>
                <a:r>
                  <a:rPr lang="en-US" sz="2000" spc="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directions</a:t>
                </a:r>
              </a:p>
              <a:p>
                <a:pPr marL="721360" lvl="1" indent="-352425">
                  <a:lnSpc>
                    <a:spcPct val="150000"/>
                  </a:lnSpc>
                  <a:spcBef>
                    <a:spcPts val="1325"/>
                  </a:spcBef>
                  <a:buClr>
                    <a:srgbClr val="000000"/>
                  </a:buClr>
                  <a:buFont typeface="Wingdings" pitchFamily="2" charset="2"/>
                  <a:buChar char="ü"/>
                  <a:tabLst>
                    <a:tab pos="721360" algn="l"/>
                  </a:tabLst>
                </a:pPr>
                <a:r>
                  <a:rPr lang="en-US" sz="2000" spc="-1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Alters</a:t>
                </a:r>
                <a:r>
                  <a:rPr lang="en-US" sz="2000" spc="35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US" sz="2000" spc="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wireless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</a:t>
                </a:r>
              </a:p>
              <a:p>
                <a:pPr marL="264160" indent="-352425">
                  <a:lnSpc>
                    <a:spcPct val="150000"/>
                  </a:lnSpc>
                  <a:spcBef>
                    <a:spcPts val="1325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Ø"/>
                  <a:tabLst>
                    <a:tab pos="721360" algn="l"/>
                  </a:tabLst>
                </a:pPr>
                <a:r>
                  <a:rPr lang="en-US" sz="2000" u="sng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Perks: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Boosts</a:t>
                </a:r>
                <a:r>
                  <a:rPr lang="en-US" sz="2000" spc="5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SNR/</a:t>
                </a:r>
                <a:r>
                  <a:rPr lang="en-US" sz="2000" spc="-1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SINR, </a:t>
                </a:r>
                <a:r>
                  <a:rPr lang="en-US" sz="2000" spc="-5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en-US" sz="2000" spc="-15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5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efficiency</a:t>
                </a:r>
                <a:r>
                  <a:rPr lang="en-US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spc="-1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coverage</a:t>
                </a:r>
                <a:r>
                  <a:rPr lang="en-US" sz="2000" spc="-5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etc.</a:t>
                </a:r>
              </a:p>
              <a:p>
                <a:pPr marL="354965" indent="-342900">
                  <a:lnSpc>
                    <a:spcPct val="150000"/>
                  </a:lnSpc>
                  <a:spcBef>
                    <a:spcPts val="1425"/>
                  </a:spcBef>
                  <a:buFont typeface="Wingdings" pitchFamily="2" charset="2"/>
                  <a:buChar char="Ø"/>
                  <a:tabLst>
                    <a:tab pos="193040" algn="l"/>
                  </a:tabLs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Controls the channel by modifying the reflection coefficients at the IRS</a:t>
                </a:r>
                <a:endParaRPr lang="en-US" sz="2000" dirty="0"/>
              </a:p>
              <a:p>
                <a:pPr marL="354965" indent="-342900">
                  <a:lnSpc>
                    <a:spcPct val="150000"/>
                  </a:lnSpc>
                  <a:spcBef>
                    <a:spcPts val="1425"/>
                  </a:spcBef>
                  <a:buFont typeface="Wingdings" pitchFamily="2" charset="2"/>
                  <a:buChar char="Ø"/>
                  <a:tabLst>
                    <a:tab pos="193040" algn="l"/>
                  </a:tabLs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Effective channel at UE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–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E33BD2D6-116D-8A7D-CCEC-4EC700986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758708"/>
                <a:ext cx="12039600" cy="4397807"/>
              </a:xfrm>
              <a:prstGeom prst="rect">
                <a:avLst/>
              </a:prstGeom>
              <a:blipFill>
                <a:blip r:embed="rId13"/>
                <a:stretch>
                  <a:fillRect l="-1215" b="-2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88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32ED1-BEF0-79BF-0F04-BDDEA541EC58}"/>
              </a:ext>
            </a:extLst>
          </p:cNvPr>
          <p:cNvSpPr txBox="1"/>
          <p:nvPr/>
        </p:nvSpPr>
        <p:spPr>
          <a:xfrm>
            <a:off x="96253" y="150366"/>
            <a:ext cx="706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Benchmark and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3-Fold Overheads</a:t>
            </a:r>
            <a:endParaRPr lang="en-IN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6F51CD-D0B1-C177-6C68-EE90CAB1BB19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97B346-3892-DD9B-2702-F1FCC74124B5}"/>
              </a:ext>
            </a:extLst>
          </p:cNvPr>
          <p:cNvGrpSpPr/>
          <p:nvPr/>
        </p:nvGrpSpPr>
        <p:grpSpPr>
          <a:xfrm>
            <a:off x="5912472" y="5633882"/>
            <a:ext cx="6282736" cy="769269"/>
            <a:chOff x="750771" y="2938960"/>
            <a:chExt cx="5479560" cy="894938"/>
          </a:xfrm>
          <a:effectLst>
            <a:glow rad="228600">
              <a:schemeClr val="accent4">
                <a:satMod val="175000"/>
                <a:alpha val="40000"/>
              </a:schemeClr>
            </a:glow>
          </a:effectLst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1BFB9997-1F73-8AD2-58D2-8A61BB86680E}"/>
                </a:ext>
              </a:extLst>
            </p:cNvPr>
            <p:cNvSpPr/>
            <p:nvPr/>
          </p:nvSpPr>
          <p:spPr>
            <a:xfrm>
              <a:off x="750771" y="2981100"/>
              <a:ext cx="5059156" cy="852798"/>
            </a:xfrm>
            <a:prstGeom prst="roundRect">
              <a:avLst/>
            </a:prstGeom>
            <a:solidFill>
              <a:srgbClr val="FFFFCC"/>
            </a:solidFill>
            <a:ln>
              <a:solidFill>
                <a:srgbClr val="00B05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5D2B26F-D954-CC89-6B76-05B6DA804BCA}"/>
                </a:ext>
              </a:extLst>
            </p:cNvPr>
            <p:cNvSpPr/>
            <p:nvPr/>
          </p:nvSpPr>
          <p:spPr>
            <a:xfrm>
              <a:off x="750771" y="2938960"/>
              <a:ext cx="5057022" cy="465473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rPr>
                <a:t>Solution </a:t>
              </a: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7CFEE6-9005-F3A7-A802-30BC2500EAE2}"/>
                </a:ext>
              </a:extLst>
            </p:cNvPr>
            <p:cNvSpPr txBox="1"/>
            <p:nvPr/>
          </p:nvSpPr>
          <p:spPr>
            <a:xfrm>
              <a:off x="750771" y="3322953"/>
              <a:ext cx="5479560" cy="465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Randomized RIS + Opportunistic Communications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B43BD0D-8BAF-29D7-07A1-198F857D9DB2}"/>
              </a:ext>
            </a:extLst>
          </p:cNvPr>
          <p:cNvSpPr/>
          <p:nvPr/>
        </p:nvSpPr>
        <p:spPr>
          <a:xfrm>
            <a:off x="271160" y="5137965"/>
            <a:ext cx="5090112" cy="15696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226449-CD22-F3C5-9167-577A91991EE2}"/>
              </a:ext>
            </a:extLst>
          </p:cNvPr>
          <p:cNvSpPr/>
          <p:nvPr/>
        </p:nvSpPr>
        <p:spPr>
          <a:xfrm>
            <a:off x="271158" y="5121961"/>
            <a:ext cx="5090113" cy="51958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Gill Sans MT"/>
              </a:rPr>
              <a:t>Problem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D99ABC-C946-FA67-E84B-5B18B31E82C9}"/>
              </a:ext>
            </a:extLst>
          </p:cNvPr>
          <p:cNvSpPr txBox="1"/>
          <p:nvPr/>
        </p:nvSpPr>
        <p:spPr>
          <a:xfrm>
            <a:off x="264171" y="5594180"/>
            <a:ext cx="4961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obtain optimal benefits without optimizing the IRS and avoiding the three-fold overheads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8C04BE-AAA7-EF2B-0D64-6E5FC7B7591C}"/>
                  </a:ext>
                </a:extLst>
              </p:cNvPr>
              <p:cNvSpPr txBox="1"/>
              <p:nvPr/>
            </p:nvSpPr>
            <p:spPr>
              <a:xfrm>
                <a:off x="128908" y="1119746"/>
                <a:ext cx="6072322" cy="3949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4965" marR="0" lvl="0" indent="-342900" algn="l" defTabSz="457200" rtl="0" eaLnBrk="1" fontAlgn="auto" latinLnBrk="0" hangingPunct="1">
                  <a:lnSpc>
                    <a:spcPct val="150000"/>
                  </a:lnSpc>
                  <a:spcBef>
                    <a:spcPts val="1425"/>
                  </a:spcBef>
                  <a:spcAft>
                    <a:spcPts val="0"/>
                  </a:spcAft>
                  <a:buClrTx/>
                  <a:buSzTx/>
                  <a:buFont typeface="Wingdings" pitchFamily="2" charset="2"/>
                  <a:buChar char="Ø"/>
                  <a:tabLst>
                    <a:tab pos="193040" algn="l"/>
                  </a:tabLst>
                  <a:defRPr/>
                </a:pPr>
                <a:r>
                  <a:rPr lang="en-US" spc="-5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beamforming SE at UE-k with optimized IRS is</a:t>
                </a:r>
              </a:p>
              <a:p>
                <a:pPr marL="12065" lvl="0" defTabSz="457200">
                  <a:lnSpc>
                    <a:spcPct val="150000"/>
                  </a:lnSpc>
                  <a:spcBef>
                    <a:spcPts val="1425"/>
                  </a:spcBef>
                  <a:tabLst>
                    <a:tab pos="19304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IN" dirty="0">
                              <a:latin typeface="Cambria Math" panose="02040503050406030204" pitchFamily="18" charset="0"/>
                            </a:rPr>
                            <m:t>BF</m:t>
                          </m:r>
                        </m:sup>
                      </m:sSubSup>
                      <m:r>
                        <a:rPr lang="en-IN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 dirty="0" err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  <m:nary>
                                    <m:naryPr>
                                      <m:chr m:val="∑"/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  <m:sSub>
                                <m:sSub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i="0" dirty="0">
                  <a:latin typeface="Times New Roman" panose="02020603050405020304" pitchFamily="18" charset="0"/>
                </a:endParaRPr>
              </a:p>
              <a:p>
                <a:pPr marL="12065" lvl="0" defTabSz="457200">
                  <a:spcBef>
                    <a:spcPts val="1425"/>
                  </a:spcBef>
                  <a:tabLst>
                    <a:tab pos="193040" algn="l"/>
                  </a:tabLst>
                  <a:defRPr/>
                </a:pPr>
                <a:r>
                  <a:rPr kumimoji="0" lang="en-US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It is achieved when</a:t>
                </a:r>
              </a:p>
              <a:p>
                <a:pPr marL="12065" lvl="0" algn="ctr" defTabSz="457200">
                  <a:spcBef>
                    <a:spcPts val="1425"/>
                  </a:spcBef>
                  <a:tabLst>
                    <a:tab pos="193040" algn="l"/>
                  </a:tabLst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d>
                          <m:dPr>
                            <m:ctrlPr>
                              <a:rPr lang="en-IN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∠</m:t>
                            </m:r>
                            <m:d>
                              <m:dPr>
                                <m:ctrlPr>
                                  <a:rPr lang="en-IN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a:rPr lang="en-IN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IN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  <m: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sup>
                    </m:sSup>
                    <m: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I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I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</m:oMath>
                </a14:m>
                <a:r>
                  <a:rPr kumimoji="0" lang="en-US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</a:p>
              <a:p>
                <a:pPr marL="12065" lvl="0" algn="ctr" defTabSz="457200">
                  <a:spcBef>
                    <a:spcPts val="1425"/>
                  </a:spcBef>
                  <a:tabLst>
                    <a:tab pos="193040" algn="l"/>
                  </a:tabLst>
                  <a:defRPr/>
                </a:pPr>
                <a:endParaRPr kumimoji="0" lang="en-US" sz="1800" b="0" i="0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297815" lvl="0" indent="-285750" defTabSz="457200">
                  <a:spcBef>
                    <a:spcPts val="1425"/>
                  </a:spcBef>
                  <a:buFont typeface="Wingdings" panose="05000000000000000000" pitchFamily="2" charset="2"/>
                  <a:buChar char="Ø"/>
                  <a:tabLst>
                    <a:tab pos="193040" algn="l"/>
                  </a:tabLst>
                  <a:defRPr/>
                </a:pPr>
                <a:r>
                  <a:rPr kumimoji="0" lang="en-US" sz="1800" b="1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BF gain </a:t>
                </a:r>
                <a:r>
                  <a:rPr kumimoji="0" lang="en-US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pc="-5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element IRS scales as </a:t>
                </a:r>
                <a14:m>
                  <m:oMath xmlns:m="http://schemas.openxmlformats.org/officeDocument/2006/math">
                    <m:r>
                      <a:rPr lang="en-US" i="1" spc="-5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𝐎</m:t>
                    </m:r>
                    <m:d>
                      <m:dPr>
                        <m:ctrlPr>
                          <a:rPr lang="en-US" i="1" spc="-5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pc="-5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spc="-5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i="1" spc="-5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kumimoji="0" lang="en-US" sz="1800" b="0" i="0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755015" lvl="1" indent="-285750" defTabSz="457200">
                  <a:spcBef>
                    <a:spcPts val="1425"/>
                  </a:spcBef>
                  <a:buFont typeface="Wingdings" panose="05000000000000000000" pitchFamily="2" charset="2"/>
                  <a:buChar char="q"/>
                  <a:tabLst>
                    <a:tab pos="193040" algn="l"/>
                  </a:tabLst>
                  <a:defRPr/>
                </a:pPr>
                <a:r>
                  <a:rPr lang="en-US" spc="-5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IRS enables constructive superposition of signal copies at every UE.</a:t>
                </a:r>
                <a:endParaRPr kumimoji="0" lang="en-US" b="0" i="0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8C04BE-AAA7-EF2B-0D64-6E5FC7B75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08" y="1119746"/>
                <a:ext cx="6072322" cy="3949414"/>
              </a:xfrm>
              <a:prstGeom prst="rect">
                <a:avLst/>
              </a:prstGeom>
              <a:blipFill>
                <a:blip r:embed="rId2"/>
                <a:stretch>
                  <a:fillRect l="-602" b="-15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F8DE9B9-D869-0BFB-2A0B-79B7AE597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101" y="1126769"/>
            <a:ext cx="6516991" cy="392027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7541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79A3A0-4C32-CAC0-B66B-4D99B4CBA8E3}"/>
              </a:ext>
            </a:extLst>
          </p:cNvPr>
          <p:cNvSpPr txBox="1"/>
          <p:nvPr/>
        </p:nvSpPr>
        <p:spPr>
          <a:xfrm>
            <a:off x="96253" y="150365"/>
            <a:ext cx="10655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Randomized RIS + Opportunistic Communications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9DB692-E6D2-5347-50EB-4BE8AC4AF303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072DB14-6736-BCE8-F1EA-CB4AFB38E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923" y="1048370"/>
            <a:ext cx="6003859" cy="557220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C61E36-D50E-F8D0-CDF5-5833B46B3934}"/>
              </a:ext>
            </a:extLst>
          </p:cNvPr>
          <p:cNvSpPr/>
          <p:nvPr/>
        </p:nvSpPr>
        <p:spPr>
          <a:xfrm>
            <a:off x="65218" y="1162838"/>
            <a:ext cx="5950014" cy="1195030"/>
          </a:xfrm>
          <a:prstGeom prst="round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algn="just">
              <a:spcBef>
                <a:spcPts val="1425"/>
              </a:spcBef>
              <a:tabLst>
                <a:tab pos="193040" algn="l"/>
              </a:tabLst>
            </a:pPr>
            <a:r>
              <a:rPr lang="en-US" sz="2000" b="1" spc="-5" dirty="0">
                <a:solidFill>
                  <a:srgbClr val="0745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: </a:t>
            </a: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Randomly tune </a:t>
            </a: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RIS configurations and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 one of K UEs opportunistically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the best channel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time slot!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2BEE0-A361-B106-0DDA-FF576AC1E009}"/>
              </a:ext>
            </a:extLst>
          </p:cNvPr>
          <p:cNvSpPr txBox="1"/>
          <p:nvPr/>
        </p:nvSpPr>
        <p:spPr>
          <a:xfrm>
            <a:off x="119064" y="2551837"/>
            <a:ext cx="60038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RIS phase optimization is unnecessary, as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scheduler exploits RIS gain via UE CQI feedback.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UEs periodically report CQI (≈80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the UE aligned with the RIS reports higher CQI.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scheduler uses CQI to identify and schedule the RIS-favored 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loud 3">
                <a:extLst>
                  <a:ext uri="{FF2B5EF4-FFF2-40B4-BE49-F238E27FC236}">
                    <a16:creationId xmlns:a16="http://schemas.microsoft.com/office/drawing/2014/main" id="{63AF3B24-F8E6-2433-5F58-B6CB48A71922}"/>
                  </a:ext>
                </a:extLst>
              </p:cNvPr>
              <p:cNvSpPr/>
              <p:nvPr/>
            </p:nvSpPr>
            <p:spPr>
              <a:xfrm>
                <a:off x="250255" y="4706754"/>
                <a:ext cx="5872668" cy="1678373"/>
              </a:xfrm>
              <a:prstGeom prst="cloud">
                <a:avLst/>
              </a:prstGeom>
              <a:solidFill>
                <a:schemeClr val="accent3">
                  <a:lumMod val="10000"/>
                  <a:lumOff val="90000"/>
                </a:schemeClr>
              </a:solidFill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UEs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andomized RIS </a:t>
                </a:r>
                <a:r>
                  <a:rPr lang="en-US" sz="1600" dirty="0">
                    <a:solidFill>
                      <a:schemeClr val="tx1"/>
                    </a:solidFill>
                  </a:rPr>
                  <a:t>becomes optimal for at least one UE, and 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opportunistic scheduling </a:t>
                </a:r>
                <a:r>
                  <a:rPr lang="en-US" sz="1600" dirty="0">
                    <a:solidFill>
                      <a:schemeClr val="tx1"/>
                    </a:solidFill>
                  </a:rPr>
                  <a:t>of that UE will procure the full RIS gain.</a:t>
                </a:r>
              </a:p>
            </p:txBody>
          </p:sp>
        </mc:Choice>
        <mc:Fallback xmlns="">
          <p:sp>
            <p:nvSpPr>
              <p:cNvPr id="4" name="Cloud 3">
                <a:extLst>
                  <a:ext uri="{FF2B5EF4-FFF2-40B4-BE49-F238E27FC236}">
                    <a16:creationId xmlns:a16="http://schemas.microsoft.com/office/drawing/2014/main" id="{63AF3B24-F8E6-2433-5F58-B6CB48A719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55" y="4706754"/>
                <a:ext cx="5872668" cy="1678373"/>
              </a:xfrm>
              <a:prstGeom prst="cloud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32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3454D-AE44-EADA-322F-9ECB6918F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383F0BA-4C17-F372-852F-5069169022AA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Core Idea 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D710F5-4273-01CD-5575-58FCA4F00794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1D7B72-EA47-A386-4079-E666D1571E04}"/>
                  </a:ext>
                </a:extLst>
              </p:cNvPr>
              <p:cNvSpPr txBox="1"/>
              <p:nvPr/>
            </p:nvSpPr>
            <p:spPr>
              <a:xfrm>
                <a:off x="96252" y="1079785"/>
                <a:ext cx="1161019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I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4582C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Randomized RIS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RIS switches between phase states with a switching time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I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4582C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Proportional fair scheduler: 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gNB employs a PF scheduler with EWMA parameter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1D7B72-EA47-A386-4079-E666D157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2" y="1079785"/>
                <a:ext cx="11610195" cy="830997"/>
              </a:xfrm>
              <a:prstGeom prst="rect">
                <a:avLst/>
              </a:prstGeom>
              <a:blipFill>
                <a:blip r:embed="rId3"/>
                <a:stretch>
                  <a:fillRect l="-735" t="-5882" b="-16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E57D4B-F8B4-9B6D-1988-093190FFE5DD}"/>
                  </a:ext>
                </a:extLst>
              </p:cNvPr>
              <p:cNvSpPr txBox="1"/>
              <p:nvPr/>
            </p:nvSpPr>
            <p:spPr>
              <a:xfrm>
                <a:off x="1406480" y="4382028"/>
                <a:ext cx="8295252" cy="1107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𝐔𝐬𝐢𝐧𝐠</m:t>
                      </m:r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 </m:t>
                      </m:r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𝐚𝐩𝐩𝐫𝐨𝐩𝐫𝐢𝐚𝐭𝐞𝐥𝐲</m:t>
                      </m:r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 </m:t>
                      </m:r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𝐜𝐡𝐨𝐬𝐞𝐧</m:t>
                      </m:r>
                      <m:r>
                        <a:rPr kumimoji="0" lang="en-US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 </m:t>
                      </m:r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 </m:t>
                      </m:r>
                      <m:sSub>
                        <m:sSubPr>
                          <m:ctrlPr>
                            <a:rPr kumimoji="0" lang="ar-AE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ar-AE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ar-AE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𝒄</m:t>
                          </m:r>
                        </m:sub>
                      </m:sSub>
                      <m:r>
                        <a:rPr kumimoji="0" lang="ar-AE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𝒔</m:t>
                          </m:r>
                        </m:sub>
                      </m:sSub>
                      <m:r>
                        <a:rPr kumimoji="0" lang="ar-AE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ar-AE" sz="2800" b="1" i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ar-AE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 </m:t>
                      </m:r>
                      <m:sSubSup>
                        <m:sSubSupPr>
                          <m:ctrlPr>
                            <a:rPr kumimoji="0" lang="ar-AE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𝒓𝒂𝒏𝒅</m:t>
                          </m:r>
                        </m:sub>
                        <m:sup>
                          <m:d>
                            <m:dPr>
                              <m:ctrlPr>
                                <a:rPr kumimoji="0" lang="ar-AE" sz="28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ar-AE" sz="28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𝑲</m:t>
                              </m:r>
                            </m:e>
                          </m:d>
                        </m:sup>
                      </m:sSubSup>
                      <m:r>
                        <a:rPr kumimoji="0" lang="ar-AE" sz="2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Sup>
                        <m:sSubSupPr>
                          <m:ctrlP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𝒐𝒑𝒕</m:t>
                          </m:r>
                        </m:sub>
                        <m:sup>
                          <m:d>
                            <m:dPr>
                              <m:ctrlPr>
                                <a:rPr kumimoji="0" lang="ar-AE" sz="28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ar-AE" sz="28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𝑲</m:t>
                              </m:r>
                            </m:e>
                          </m:d>
                        </m:sup>
                      </m:sSubSup>
                      <m:r>
                        <a:rPr kumimoji="0" lang="ar-AE" sz="2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ar-AE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E57D4B-F8B4-9B6D-1988-093190FFE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480" y="4382028"/>
                <a:ext cx="8295252" cy="1107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E68CB8-A78A-FE34-ED84-875D8235EC05}"/>
              </a:ext>
            </a:extLst>
          </p:cNvPr>
          <p:cNvSpPr/>
          <p:nvPr/>
        </p:nvSpPr>
        <p:spPr>
          <a:xfrm>
            <a:off x="465024" y="2299477"/>
            <a:ext cx="10178167" cy="3325145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0D8847-901A-1595-F8D7-D52BEAA8195D}"/>
              </a:ext>
            </a:extLst>
          </p:cNvPr>
          <p:cNvSpPr/>
          <p:nvPr/>
        </p:nvSpPr>
        <p:spPr>
          <a:xfrm>
            <a:off x="465024" y="2299478"/>
            <a:ext cx="10178167" cy="873701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A random RIS phase will be optimal to atleast one UE: Multi-user diversity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B19B65-F42E-14CB-594C-E069AD6E8B36}"/>
                  </a:ext>
                </a:extLst>
              </p:cNvPr>
              <p:cNvSpPr txBox="1"/>
              <p:nvPr/>
            </p:nvSpPr>
            <p:spPr>
              <a:xfrm>
                <a:off x="624289" y="3195155"/>
                <a:ext cx="9859635" cy="1052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𝑜𝑝𝑡</m:t>
                        </m:r>
                      </m:sub>
                      <m:sup>
                        <m:d>
                          <m:dPr>
                            <m:ctrlPr>
                              <a:rPr kumimoji="0" lang="en-I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6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6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𝐾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</m:t>
                        </m:r>
                      </m:sup>
                    </m:sSubSup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:  Throughput under RR scheduling of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𝐊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UEs with optimized RIS phase.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I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𝑟𝑎𝑛𝑑</m:t>
                        </m:r>
                      </m:sub>
                      <m:sup>
                        <m:d>
                          <m:dPr>
                            <m:ctrlPr>
                              <a:rPr kumimoji="0" lang="en-I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6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006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𝐾</m:t>
                            </m:r>
                          </m:e>
                        </m:d>
                      </m:sup>
                    </m:sSubSup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:  Throughput under PF scheduling of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𝐊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UEs with randomized RIS phase</a:t>
                </a: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B19B65-F42E-14CB-594C-E069AD6E8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89" y="3195155"/>
                <a:ext cx="9859635" cy="1052083"/>
              </a:xfrm>
              <a:prstGeom prst="rect">
                <a:avLst/>
              </a:prstGeom>
              <a:blipFill>
                <a:blip r:embed="rId5"/>
                <a:stretch>
                  <a:fillRect b="-104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Graphic 20" descr="Key">
            <a:extLst>
              <a:ext uri="{FF2B5EF4-FFF2-40B4-BE49-F238E27FC236}">
                <a16:creationId xmlns:a16="http://schemas.microsoft.com/office/drawing/2014/main" id="{049B8626-C4FA-402F-F539-1DA8B6D0CE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0076085" y="2831221"/>
            <a:ext cx="2889233" cy="226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1226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5734</TotalTime>
  <Words>426</Words>
  <Application>Microsoft Office PowerPoint</Application>
  <PresentationFormat>Widescreen</PresentationFormat>
  <Paragraphs>50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Cambria Math</vt:lpstr>
      <vt:lpstr>Gill Sans MT</vt:lpstr>
      <vt:lpstr>Sans Serif Collection</vt:lpstr>
      <vt:lpstr>Times New Roman</vt:lpstr>
      <vt:lpstr>Wingdings</vt:lpstr>
      <vt:lpstr>Gallery</vt:lpstr>
      <vt:lpstr> Opportunistic scheduling in IRS-assisted communication systems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Nekkanti Guna Sai Kiran</dc:creator>
  <cp:lastModifiedBy>Nekkanti Guna Sai Kiran</cp:lastModifiedBy>
  <cp:revision>41</cp:revision>
  <cp:lastPrinted>2026-01-26T10:35:38Z</cp:lastPrinted>
  <dcterms:created xsi:type="dcterms:W3CDTF">2025-12-16T14:46:07Z</dcterms:created>
  <dcterms:modified xsi:type="dcterms:W3CDTF">2026-02-24T03:34:35Z</dcterms:modified>
</cp:coreProperties>
</file>