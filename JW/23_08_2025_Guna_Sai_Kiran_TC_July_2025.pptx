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259" r:id="rId6"/>
    <p:sldId id="267" r:id="rId7"/>
    <p:sldId id="261" r:id="rId8"/>
    <p:sldId id="269" r:id="rId9"/>
    <p:sldId id="270" r:id="rId10"/>
    <p:sldId id="271" r:id="rId11"/>
    <p:sldId id="257" r:id="rId12"/>
    <p:sldId id="262" r:id="rId13"/>
    <p:sldId id="268" r:id="rId14"/>
    <p:sldId id="263" r:id="rId15"/>
    <p:sldId id="266" r:id="rId16"/>
    <p:sldId id="264" r:id="rId17"/>
    <p:sldId id="265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A6140913-E29A-4ED3-B325-C16FDA4958BD}">
          <p14:sldIdLst>
            <p14:sldId id="256"/>
            <p14:sldId id="259"/>
            <p14:sldId id="267"/>
            <p14:sldId id="261"/>
            <p14:sldId id="269"/>
            <p14:sldId id="270"/>
            <p14:sldId id="271"/>
            <p14:sldId id="257"/>
          </p14:sldIdLst>
        </p14:section>
        <p14:section name="Backup" id="{19F7CCE9-C950-4E97-9A85-741F3B00D412}">
          <p14:sldIdLst>
            <p14:sldId id="262"/>
            <p14:sldId id="268"/>
          </p14:sldIdLst>
        </p14:section>
        <p14:section name="PAPER_01" id="{1123EE89-2316-47FF-B924-8455ADEA034A}">
          <p14:sldIdLst>
            <p14:sldId id="263"/>
            <p14:sldId id="266"/>
            <p14:sldId id="264"/>
            <p14:sldId id="265"/>
          </p14:sldIdLst>
        </p14:section>
        <p14:section name="PAPER_02" id="{99BAFFC9-8C5A-47B3-A700-87CAD0DEECE7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741" autoAdjust="0"/>
  </p:normalViewPr>
  <p:slideViewPr>
    <p:cSldViewPr snapToGrid="0">
      <p:cViewPr varScale="1">
        <p:scale>
          <a:sx n="66" d="100"/>
          <a:sy n="66" d="100"/>
        </p:scale>
        <p:origin x="6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61BA4-4667-46F4-8F5A-7D48750EED13}" type="datetimeFigureOut">
              <a:rPr lang="en-IN" smtClean="0"/>
              <a:t>23-08-2025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84883C-D9D8-4C94-BF99-D740DE35402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8508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energy of each chirp is spread across the whole spectrum and time, which can dilute the signal strength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(b) Octave Geometry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Narrow tiles at high frequencies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(top of the graph) → better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resolution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Wide tiles at low frequencies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(bottom) → better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frequency resolution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©B-Geometry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 with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 tiles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(high time resolution), then switches to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larger tiles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(high frequency resolution).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hybrid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between uniform and octave.</a:t>
            </a:r>
          </a:p>
          <a:p>
            <a:pPr marL="228600" indent="-228600">
              <a:buAutoNum type="arabicParenR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05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4883C-D9D8-4C94-BF99-D740DE354024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4700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OCFDM allows different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SNRs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nSNRs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across its voices, enabling the use of traditional resource allocation algorithms like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water-filling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rate.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τp,m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​: Time index for the m-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tile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νp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​: Central frequency index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βp​: Number of tiles in the p-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voice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Since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Fbeta_p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unitary and lambda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and lambda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zsp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diagonal with unit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modulous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entries one can show M is a unitary Matrix so its inverse is simple Hermitian transpose.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4883C-D9D8-4C94-BF99-D740DE354024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437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OTFS modulation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highly effective in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high-mobility environments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where conventional schemes struggle due to rapid channel variations.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multi-user uplink OTFS systems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accurate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 estimation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critical but challenging, especially when only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statistical CSI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available.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allocation strategies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are needed to improve both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 estimation accuracy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performance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under practical constraints.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4883C-D9D8-4C94-BF99-D740DE354024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2197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Here, E denotes the collection comprising the symbol power for each user, Similarly, β represents the set of all auxiliary variables.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priori channel statistical information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change the objective function?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contains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logarithmic SINR terms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where SINR is in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ratio form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the problem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non-convex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difficult to optimize.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do they change it?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apply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quadratic transform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each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logarithmic SINR term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converting the fractional form into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equivalent, tractable formulation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allowing optimal solution.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Mul Location Parameter and sigma l is scale Parameter in Laplace Distribution</a:t>
            </a:r>
          </a:p>
          <a:p>
            <a:r>
              <a:rPr lang="en-US" dirty="0"/>
              <a:t>M = 64, N = 16, P = 4, and Ku = 4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4883C-D9D8-4C94-BF99-D740DE354024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722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Feedback Overhead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 RIS-assisted systems, nearby UEs often transmit highly correlated CSI, leading to redundant feedback and increased overhead.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Inefficient Use of Spatial Correlation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Conventional methods fail to exploit the natural correlation among neighboring UEs and antennas.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Phase Feedback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RIS-UE CSI phases are not sparse, making accurate and efficient phase feedback challenging.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/>
              <a:t>For UEs equipped with multiple antennas, a baseline NN architecture with long short-term memory (LSTM) modules is introduced to capture the correlation among nearby antennas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4883C-D9D8-4C94-BF99-D740DE354024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6536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UE (e.g., UE1 and UE2) has an </a:t>
            </a:r>
            <a:r>
              <a:rPr lang="en-US" sz="1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r>
              <a:rPr lang="en-US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that processes its RIS-UE CSI.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combination module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implemented as a simple neural network, merges the shared and unique CSI to reconstruct the full CSI magnitude matrix for each UE.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The encoder situated at the UE consists of a series of three FC layers, which are subsequently followed by three batch normalization (BN) layers. The activation function for the first pair of BN layers is designated as the </a:t>
            </a:r>
            <a:r>
              <a:rPr lang="en-US" dirty="0" err="1"/>
              <a:t>LeakyReLU</a:t>
            </a:r>
            <a:r>
              <a:rPr lang="en-US" dirty="0"/>
              <a:t> function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2. The activation function allocated to the final BN layer is the hyperbolic tangent function tanh(·)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3. In contrast, the decoder at the BS incorporates three FC layers last layer used sigmoid function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4883C-D9D8-4C94-BF99-D740DE354024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4538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 of Phase Shifts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Localization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Concentrates energy around specific time indices.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 Alignment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Places each tile correctly in the time-frequency grid.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Orthonormality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Ensures energy preservation and perfect reconstruction.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4883C-D9D8-4C94-BF99-D740DE354024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3032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(b) Octave Geometry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Narrow tiles at high frequencies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(top of the graph) → better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resolution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Wide tiles at low frequencies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(bottom) → better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frequency resolution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©B-Geometry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 with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 tiles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(high time resolution), then switches to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larger tiles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(high frequency resolution).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hybrid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between uniform and octave.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84883C-D9D8-4C94-BF99-D740DE354024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63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5BA25-E9F3-ED7A-4E7B-1D7F6B588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D139EC-505F-F49C-1744-BD2C240DE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CC9C1-B477-1E0D-D0F0-4C1F5FFAD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29DFF-90ED-477C-9540-AB8D03EA97B4}" type="datetimeFigureOut">
              <a:rPr lang="en-IN" smtClean="0"/>
              <a:t>23-08-2025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C3020-C035-59E8-35CE-4FE5F7FB7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6B533-3992-BB41-7760-09197007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742F-5450-487B-9FE1-A9B3D1A5DC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960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EF141-024D-166B-61ED-4476CA950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3DD30-4FFC-F490-ED3D-BFD44812E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4803A-A4D5-567E-6AE4-51DEE38B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29DFF-90ED-477C-9540-AB8D03EA97B4}" type="datetimeFigureOut">
              <a:rPr lang="en-IN" smtClean="0"/>
              <a:t>23-08-2025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F1D6B-7424-CCC8-B0AD-E0B5352A9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0BD14-C77B-BECE-48F1-F03B0506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742F-5450-487B-9FE1-A9B3D1A5DC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894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912B-348B-DFA9-0CAC-36580A5F6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7D048-30BE-D731-1124-061A8E7A8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358CF-0FD9-CC2F-BE10-422A9F24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29DFF-90ED-477C-9540-AB8D03EA97B4}" type="datetimeFigureOut">
              <a:rPr lang="en-IN" smtClean="0"/>
              <a:t>23-08-2025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32034-1E1E-F519-E2AC-D5C55E71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1C05F-CDAC-461B-7944-93BA42DA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742F-5450-487B-9FE1-A9B3D1A5DC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417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FA22D-8E7F-A553-1B98-9C5DB4AF3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CEB6F-6F4E-4E02-91F6-70FCA70B69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80CBD-6D74-457C-C157-FBE83A73E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C7A9D-FE18-D9BF-3060-4D9DFD66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29DFF-90ED-477C-9540-AB8D03EA97B4}" type="datetimeFigureOut">
              <a:rPr lang="en-IN" smtClean="0"/>
              <a:t>23-08-2025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6C0CE-ACEC-B757-B5CA-35912EEF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60902-709C-4662-8FC3-4212BAC0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742F-5450-487B-9FE1-A9B3D1A5DC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89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6221-1AF8-BCFE-C4A8-19D7C4E6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2CC99-3394-B09C-52D2-F7424861C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7EAE0-C4BE-FD6E-7DC6-B53664B4F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BD8DE-A7B2-6F71-E54B-A7ED69793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EED22-6F43-B470-3BC3-70B650F00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2BCE4A-8957-57DC-5F60-F004F7EE3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29DFF-90ED-477C-9540-AB8D03EA97B4}" type="datetimeFigureOut">
              <a:rPr lang="en-IN" smtClean="0"/>
              <a:t>23-08-2025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5E3AB0-17C1-DB61-2BA3-B4154263C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C20B68-5441-8988-2981-573C2817C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742F-5450-487B-9FE1-A9B3D1A5DC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0102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FC29D-D2AC-9B64-D9CF-8D5558D4C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53A6F2-4F1C-946E-C3B4-490246B9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29DFF-90ED-477C-9540-AB8D03EA97B4}" type="datetimeFigureOut">
              <a:rPr lang="en-IN" smtClean="0"/>
              <a:t>23-08-2025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8D5C9B-7B18-FEA1-33E8-4EAA302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9F9C8-16BE-F545-00C7-EB222F0C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742F-5450-487B-9FE1-A9B3D1A5DC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1256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681DB-0D66-1EC7-9C66-4D204C5C6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29DFF-90ED-477C-9540-AB8D03EA97B4}" type="datetimeFigureOut">
              <a:rPr lang="en-IN" smtClean="0"/>
              <a:t>23-08-2025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4054F8-4F90-3490-AF45-938FE2D7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ED29D-78DD-4D1E-6FF8-B7EF8EC60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742F-5450-487B-9FE1-A9B3D1A5DC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007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35ECC-6578-B3DD-322C-7EF8CD091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4C4F6-7B99-B1C2-942A-7081F7018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AE0F7-25DF-8CFA-9C09-8A2E201EE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AB7FF-8BE0-8D4C-5FAD-7E2FE537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29DFF-90ED-477C-9540-AB8D03EA97B4}" type="datetimeFigureOut">
              <a:rPr lang="en-IN" smtClean="0"/>
              <a:t>23-08-2025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A1096-9464-2602-3E8A-9AE9F334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364C3-2B85-7992-B06C-17CCFE62F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742F-5450-487B-9FE1-A9B3D1A5DC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7230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674AF-0A5E-A087-5F8C-B34B82BE7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A26865-3CDF-3734-5D59-347F5DD0EE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000C0-6F89-EAE2-ABDF-47027BB43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9ACFD-974A-29B4-354F-C1D724AB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29DFF-90ED-477C-9540-AB8D03EA97B4}" type="datetimeFigureOut">
              <a:rPr lang="en-IN" smtClean="0"/>
              <a:t>23-08-2025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675B6-6FB1-04F4-0786-73F9E9511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DCDC5-7BAE-DA06-9D93-AEC671808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742F-5450-487B-9FE1-A9B3D1A5DC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4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F7106-DE2E-7D98-E8FB-1AF251BD3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37797-5F58-31C0-B2B6-ABFDA448B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22098-EEA5-36B5-C1E7-73C3F147E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29DFF-90ED-477C-9540-AB8D03EA97B4}" type="datetimeFigureOut">
              <a:rPr lang="en-IN" smtClean="0"/>
              <a:t>23-08-2025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46D2E-841C-4691-127A-328F40FDD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304FB-453E-F67C-C84D-ACF355814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742F-5450-487B-9FE1-A9B3D1A5DC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05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C52986-D49D-1A5C-611E-82BC3FC39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5373A8-30EC-B24B-EA8F-204A5C79A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83D9-FD0D-303D-8A68-89B943322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29DFF-90ED-477C-9540-AB8D03EA97B4}" type="datetimeFigureOut">
              <a:rPr lang="en-IN" smtClean="0"/>
              <a:t>23-08-2025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13B18-85B4-575B-9565-A8A6EF35B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9A53-1DAF-93C8-90CD-C8D56B1A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742F-5450-487B-9FE1-A9B3D1A5DC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33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DCE927-BB29-F193-2B96-E986CEF01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6984C-748F-A431-CA2A-53A7CEEED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0E3D6-10C5-2344-0A9B-2014CE8F13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29DFF-90ED-477C-9540-AB8D03EA97B4}" type="datetimeFigureOut">
              <a:rPr lang="en-IN" smtClean="0"/>
              <a:t>23-08-2025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012B2-9305-0182-2BA5-79B83AD91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4D2D-1A2D-8AA4-F5C0-F6797723D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B742F-5450-487B-9FE1-A9B3D1A5DC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255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EA74C-ED96-2880-3511-F09BF0E98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4513" y="2412517"/>
            <a:ext cx="8032360" cy="673353"/>
          </a:xfrm>
        </p:spPr>
        <p:txBody>
          <a:bodyPr>
            <a:normAutofit fontScale="90000"/>
          </a:bodyPr>
          <a:lstStyle/>
          <a:p>
            <a:r>
              <a:rPr lang="en-GB" sz="4800" b="1" noProof="1">
                <a:solidFill>
                  <a:schemeClr val="accent6"/>
                </a:solidFill>
                <a:latin typeface="Candara Light" panose="020E0502030303020204" pitchFamily="34" charset="0"/>
              </a:rPr>
              <a:t>July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FD596-1242-99FD-A99C-CB16D9DB8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5385" y="4538904"/>
            <a:ext cx="9193619" cy="1437792"/>
          </a:xfrm>
        </p:spPr>
        <p:txBody>
          <a:bodyPr/>
          <a:lstStyle/>
          <a:p>
            <a:r>
              <a:rPr lang="en-GB" b="1" noProof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Nekkanti Guna Sai Kiran, </a:t>
            </a:r>
          </a:p>
          <a:p>
            <a:r>
              <a:rPr lang="en-GB" b="1" noProof="1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MTech ECE  Student,</a:t>
            </a:r>
          </a:p>
          <a:p>
            <a:r>
              <a:rPr lang="en-GB" b="1" noProof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SPC Lab, IISC  Bangalore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367528-F5F2-BCB2-F77D-F96EE5895AC1}"/>
              </a:ext>
            </a:extLst>
          </p:cNvPr>
          <p:cNvSpPr txBox="1"/>
          <p:nvPr/>
        </p:nvSpPr>
        <p:spPr>
          <a:xfrm>
            <a:off x="2740541" y="460782"/>
            <a:ext cx="75836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noProof="1">
                <a:latin typeface="Arial Black" panose="020B0A04020102020204" pitchFamily="34" charset="0"/>
              </a:rPr>
              <a:t>JOURNAL WATCH </a:t>
            </a:r>
            <a:endParaRPr lang="en-IN" sz="5400" dirty="0"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1FFFAA-4F5E-044F-CE5B-0539ADC191FE}"/>
              </a:ext>
            </a:extLst>
          </p:cNvPr>
          <p:cNvSpPr txBox="1"/>
          <p:nvPr/>
        </p:nvSpPr>
        <p:spPr>
          <a:xfrm>
            <a:off x="2204483" y="1600200"/>
            <a:ext cx="8938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noProof="1">
                <a:solidFill>
                  <a:schemeClr val="accent1"/>
                </a:solidFill>
                <a:latin typeface="Century" panose="02040604050505020304" pitchFamily="18" charset="0"/>
              </a:rPr>
              <a:t>IEEE Transactions on Communications </a:t>
            </a:r>
            <a:endParaRPr lang="en-IN" sz="3600" b="1" dirty="0">
              <a:solidFill>
                <a:schemeClr val="accent1"/>
              </a:solidFill>
              <a:latin typeface="Century" panose="020406040505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E4F651-013D-5782-DDB1-051D1411F9D6}"/>
              </a:ext>
            </a:extLst>
          </p:cNvPr>
          <p:cNvCxnSpPr/>
          <p:nvPr/>
        </p:nvCxnSpPr>
        <p:spPr>
          <a:xfrm>
            <a:off x="1524000" y="3306725"/>
            <a:ext cx="9863470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D0B52CE-688A-11DF-494D-A468EEF33B34}"/>
              </a:ext>
            </a:extLst>
          </p:cNvPr>
          <p:cNvSpPr txBox="1"/>
          <p:nvPr/>
        </p:nvSpPr>
        <p:spPr>
          <a:xfrm>
            <a:off x="4839586" y="3843700"/>
            <a:ext cx="323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August 23, 2025</a:t>
            </a:r>
            <a:endParaRPr lang="en-IN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ndian Institute of Science - Wikipedia">
            <a:extLst>
              <a:ext uri="{FF2B5EF4-FFF2-40B4-BE49-F238E27FC236}">
                <a16:creationId xmlns:a16="http://schemas.microsoft.com/office/drawing/2014/main" id="{8E2002C3-3A55-56E4-B977-C241C1797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42" y="3843700"/>
            <a:ext cx="2933832" cy="261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lectrical Communication Engineering - ECE, IISc - #ECE #IISc Logo launched  !!!! | Facebook">
            <a:extLst>
              <a:ext uri="{FF2B5EF4-FFF2-40B4-BE49-F238E27FC236}">
                <a16:creationId xmlns:a16="http://schemas.microsoft.com/office/drawing/2014/main" id="{9D2BA899-7C27-45F6-4EFC-0946C0FA4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797" y="4446511"/>
            <a:ext cx="3867150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583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601A7-BB66-DC33-D5C8-6F2FB7EE2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60" y="85803"/>
            <a:ext cx="11834036" cy="63717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Orthogonal Chirp-Frequency Division Multiplexing</a:t>
            </a:r>
            <a:endParaRPr lang="en-IN" b="1" dirty="0">
              <a:solidFill>
                <a:schemeClr val="accent2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0F9552-F462-1107-6523-58E3F027F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79" y="1612651"/>
            <a:ext cx="10358342" cy="12797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146004" rIns="0" bIns="146004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OCDM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offers robustness to interference: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esource allocation difficult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average SNR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leading to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data rates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OFDM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efficient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is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 to interference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25C3784-2F1D-597E-4C6C-54688658F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604" y="4078472"/>
            <a:ext cx="7977305" cy="221599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a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unitary transform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Discrete Modular Chirp Transform (DMCT)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 division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the frequency band into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Unitary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Proposal of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OCFDM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 hybrid technique: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Merges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chirp waveform robustness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(from OCDM) with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frequency division flexibility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(from OFDM).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across sub-bands.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Tile geometry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introduces a new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degree of freedom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tuning between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OFDM-like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OCDM-like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behavior.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A18B52-A0F4-DF82-1B95-D22AA5A6D23C}"/>
              </a:ext>
            </a:extLst>
          </p:cNvPr>
          <p:cNvSpPr txBox="1"/>
          <p:nvPr/>
        </p:nvSpPr>
        <p:spPr>
          <a:xfrm>
            <a:off x="125360" y="2779528"/>
            <a:ext cx="113366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 system that combines 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robustness of chirp signaling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with 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flexibility of frequency division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enabling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2DE36-258A-749B-A82A-A3E32EB2246F}"/>
              </a:ext>
            </a:extLst>
          </p:cNvPr>
          <p:cNvSpPr txBox="1"/>
          <p:nvPr/>
        </p:nvSpPr>
        <p:spPr>
          <a:xfrm>
            <a:off x="125360" y="1249786"/>
            <a:ext cx="6225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3A9A72-AF60-EF69-7D29-5377D3F13673}"/>
              </a:ext>
            </a:extLst>
          </p:cNvPr>
          <p:cNvSpPr txBox="1"/>
          <p:nvPr/>
        </p:nvSpPr>
        <p:spPr>
          <a:xfrm>
            <a:off x="0" y="3575663"/>
            <a:ext cx="6225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623427-0449-ACDE-69C1-EE53C060C4B0}"/>
              </a:ext>
            </a:extLst>
          </p:cNvPr>
          <p:cNvSpPr txBox="1"/>
          <p:nvPr/>
        </p:nvSpPr>
        <p:spPr>
          <a:xfrm>
            <a:off x="232604" y="685730"/>
            <a:ext cx="11834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Túlio Fernandes Moreira , Mateus de Lima Filomeno , Wallace Alves Martins , and Moisés Vidal Ribeiro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A7BB53-575A-DF0C-239F-5A8C79574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464" y="3255261"/>
            <a:ext cx="2964544" cy="33127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3B6D06-478A-7152-7769-01661103504E}"/>
              </a:ext>
            </a:extLst>
          </p:cNvPr>
          <p:cNvSpPr txBox="1"/>
          <p:nvPr/>
        </p:nvSpPr>
        <p:spPr>
          <a:xfrm>
            <a:off x="2977737" y="2079931"/>
            <a:ext cx="6145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084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C4843-A7C1-EFA9-87FE-5D4D72188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2" y="3866394"/>
            <a:ext cx="6174752" cy="365542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A826A-FEBA-A3E5-4B90-4D5C54F2E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476" y="4313333"/>
            <a:ext cx="5348451" cy="2052746"/>
          </a:xfrm>
        </p:spPr>
        <p:txBody>
          <a:bodyPr>
            <a:noAutofit/>
          </a:bodyPr>
          <a:lstStyle/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Power Allocation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Tile Geometry Controls nSNR Variation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OCFDM, the choice of tile geometry affects how the frequency band is divided into voices</a:t>
            </a:r>
          </a:p>
          <a:p>
            <a:pPr lvl="1"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geometry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(with smaller, equal-sized voices) makes the nSNR follow the channel more closely, similar to OFDM.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9AA4A-E2B9-C79F-60B9-DE374D5C6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927" y="4443166"/>
            <a:ext cx="6433279" cy="18380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3F70F9-640C-AA43-9A54-D0EB3067B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520" y="64699"/>
            <a:ext cx="9184365" cy="16675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243F67-CF43-05EC-5DE5-E5C8D57E9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78" y="2073171"/>
            <a:ext cx="5680240" cy="1599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7F1E4E-6188-F48A-2169-30389E767F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047791"/>
            <a:ext cx="5972710" cy="165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985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85C77-A984-63AB-BE21-604F18ED7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02" y="146315"/>
            <a:ext cx="11293549" cy="846986"/>
          </a:xfrm>
        </p:spPr>
        <p:txBody>
          <a:bodyPr>
            <a:noAutofit/>
          </a:bodyPr>
          <a:lstStyle/>
          <a:p>
            <a:pPr algn="ctr"/>
            <a:r>
              <a:rPr lang="en-GB" sz="3600" b="1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Uplink Multi-User OTFS: Transmitter Design Based on Statistical Channel Information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9A4833-3FAB-EEB5-0F60-0AA4DB81E2DA}"/>
              </a:ext>
            </a:extLst>
          </p:cNvPr>
          <p:cNvSpPr txBox="1"/>
          <p:nvPr/>
        </p:nvSpPr>
        <p:spPr>
          <a:xfrm>
            <a:off x="425302" y="970754"/>
            <a:ext cx="116142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Mingcheng Nie, Shuangyang Li, Deepak Mishra, Jinhong Yuan, and Derrick Wing Kwan 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4499A3-A4C0-D316-6F0C-4DB4A267ED10}"/>
              </a:ext>
            </a:extLst>
          </p:cNvPr>
          <p:cNvSpPr txBox="1"/>
          <p:nvPr/>
        </p:nvSpPr>
        <p:spPr>
          <a:xfrm>
            <a:off x="425301" y="1788896"/>
            <a:ext cx="1161429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OTFS modulation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highly effective in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high-mobility environments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multi-user uplink OTFS systems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accurate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 estimation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allocation strategies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are needed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73927-4E31-3A2D-A526-4D3D238E1D15}"/>
              </a:ext>
            </a:extLst>
          </p:cNvPr>
          <p:cNvSpPr txBox="1"/>
          <p:nvPr/>
        </p:nvSpPr>
        <p:spPr>
          <a:xfrm>
            <a:off x="0" y="1422449"/>
            <a:ext cx="6097772" cy="366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sz="24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Motivation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C7359A-5A38-7541-71F6-C0D4FB1BD217}"/>
              </a:ext>
            </a:extLst>
          </p:cNvPr>
          <p:cNvSpPr txBox="1"/>
          <p:nvPr/>
        </p:nvSpPr>
        <p:spPr>
          <a:xfrm>
            <a:off x="799656" y="2958410"/>
            <a:ext cx="7340009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 </a:t>
            </a: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uplink multi-user OTFS transmission schemes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that: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only </a:t>
            </a: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statistical CSI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 </a:t>
            </a: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pilot and symbol power allocation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Maximize </a:t>
            </a: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achievable sum-rate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while ensuring </a:t>
            </a: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fairness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9C21D8-1717-95F4-779F-A1D46965671F}"/>
              </a:ext>
            </a:extLst>
          </p:cNvPr>
          <p:cNvSpPr txBox="1"/>
          <p:nvPr/>
        </p:nvSpPr>
        <p:spPr>
          <a:xfrm>
            <a:off x="-25696" y="2958410"/>
            <a:ext cx="6097772" cy="366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IN" sz="24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EA0E89-4E53-3182-9FF9-8F107DB6EBCA}"/>
              </a:ext>
            </a:extLst>
          </p:cNvPr>
          <p:cNvSpPr txBox="1"/>
          <p:nvPr/>
        </p:nvSpPr>
        <p:spPr>
          <a:xfrm>
            <a:off x="289292" y="4878092"/>
            <a:ext cx="7850373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spcBef>
                <a:spcPts val="300"/>
              </a:spcBef>
              <a:spcAft>
                <a:spcPts val="300"/>
              </a:spcAft>
              <a:buClr>
                <a:srgbClr val="00B050"/>
              </a:buClr>
              <a:buFont typeface="+mj-lt"/>
              <a:buAutoNum type="romanLcPeriod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Derived the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posterior Cramér-Rao Bound (PCRB)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using statistical CSI.</a:t>
            </a:r>
          </a:p>
          <a:p>
            <a:pPr marL="400050" indent="-400050">
              <a:spcBef>
                <a:spcPts val="300"/>
              </a:spcBef>
              <a:spcAft>
                <a:spcPts val="300"/>
              </a:spcAft>
              <a:buClr>
                <a:srgbClr val="00B050"/>
              </a:buClr>
              <a:buFont typeface="+mj-lt"/>
              <a:buAutoNum type="romanLcPeriod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and solved an optimization problem to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minimize average PCRB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a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closed-form solution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00050" indent="-400050">
              <a:spcBef>
                <a:spcPts val="300"/>
              </a:spcBef>
              <a:spcAft>
                <a:spcPts val="300"/>
              </a:spcAft>
              <a:buClr>
                <a:srgbClr val="00B050"/>
              </a:buClr>
              <a:buFont typeface="+mj-lt"/>
              <a:buAutoNum type="romanLcPeriod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Formulated and solved a 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fairness-aware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symbol power allocation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problem using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fractional programming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CAB7D0-8C3E-8A8F-CF42-8BDD0FE6A76B}"/>
              </a:ext>
            </a:extLst>
          </p:cNvPr>
          <p:cNvSpPr txBox="1"/>
          <p:nvPr/>
        </p:nvSpPr>
        <p:spPr>
          <a:xfrm>
            <a:off x="81515" y="4511645"/>
            <a:ext cx="6150934" cy="366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sz="24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Contributions 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8BD8F5-D38E-0007-45A4-E035021DE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665" y="3232561"/>
            <a:ext cx="3645090" cy="315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687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E6DA5B-82A4-E152-1496-94FDEC8DA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94" y="168411"/>
            <a:ext cx="7575176" cy="17613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458C3D-A9E9-E033-9B7B-3E912320E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919" y="4005999"/>
            <a:ext cx="3258322" cy="26433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EF0582-E815-17C1-59E3-8C8E747A8F8C}"/>
              </a:ext>
            </a:extLst>
          </p:cNvPr>
          <p:cNvSpPr txBox="1"/>
          <p:nvPr/>
        </p:nvSpPr>
        <p:spPr>
          <a:xfrm>
            <a:off x="7672163" y="3640982"/>
            <a:ext cx="6150934" cy="366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sz="24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E6932B-3E81-BD7C-2580-BCD4025E0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7951" y="285809"/>
            <a:ext cx="3674895" cy="8192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81DF54-EB85-9F73-75AF-D63713C1544C}"/>
              </a:ext>
            </a:extLst>
          </p:cNvPr>
          <p:cNvSpPr txBox="1"/>
          <p:nvPr/>
        </p:nvSpPr>
        <p:spPr>
          <a:xfrm>
            <a:off x="0" y="2128939"/>
            <a:ext cx="6745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ractional Programming :</a:t>
            </a:r>
            <a:endParaRPr lang="en-IN" sz="2000" dirty="0">
              <a:solidFill>
                <a:schemeClr val="accent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4B01311-ABEB-4877-6021-BBF2D21CB6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64" y="3317214"/>
            <a:ext cx="5685014" cy="32377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08DEEFA-F21F-AC24-C729-812F298A1A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7456" y="1340774"/>
            <a:ext cx="4693092" cy="19764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844361B-443E-AE47-6D9A-B2D0376986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2451" y="5839670"/>
            <a:ext cx="4046236" cy="77163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4928090-CA31-881E-73B8-4D12E61C030A}"/>
              </a:ext>
            </a:extLst>
          </p:cNvPr>
          <p:cNvGrpSpPr/>
          <p:nvPr/>
        </p:nvGrpSpPr>
        <p:grpSpPr>
          <a:xfrm>
            <a:off x="2897578" y="4328951"/>
            <a:ext cx="4340025" cy="1372461"/>
            <a:chOff x="3026601" y="3926523"/>
            <a:chExt cx="4375770" cy="140549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BA0F81C-5357-C275-7B58-4BF6DC93F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26601" y="3926523"/>
              <a:ext cx="4291035" cy="1301200"/>
            </a:xfrm>
            <a:prstGeom prst="rect">
              <a:avLst/>
            </a:prstGeom>
          </p:spPr>
        </p:pic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E4E7F4CC-191D-00AD-8255-57EDBF4AD4BE}"/>
                </a:ext>
              </a:extLst>
            </p:cNvPr>
            <p:cNvSpPr/>
            <p:nvPr/>
          </p:nvSpPr>
          <p:spPr>
            <a:xfrm>
              <a:off x="3111335" y="3926523"/>
              <a:ext cx="4291036" cy="1405498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A5E8C12-416C-D024-4ADB-76F1573CE9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8084" y="1892808"/>
            <a:ext cx="3737100" cy="1461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0A1F45-6209-766B-55D1-DE4259832E36}"/>
              </a:ext>
            </a:extLst>
          </p:cNvPr>
          <p:cNvSpPr txBox="1"/>
          <p:nvPr/>
        </p:nvSpPr>
        <p:spPr>
          <a:xfrm>
            <a:off x="5598755" y="3794158"/>
            <a:ext cx="4972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(52)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31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ED1EE-0084-6CAA-4720-C876D209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56673-9A7B-192A-BC8C-9796FEE56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59" y="107978"/>
            <a:ext cx="11570882" cy="701858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2800" b="1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CSI Feedback for RIS-Assisted Multi-User Systems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33E39-F9AF-0C5D-7919-B014CC8A73E1}"/>
              </a:ext>
            </a:extLst>
          </p:cNvPr>
          <p:cNvSpPr txBox="1"/>
          <p:nvPr/>
        </p:nvSpPr>
        <p:spPr>
          <a:xfrm>
            <a:off x="1466961" y="777580"/>
            <a:ext cx="93577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2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Jiajia</a:t>
            </a:r>
            <a:r>
              <a:rPr lang="en-IN" sz="2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Guo , Xi Yang , Chao-Kai Wen , Shi Jin, and Geoffrey Ye Li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A81EA-D35F-D80B-17FB-98313667A6E9}"/>
              </a:ext>
            </a:extLst>
          </p:cNvPr>
          <p:cNvSpPr txBox="1"/>
          <p:nvPr/>
        </p:nvSpPr>
        <p:spPr>
          <a:xfrm>
            <a:off x="99680" y="3267845"/>
            <a:ext cx="11953774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cooperative deep learning framework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reduces CSI feedback overhead by leveraging spatial correlation among neighboring UEs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requiring inter-UE communication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i="0" dirty="0"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9E95D2-EE82-9A9C-8EEB-0CFF680C729F}"/>
              </a:ext>
            </a:extLst>
          </p:cNvPr>
          <p:cNvSpPr txBox="1"/>
          <p:nvPr/>
        </p:nvSpPr>
        <p:spPr>
          <a:xfrm>
            <a:off x="99680" y="1494034"/>
            <a:ext cx="12092319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</a:pPr>
            <a:r>
              <a:rPr lang="en-US" sz="24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Motivation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RIS-assisted multi-user wireless systems,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state information (CSI) feedback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essential for optimizing performance. </a:t>
            </a:r>
            <a:endParaRPr lang="en-US" sz="2400" b="1" i="0" dirty="0"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AF5089-E098-73D3-28C2-046B745F4DB5}"/>
              </a:ext>
            </a:extLst>
          </p:cNvPr>
          <p:cNvSpPr txBox="1"/>
          <p:nvPr/>
        </p:nvSpPr>
        <p:spPr>
          <a:xfrm>
            <a:off x="99680" y="3995498"/>
            <a:ext cx="6097772" cy="366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IN" sz="24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 :</a:t>
            </a:r>
            <a:endParaRPr lang="en-IN" b="1" i="0" dirty="0"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3105EB-52EF-200F-F777-FC8065FBE9B6}"/>
              </a:ext>
            </a:extLst>
          </p:cNvPr>
          <p:cNvSpPr txBox="1"/>
          <p:nvPr/>
        </p:nvSpPr>
        <p:spPr>
          <a:xfrm>
            <a:off x="571816" y="2091109"/>
            <a:ext cx="448707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Feedback Overhead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Inefficient Use of Spatial Correlation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Phase Feedback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72BAF9-5673-28E5-E0F4-9EE302DFC6BA}"/>
              </a:ext>
            </a:extLst>
          </p:cNvPr>
          <p:cNvSpPr txBox="1"/>
          <p:nvPr/>
        </p:nvSpPr>
        <p:spPr>
          <a:xfrm>
            <a:off x="310559" y="4409858"/>
            <a:ext cx="7610283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IN" b="1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RIS-</a:t>
            </a:r>
            <a:r>
              <a:rPr lang="en-IN" b="1" i="0" dirty="0" err="1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CoCsiNet</a:t>
            </a:r>
            <a:r>
              <a:rPr lang="en-IN" b="1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novel deep learning-based CSI feedback system that splits CSI into shared and unique parts to reduce redundancy.</a:t>
            </a:r>
          </a:p>
          <a:p>
            <a:pPr marL="285750" indent="-28575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IN" b="1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 Station-Side Cooperative Decoding</a:t>
            </a:r>
            <a:r>
              <a:rPr lang="en-IN" b="0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an additional decoder and combination NN to reconstruct shared CSI from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neighboring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UEs.</a:t>
            </a:r>
          </a:p>
          <a:p>
            <a:pPr marL="285750" indent="-28575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IN" b="1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Magnitude-Dependent Phase Feedback (MDPF)</a:t>
            </a:r>
            <a:r>
              <a:rPr lang="en-IN" b="0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Introduces strategies that enhance phase feedback by incorporating CSI magnitude information.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E755F4-4BDA-8B24-1D25-16108EBB6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774" y="4121475"/>
            <a:ext cx="3891075" cy="231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68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F600F0-0A9B-9948-9F43-682804FE1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781" y="115614"/>
            <a:ext cx="6577219" cy="42080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E60BF8-811A-28ED-6A5A-12634C53F563}"/>
              </a:ext>
            </a:extLst>
          </p:cNvPr>
          <p:cNvSpPr txBox="1"/>
          <p:nvPr/>
        </p:nvSpPr>
        <p:spPr>
          <a:xfrm>
            <a:off x="99848" y="172895"/>
            <a:ext cx="5833241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0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UE Side </a:t>
            </a:r>
            <a:endParaRPr lang="en-US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300"/>
              </a:spcBef>
              <a:spcAft>
                <a:spcPts val="300"/>
              </a:spcAft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encoder uses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(FC) layers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followed by a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binary or quantization layer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generate a compact bitstream.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BS Side 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BS has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decoders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spcBef>
                <a:spcPts val="300"/>
              </a:spcBef>
              <a:spcAft>
                <a:spcPts val="300"/>
              </a:spcAft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Shared decoder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Extracts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CSI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(denoted as ∣H^0∣) from the feedback of both UEs.</a:t>
            </a:r>
          </a:p>
          <a:p>
            <a:pPr marL="742950" lvl="1" indent="-285750" algn="just">
              <a:spcBef>
                <a:spcPts val="300"/>
              </a:spcBef>
              <a:spcAft>
                <a:spcPts val="300"/>
              </a:spcAft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Individual decoders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Recover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 CSI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each UE (e.g., ∣H^10∣and ∣H^20∣).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28C56D-480C-1531-F844-2BCC13805A67}"/>
              </a:ext>
            </a:extLst>
          </p:cNvPr>
          <p:cNvSpPr txBox="1"/>
          <p:nvPr/>
        </p:nvSpPr>
        <p:spPr>
          <a:xfrm>
            <a:off x="-59306" y="3561459"/>
            <a:ext cx="5833241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just" rtl="0" eaLnBrk="1" latinLnBrk="0" hangingPunct="1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 i="0" kern="12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Cooperation Mechanisms</a:t>
            </a:r>
            <a:endParaRPr lang="en-IN" sz="2000" dirty="0"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300"/>
              </a:spcBef>
              <a:spcAft>
                <a:spcPts val="300"/>
              </a:spcAft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b="1" i="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Explicit Cooperation</a:t>
            </a:r>
            <a:r>
              <a:rPr lang="en-US" b="0" i="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Happens at the BS, where the shared decoder uses feedback from multiple UEs to extract common CSI.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300"/>
              </a:spcBef>
              <a:spcAft>
                <a:spcPts val="300"/>
              </a:spcAft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b="1" i="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Implicit Cooperation</a:t>
            </a:r>
            <a:r>
              <a:rPr lang="en-US" b="0" i="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Happens at the UE encoders, which are trained to </a:t>
            </a:r>
            <a:r>
              <a:rPr lang="en-US" b="1" i="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collaboratively compress shared CSI</a:t>
            </a:r>
            <a:r>
              <a:rPr lang="en-US" b="0" i="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without needing direct communication between UEs.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CE60EE9-57ED-74CD-AE0F-B694447B1D1A}"/>
              </a:ext>
            </a:extLst>
          </p:cNvPr>
          <p:cNvGrpSpPr/>
          <p:nvPr/>
        </p:nvGrpSpPr>
        <p:grpSpPr>
          <a:xfrm>
            <a:off x="5773935" y="4365010"/>
            <a:ext cx="6247271" cy="2377376"/>
            <a:chOff x="5773935" y="4365010"/>
            <a:chExt cx="6247271" cy="237737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2FAEEE-1FAD-884A-68D4-BAAE4CDA1F90}"/>
                </a:ext>
              </a:extLst>
            </p:cNvPr>
            <p:cNvSpPr txBox="1"/>
            <p:nvPr/>
          </p:nvSpPr>
          <p:spPr>
            <a:xfrm>
              <a:off x="5833241" y="4714916"/>
              <a:ext cx="6187965" cy="18620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just" rtl="0" eaLnBrk="1" latinLnBrk="0" hangingPunct="1">
                <a:lnSpc>
                  <a:spcPts val="1800"/>
                </a:lnSpc>
                <a:spcBef>
                  <a:spcPts val="900"/>
                </a:spcBef>
                <a:spcAft>
                  <a:spcPts val="300"/>
                </a:spcAft>
                <a:buNone/>
              </a:pPr>
              <a:r>
                <a:rPr lang="en-US" sz="2000" b="1" i="0" kern="1200" dirty="0">
                  <a:solidFill>
                    <a:schemeClr val="accent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Compared to Non-Cooperative Models</a:t>
              </a:r>
              <a:endParaRPr lang="en-IN" sz="20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just" rtl="0" eaLnBrk="1" latinLnBrk="0" hangingPunct="1">
                <a:spcBef>
                  <a:spcPts val="300"/>
                </a:spcBef>
                <a:spcAft>
                  <a:spcPts val="300"/>
                </a:spcAft>
                <a:buClr>
                  <a:srgbClr val="00B050"/>
                </a:buClr>
                <a:buFont typeface="Wingdings" panose="05000000000000000000" pitchFamily="2" charset="2"/>
                <a:buChar char="v"/>
              </a:pPr>
              <a:r>
                <a:rPr lang="en-US" b="0" i="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Traditional models require each UE to </a:t>
              </a:r>
              <a:r>
                <a:rPr lang="en-US" b="1" i="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independently transmit all CSI</a:t>
              </a:r>
              <a:r>
                <a:rPr lang="en-US" b="0" i="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including redundant shared parts.</a:t>
              </a:r>
              <a:endParaRPr lang="en-IN" dirty="0">
                <a:effectLst/>
              </a:endParaRPr>
            </a:p>
            <a:p>
              <a:pPr marL="285750" indent="-285750" algn="just" rtl="0" eaLnBrk="1" latinLnBrk="0" hangingPunct="1">
                <a:spcBef>
                  <a:spcPts val="300"/>
                </a:spcBef>
                <a:spcAft>
                  <a:spcPts val="300"/>
                </a:spcAft>
                <a:buClr>
                  <a:srgbClr val="00B050"/>
                </a:buClr>
                <a:buFont typeface="Wingdings" panose="05000000000000000000" pitchFamily="2" charset="2"/>
                <a:buChar char="v"/>
              </a:pPr>
              <a:r>
                <a:rPr lang="en-US" b="0" i="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RIS-</a:t>
              </a:r>
              <a:r>
                <a:rPr lang="en-US" b="0" i="0" kern="1200" dirty="0" err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CoCsiNet</a:t>
              </a:r>
              <a:r>
                <a:rPr lang="en-US" b="0" i="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avoids this by </a:t>
              </a:r>
              <a:r>
                <a:rPr lang="en-US" b="1" i="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collaboratively encoding shared CSI</a:t>
              </a:r>
              <a:r>
                <a:rPr lang="en-US" b="0" i="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reducing feedback overhead and improving efficiency.</a:t>
              </a:r>
              <a:endParaRPr lang="en-IN" dirty="0">
                <a:effectLst/>
              </a:endParaRPr>
            </a:p>
          </p:txBody>
        </p:sp>
        <p:sp>
          <p:nvSpPr>
            <p:cNvPr id="9" name="Double Wave 8">
              <a:extLst>
                <a:ext uri="{FF2B5EF4-FFF2-40B4-BE49-F238E27FC236}">
                  <a16:creationId xmlns:a16="http://schemas.microsoft.com/office/drawing/2014/main" id="{6DB3B49E-B77E-FFDD-571F-193366B0792F}"/>
                </a:ext>
              </a:extLst>
            </p:cNvPr>
            <p:cNvSpPr/>
            <p:nvPr/>
          </p:nvSpPr>
          <p:spPr>
            <a:xfrm>
              <a:off x="5773935" y="4365010"/>
              <a:ext cx="6247271" cy="2377376"/>
            </a:xfrm>
            <a:prstGeom prst="doubleWave">
              <a:avLst>
                <a:gd name="adj1" fmla="val 2439"/>
                <a:gd name="adj2" fmla="val -19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8184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9DFF6A-0AA3-0B4D-3C09-BD325DC67B12}"/>
              </a:ext>
            </a:extLst>
          </p:cNvPr>
          <p:cNvSpPr txBox="1"/>
          <p:nvPr/>
        </p:nvSpPr>
        <p:spPr>
          <a:xfrm>
            <a:off x="581418" y="972872"/>
            <a:ext cx="11483122" cy="4439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Optimizing Information Freshness in Uplink Multiuser SIMO Systems: Low-Complexity Scheduling Algorithms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Energy-Efficient Distributed Detection Through Feedback-Assisted Ordered Transmissions in the Presence of Fading and Quantization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Communication and Detection Scheme Based on Superimposed Waveform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b="1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 Channel Estimation in RIS-Aided MIMO Systems Using Atomic Norm Minimization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b="1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RIS-Aided Integrated Communication and Positioning Systems: A Correlation Dispersion Scheme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b="1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Near-Field Wideband Beamforming for RIS Based on Fresnel Zones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GB" b="1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IRS-Aided Multi-Cell Massive MIMO Systems With Impairments: SE Analysis and Optimization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9AE206-6216-9753-D3C1-BEE1403ECB3C}"/>
              </a:ext>
            </a:extLst>
          </p:cNvPr>
          <p:cNvSpPr txBox="1"/>
          <p:nvPr/>
        </p:nvSpPr>
        <p:spPr>
          <a:xfrm>
            <a:off x="0" y="51739"/>
            <a:ext cx="68404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Interesting Papers</a:t>
            </a:r>
            <a:endParaRPr lang="en-IN" sz="4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9584DCB1-F293-B9B2-E82C-B466072BEEE1}"/>
              </a:ext>
            </a:extLst>
          </p:cNvPr>
          <p:cNvSpPr/>
          <p:nvPr/>
        </p:nvSpPr>
        <p:spPr>
          <a:xfrm>
            <a:off x="127460" y="552893"/>
            <a:ext cx="11844800" cy="5432271"/>
          </a:xfrm>
          <a:prstGeom prst="horizontalScroll">
            <a:avLst>
              <a:gd name="adj" fmla="val 63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26" name="Picture 2" descr="Thank You Images - Free Download on Freepik">
            <a:extLst>
              <a:ext uri="{FF2B5EF4-FFF2-40B4-BE49-F238E27FC236}">
                <a16:creationId xmlns:a16="http://schemas.microsoft.com/office/drawing/2014/main" id="{FB532D2F-EDFA-40CE-DF18-6A51F078C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230" y="5781538"/>
            <a:ext cx="3550724" cy="1000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6505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9CA3C-4C46-2503-258B-B2930ED77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21" y="184371"/>
            <a:ext cx="11570882" cy="701858"/>
          </a:xfrm>
        </p:spPr>
        <p:txBody>
          <a:bodyPr>
            <a:normAutofit/>
          </a:bodyPr>
          <a:lstStyle/>
          <a:p>
            <a:r>
              <a:rPr lang="en-GB" sz="3600" b="1" noProof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Event-Triggered Communications Over AWGN Channels</a:t>
            </a:r>
            <a:endParaRPr lang="en-IN" sz="3600" b="1" dirty="0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6A763D-CF9C-F21D-1E98-C50808415A0C}"/>
              </a:ext>
            </a:extLst>
          </p:cNvPr>
          <p:cNvSpPr txBox="1"/>
          <p:nvPr/>
        </p:nvSpPr>
        <p:spPr>
          <a:xfrm>
            <a:off x="3931388" y="732582"/>
            <a:ext cx="6097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Yiyu Qiu and Wei Chen</a:t>
            </a:r>
            <a:endParaRPr lang="en-IN" sz="28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43618-DDC2-56C9-80F2-90B0991F1E8E}"/>
              </a:ext>
            </a:extLst>
          </p:cNvPr>
          <p:cNvSpPr txBox="1"/>
          <p:nvPr/>
        </p:nvSpPr>
        <p:spPr>
          <a:xfrm>
            <a:off x="310559" y="1622249"/>
            <a:ext cx="115708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communication systems transmit data periodically, even when no meaningful change occurs, leading to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wasted energy and bandwidth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ETC research focuses on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application-layer sampling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ignoring the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physical-layer transmission behavior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transmission frequency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as a cost metric is misleading;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power consumption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gives a fairer comparison between ETC and periodic communication.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4667C-65ED-1982-0FAA-4E55F5BFABE5}"/>
              </a:ext>
            </a:extLst>
          </p:cNvPr>
          <p:cNvSpPr txBox="1"/>
          <p:nvPr/>
        </p:nvSpPr>
        <p:spPr>
          <a:xfrm>
            <a:off x="99681" y="3245776"/>
            <a:ext cx="6097772" cy="366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:</a:t>
            </a:r>
            <a:endParaRPr lang="en-US" sz="2400" b="1" i="0" dirty="0"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2E5E80-1C8F-04B7-656B-DBC622FCDB2E}"/>
              </a:ext>
            </a:extLst>
          </p:cNvPr>
          <p:cNvSpPr txBox="1"/>
          <p:nvPr/>
        </p:nvSpPr>
        <p:spPr>
          <a:xfrm>
            <a:off x="284421" y="3612223"/>
            <a:ext cx="117303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 </a:t>
            </a:r>
            <a:r>
              <a:rPr lang="en-IN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physical-layer framework</a:t>
            </a: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Event-Triggered Communication (ETC) over AWGN channels, analyze its performance under </a:t>
            </a:r>
            <a:r>
              <a:rPr lang="en-IN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finite and infinite block length coding</a:t>
            </a: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design </a:t>
            </a:r>
            <a:r>
              <a:rPr lang="en-IN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multi-user ETC protocols</a:t>
            </a: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that optimize </a:t>
            </a:r>
            <a:r>
              <a:rPr lang="en-IN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efficiency</a:t>
            </a: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IN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signal estimation accuracy</a:t>
            </a:r>
            <a:r>
              <a:rPr lang="en-IN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1040C9-ACD2-6E26-AA50-C3BC1BFAB8D7}"/>
              </a:ext>
            </a:extLst>
          </p:cNvPr>
          <p:cNvSpPr txBox="1"/>
          <p:nvPr/>
        </p:nvSpPr>
        <p:spPr>
          <a:xfrm>
            <a:off x="99681" y="1328901"/>
            <a:ext cx="6097772" cy="366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US" sz="24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Motivation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98FDFA-49CA-98B9-C4C2-7F4717A4FDA8}"/>
              </a:ext>
            </a:extLst>
          </p:cNvPr>
          <p:cNvSpPr txBox="1"/>
          <p:nvPr/>
        </p:nvSpPr>
        <p:spPr>
          <a:xfrm>
            <a:off x="99681" y="4589419"/>
            <a:ext cx="6097772" cy="366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IN" sz="2400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 :</a:t>
            </a:r>
            <a:endParaRPr lang="en-IN" b="1" i="0" dirty="0"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E52FEE-B55D-9B66-151E-FE5B8FF6957B}"/>
              </a:ext>
            </a:extLst>
          </p:cNvPr>
          <p:cNvSpPr txBox="1"/>
          <p:nvPr/>
        </p:nvSpPr>
        <p:spPr>
          <a:xfrm>
            <a:off x="284421" y="5102065"/>
            <a:ext cx="11326332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chemeClr val="accent2"/>
                </a:solidFill>
                <a:effectLst/>
                <a:latin typeface="Segoe Sans"/>
              </a:rPr>
              <a:t>Channel Coding Analysis</a:t>
            </a:r>
            <a:r>
              <a:rPr lang="en-US" b="0" i="0" dirty="0">
                <a:solidFill>
                  <a:schemeClr val="accent2"/>
                </a:solidFill>
                <a:effectLst/>
                <a:latin typeface="Segoe Sans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1600" b="0" i="0" dirty="0">
                <a:effectLst/>
                <a:latin typeface="Segoe Sans"/>
              </a:rPr>
              <a:t>Shows that Shannon’s capacity holds for ETC in the infinite block length regime.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1600" b="0" i="0" dirty="0">
                <a:effectLst/>
                <a:latin typeface="Segoe Sans"/>
              </a:rPr>
              <a:t>Derives coding rate and error bounds for finite block length scenarios, including fading channels</a:t>
            </a:r>
            <a:r>
              <a:rPr lang="en-US" b="0" i="0" dirty="0">
                <a:effectLst/>
                <a:latin typeface="Sego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8398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579A3B-51CF-1E54-6C15-23DA1471FD6A}"/>
              </a:ext>
            </a:extLst>
          </p:cNvPr>
          <p:cNvSpPr txBox="1"/>
          <p:nvPr/>
        </p:nvSpPr>
        <p:spPr>
          <a:xfrm>
            <a:off x="114299" y="225907"/>
            <a:ext cx="11305067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Multi-User ETC Protocols</a:t>
            </a:r>
            <a:r>
              <a:rPr lang="en-US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Proposes two strategies: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multiplexing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joint coding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Model’s distortion and power tradeoffs, and optimises the number of users sharing the channel.</a:t>
            </a:r>
          </a:p>
          <a:p>
            <a:pPr marL="285750" indent="-285750" algn="l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Distortion Metric</a:t>
            </a:r>
            <a:r>
              <a:rPr lang="en-US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Introduces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misalignment time ratio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as a new metric to evaluate real-time estimation distortion, enabling fair comparison with periodic communication.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9818F-D616-9F5C-56BA-D36A6B83D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478" y="2241843"/>
            <a:ext cx="6435734" cy="42567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13CFAC-1481-AEFA-EA49-153BC26BFB5F}"/>
              </a:ext>
            </a:extLst>
          </p:cNvPr>
          <p:cNvSpPr txBox="1"/>
          <p:nvPr/>
        </p:nvSpPr>
        <p:spPr>
          <a:xfrm>
            <a:off x="213978" y="2689250"/>
            <a:ext cx="588202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a source generating signal X(t), a channel for transmission, and an estimator reconstructing 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source follows a semi-Markov process, and transmission is triggered only when events occur, minimizing communication cost.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516D00-E623-3850-7119-73A265D3ACAB}"/>
              </a:ext>
            </a:extLst>
          </p:cNvPr>
          <p:cNvSpPr txBox="1"/>
          <p:nvPr/>
        </p:nvSpPr>
        <p:spPr>
          <a:xfrm>
            <a:off x="8624" y="2289140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Model</a:t>
            </a:r>
            <a:r>
              <a:rPr lang="en-US" sz="2000" b="0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5C5698-88A7-2FEC-2E48-368EF954A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166" y="2978364"/>
            <a:ext cx="425303" cy="3021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599A6A0-11B3-0A39-4667-3E22A756EA1A}"/>
              </a:ext>
            </a:extLst>
          </p:cNvPr>
          <p:cNvSpPr txBox="1"/>
          <p:nvPr/>
        </p:nvSpPr>
        <p:spPr>
          <a:xfrm>
            <a:off x="114299" y="4460477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Distortion is measured using Mean Square Error (MSE):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8C925F3-2CF1-254D-15F5-FF8572CC5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318" y="4879840"/>
            <a:ext cx="2947227" cy="41026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48E0DC7-4F27-AEAE-216A-57EA9BD00DA2}"/>
              </a:ext>
            </a:extLst>
          </p:cNvPr>
          <p:cNvSpPr txBox="1"/>
          <p:nvPr/>
        </p:nvSpPr>
        <p:spPr>
          <a:xfrm>
            <a:off x="191046" y="539017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time-averaged distortion 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AA4F5AE-B97A-BFE2-AB2D-92A4E31E4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748" y="5855636"/>
            <a:ext cx="4046368" cy="79340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8C090A5-0822-F45B-C45C-87F9603D47BB}"/>
              </a:ext>
            </a:extLst>
          </p:cNvPr>
          <p:cNvSpPr txBox="1"/>
          <p:nvPr/>
        </p:nvSpPr>
        <p:spPr>
          <a:xfrm>
            <a:off x="8624" y="4108823"/>
            <a:ext cx="6129668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IN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Distortion Metric</a:t>
            </a:r>
          </a:p>
        </p:txBody>
      </p:sp>
    </p:spTree>
    <p:extLst>
      <p:ext uri="{BB962C8B-B14F-4D97-AF65-F5344CB8AC3E}">
        <p14:creationId xmlns:p14="http://schemas.microsoft.com/office/powerpoint/2010/main" val="3828528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99310-EEE0-D618-7259-75511252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13" y="75555"/>
            <a:ext cx="11429144" cy="550257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ORTHONORMAL S-TRANSFORM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D2F6F3-163C-8ABE-AF03-D12B4D464D1B}"/>
              </a:ext>
            </a:extLst>
          </p:cNvPr>
          <p:cNvSpPr txBox="1"/>
          <p:nvPr/>
        </p:nvSpPr>
        <p:spPr>
          <a:xfrm>
            <a:off x="97713" y="583475"/>
            <a:ext cx="117228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egoe Sans"/>
              </a:rPr>
              <a:t>The DOST divides the time-frequency plane into </a:t>
            </a:r>
            <a:r>
              <a:rPr lang="en-US" b="1" i="0" dirty="0">
                <a:effectLst/>
                <a:latin typeface="Segoe Sans"/>
              </a:rPr>
              <a:t>tiles</a:t>
            </a:r>
            <a:r>
              <a:rPr lang="en-US" b="0" i="0" dirty="0">
                <a:effectLst/>
                <a:latin typeface="Segoe Sans"/>
              </a:rPr>
              <a:t> (or "voices") that represent specific frequency bands over specific time intervals. Each tile is processed using a </a:t>
            </a:r>
            <a:r>
              <a:rPr lang="en-US" b="1" i="0" dirty="0">
                <a:effectLst/>
                <a:latin typeface="Segoe Sans"/>
              </a:rPr>
              <a:t>block-diagonal matrix</a:t>
            </a:r>
            <a:r>
              <a:rPr lang="en-US" b="0" i="0" dirty="0">
                <a:effectLst/>
                <a:latin typeface="Segoe Sans"/>
              </a:rPr>
              <a:t>, where each block corresponds to a different frequency band.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B0EDA0-C6C4-7F8F-C8B2-35F0232B0AFB}"/>
              </a:ext>
            </a:extLst>
          </p:cNvPr>
          <p:cNvSpPr txBox="1"/>
          <p:nvPr/>
        </p:nvSpPr>
        <p:spPr>
          <a:xfrm>
            <a:off x="97713" y="1391610"/>
            <a:ext cx="8322068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b="0" i="0" dirty="0">
                <a:effectLst/>
                <a:latin typeface="Segoe Sans"/>
              </a:rPr>
              <a:t>The DOST transform is defined as: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b="0" i="0" dirty="0">
                <a:effectLst/>
                <a:latin typeface="Segoe Sans"/>
              </a:rPr>
              <a:t>Where: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lang="en-US" b="0" i="0" dirty="0">
              <a:effectLst/>
              <a:latin typeface="Segoe San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5CE449-B694-89C0-0D42-BD35EDC9E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423" y="1788758"/>
            <a:ext cx="2343477" cy="352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C1D3898-9FA6-66B3-566F-4167A0D4A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049" y="1331899"/>
            <a:ext cx="2860013" cy="143678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499AF15-64BA-F8EB-CE26-9B5BB045668C}"/>
              </a:ext>
            </a:extLst>
          </p:cNvPr>
          <p:cNvSpPr txBox="1"/>
          <p:nvPr/>
        </p:nvSpPr>
        <p:spPr>
          <a:xfrm>
            <a:off x="97713" y="2330752"/>
            <a:ext cx="73323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the number of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(frequency bands).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βp × βp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matrix that processes the signal in the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p-th voice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total size of all blocks adds up to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i.e.,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9D7E9EA-381A-18B3-86DB-0EBEC1361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756" y="3064483"/>
            <a:ext cx="924675" cy="53130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A41A9D4-C3BB-F240-FF0C-D00DE20F7B77}"/>
              </a:ext>
            </a:extLst>
          </p:cNvPr>
          <p:cNvSpPr txBox="1"/>
          <p:nvPr/>
        </p:nvSpPr>
        <p:spPr>
          <a:xfrm>
            <a:off x="0" y="3540262"/>
            <a:ext cx="6143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block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defined element-wise as: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04AA8E8-59B9-54AA-FDB5-873E56DE93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975" y="5394029"/>
            <a:ext cx="2413944" cy="131496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55ACDE5-7248-3704-FAC5-AEB7B25AF43C}"/>
              </a:ext>
            </a:extLst>
          </p:cNvPr>
          <p:cNvSpPr txBox="1"/>
          <p:nvPr/>
        </p:nvSpPr>
        <p:spPr>
          <a:xfrm>
            <a:off x="166412" y="3936231"/>
            <a:ext cx="6143946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∈ [0,</a:t>
            </a:r>
            <a:r>
              <a:rPr lang="en-US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βp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​−1]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τp,m​: Time index for the m-th tile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νp​: Central frequency index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βp​: Number of tiles in the p-th voice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41CE093-6DB4-3004-8C17-A87591BC4B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3751" y="3701052"/>
            <a:ext cx="2905561" cy="75771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B61B5A1-51A3-CC7D-F78B-9DE6ABBEB3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3177" y="4802236"/>
            <a:ext cx="3778818" cy="182357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109381C-2D34-2AA1-46A8-18D36991E0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4678" y="1391609"/>
            <a:ext cx="3585424" cy="507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08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E94BF8-A12C-F662-0232-1E4E8C4467E6}"/>
              </a:ext>
            </a:extLst>
          </p:cNvPr>
          <p:cNvSpPr txBox="1"/>
          <p:nvPr/>
        </p:nvSpPr>
        <p:spPr>
          <a:xfrm>
            <a:off x="0" y="0"/>
            <a:ext cx="118037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Tile Geometry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023E1F-0A1F-3927-F547-CC44DA213B64}"/>
              </a:ext>
            </a:extLst>
          </p:cNvPr>
          <p:cNvSpPr txBox="1"/>
          <p:nvPr/>
        </p:nvSpPr>
        <p:spPr>
          <a:xfrm>
            <a:off x="0" y="584775"/>
            <a:ext cx="617837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Tile Geometry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tile geometry is regular if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56718E-957D-7196-E855-E844BB146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701" y="684801"/>
            <a:ext cx="1943371" cy="7811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F47881-1C53-765A-CEBD-E61E738F7E7A}"/>
              </a:ext>
            </a:extLst>
          </p:cNvPr>
          <p:cNvSpPr txBox="1"/>
          <p:nvPr/>
        </p:nvSpPr>
        <p:spPr>
          <a:xfrm>
            <a:off x="8166" y="1361909"/>
            <a:ext cx="617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condition ensures: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875F6C-F0BD-ED9C-0D57-8FC18BEF1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76" y="1731241"/>
            <a:ext cx="3924848" cy="54300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03B30F0-D58A-442E-5C72-AAEED9950013}"/>
              </a:ext>
            </a:extLst>
          </p:cNvPr>
          <p:cNvSpPr txBox="1"/>
          <p:nvPr/>
        </p:nvSpPr>
        <p:spPr>
          <a:xfrm>
            <a:off x="4842344" y="115417"/>
            <a:ext cx="7349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Uniform Geometry: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divides the frequency band into equal-sized voices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3F2300-9F15-DAFA-6CA6-81A351EBA1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774" y="508934"/>
            <a:ext cx="3724795" cy="82879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35ECBF5-1824-A9B9-EAF7-AE26960FD836}"/>
              </a:ext>
            </a:extLst>
          </p:cNvPr>
          <p:cNvSpPr txBox="1"/>
          <p:nvPr/>
        </p:nvSpPr>
        <p:spPr>
          <a:xfrm>
            <a:off x="4842344" y="1417919"/>
            <a:ext cx="617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Octave Geometry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uses dyadic progression: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5B806D0-2982-FCAE-2AFA-D6E5AFFB89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086" y="1867445"/>
            <a:ext cx="3629532" cy="111458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9229187-01CB-22AE-62C5-BA6291F5C41B}"/>
              </a:ext>
            </a:extLst>
          </p:cNvPr>
          <p:cNvSpPr txBox="1"/>
          <p:nvPr/>
        </p:nvSpPr>
        <p:spPr>
          <a:xfrm>
            <a:off x="4842344" y="3062220"/>
            <a:ext cx="617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3)β-Geometry: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balances complexity and performance: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4A6884B-731F-B0C9-8E5B-3D1FBA3812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086" y="3511746"/>
            <a:ext cx="3309930" cy="201132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9915C1E-26B9-1313-D5B0-F4F5187FFB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935" y="3048277"/>
            <a:ext cx="2629451" cy="29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5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1F1CB-66E0-7243-C5D2-CCF254884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90" y="133565"/>
            <a:ext cx="10439400" cy="66327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Discrete Modular Chirp Transform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A64D7-4D86-7317-52DA-445AB46C3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04126"/>
            <a:ext cx="6103252" cy="2706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3AE930-BC3B-2D2E-9C2F-ED601E163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90" y="904126"/>
            <a:ext cx="5680240" cy="1599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4EF305-0AD2-A642-F14E-26B800F1F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90" y="2547273"/>
            <a:ext cx="5972710" cy="16504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521F19-3620-9698-1B10-3F915FFF8F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90" y="4267427"/>
            <a:ext cx="6103252" cy="20406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0291B2-D3C4-BC61-126F-DA5E080E09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5036" y="4197772"/>
            <a:ext cx="5972710" cy="7078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7A6205-7BAA-44E5-A048-BCD2B88682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2840" y="5286605"/>
            <a:ext cx="4644631" cy="102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85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36E9A-D767-1ADE-61C5-F32577530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694"/>
            <a:ext cx="6859772" cy="68059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OCFDM</a:t>
            </a:r>
            <a:endParaRPr lang="en-IN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BAFD2-042E-E7E2-6E36-1163DADDE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542" y="776172"/>
            <a:ext cx="9184365" cy="16675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4B501A-3109-6D8F-F64B-51A3412F93DE}"/>
              </a:ext>
            </a:extLst>
          </p:cNvPr>
          <p:cNvSpPr txBox="1"/>
          <p:nvPr/>
        </p:nvSpPr>
        <p:spPr>
          <a:xfrm>
            <a:off x="2012212" y="251326"/>
            <a:ext cx="7780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analogous to OFDM but uses chirps instead of sinusoids.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E252DB-3820-EFEE-5E1A-A433CAC39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22" y="2443606"/>
            <a:ext cx="2152950" cy="5715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964999-F3BE-09A3-1A42-B1200C5DEDC7}"/>
              </a:ext>
            </a:extLst>
          </p:cNvPr>
          <p:cNvSpPr txBox="1"/>
          <p:nvPr/>
        </p:nvSpPr>
        <p:spPr>
          <a:xfrm>
            <a:off x="107284" y="2973691"/>
            <a:ext cx="8492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Ch is the circulant convolution matrix and v ∈ CN ×1 is the additive noise vector.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C2D9C6-BCF3-AF71-DB3C-2A8B9BA99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027" y="3452344"/>
            <a:ext cx="2671517" cy="8861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E6EAE1-81F6-575D-94FA-9D70AC90C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98" y="4387195"/>
            <a:ext cx="5113953" cy="55435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52C3C1-7F36-1691-AEBD-CC687E7880D0}"/>
              </a:ext>
            </a:extLst>
          </p:cNvPr>
          <p:cNvSpPr txBox="1"/>
          <p:nvPr/>
        </p:nvSpPr>
        <p:spPr>
          <a:xfrm>
            <a:off x="203624" y="5024654"/>
            <a:ext cx="6193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Since Ch is circulant: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68AED2-A16A-269A-CECB-2641EBB411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3572" y="5051038"/>
            <a:ext cx="2419688" cy="685896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03676D-4826-B73B-8AB5-29C2B57FEE4A}"/>
              </a:ext>
            </a:extLst>
          </p:cNvPr>
          <p:cNvCxnSpPr/>
          <p:nvPr/>
        </p:nvCxnSpPr>
        <p:spPr>
          <a:xfrm>
            <a:off x="5902399" y="3742660"/>
            <a:ext cx="0" cy="29026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2C53460-45D8-8486-5EAB-F14906CC24B8}"/>
              </a:ext>
            </a:extLst>
          </p:cNvPr>
          <p:cNvSpPr txBox="1"/>
          <p:nvPr/>
        </p:nvSpPr>
        <p:spPr>
          <a:xfrm>
            <a:off x="203624" y="5711498"/>
            <a:ext cx="6193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ΛhF is a diagonal matrix derived from: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755349C-B543-498F-AB68-7BA31E5833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820" y="6080830"/>
            <a:ext cx="4382383" cy="70878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44CA29E-29B7-3480-341D-A13A41E5E929}"/>
              </a:ext>
            </a:extLst>
          </p:cNvPr>
          <p:cNvSpPr txBox="1"/>
          <p:nvPr/>
        </p:nvSpPr>
        <p:spPr>
          <a:xfrm>
            <a:off x="5998536" y="3514978"/>
            <a:ext cx="6193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zero-forcing (ZF) equalization,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3E24B92-8D0C-23E3-557A-32FB322384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7279" y="3492795"/>
            <a:ext cx="1117694" cy="4292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247824A-5221-97C1-4553-CE72CE2398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0596" y="4039853"/>
            <a:ext cx="4459101" cy="90474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C71F2CA-B0E5-EFB6-2CA9-07C9F85FC932}"/>
              </a:ext>
            </a:extLst>
          </p:cNvPr>
          <p:cNvSpPr txBox="1"/>
          <p:nvPr/>
        </p:nvSpPr>
        <p:spPr>
          <a:xfrm>
            <a:off x="5998536" y="5303262"/>
            <a:ext cx="6193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OCFDM leverages chirp-based modulation and DMCT to achieve robust communication over LTI channels, with efficient equalization and demodulation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347579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7228EF-B8BC-2F24-2E9F-8A0B33FFD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08" y="999771"/>
            <a:ext cx="6246753" cy="24426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68958A-B9A0-7EA9-CFD0-6108CE0810C3}"/>
              </a:ext>
            </a:extLst>
          </p:cNvPr>
          <p:cNvSpPr txBox="1"/>
          <p:nvPr/>
        </p:nvSpPr>
        <p:spPr>
          <a:xfrm>
            <a:off x="400794" y="3634346"/>
            <a:ext cx="88382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w_u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denotes the weighting factor of the u-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E_tot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denotes the total symbol power budget of the system.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E_max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puts an upper limit on the transmission power of each user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49D723-3694-1006-34D6-A8A056376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442" y="879139"/>
            <a:ext cx="4477375" cy="10002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15C754-4288-2553-351D-1A743DC76BD3}"/>
              </a:ext>
            </a:extLst>
          </p:cNvPr>
          <p:cNvSpPr txBox="1"/>
          <p:nvPr/>
        </p:nvSpPr>
        <p:spPr>
          <a:xfrm>
            <a:off x="7705281" y="2106426"/>
            <a:ext cx="3743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priori channel statistical information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C4C35360-A142-87AD-D9E9-43F8D9223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794" y="4795897"/>
            <a:ext cx="1146265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change the objective function?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contains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logarithmic SINR terms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where SINR is in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ratio form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the problem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non-convex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difficult to optimize.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do they change it?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apply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quadratic transform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each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logarithmic SINR term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converting the fractional form into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equivalent, tractable formulation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allowing optimal solution.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C824749-1157-BC5A-146D-0E1EDE943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185" y="2971587"/>
            <a:ext cx="4572638" cy="113363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D3542562-4B27-40E3-0053-7CAF76069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694"/>
            <a:ext cx="7172696" cy="680595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Change in the Objective Function</a:t>
            </a:r>
            <a:endParaRPr lang="en-IN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01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D4C3C41E47044EA2AD423BF6FBFB74" ma:contentTypeVersion="10" ma:contentTypeDescription="Create a new document." ma:contentTypeScope="" ma:versionID="da25dcdb27518f95867c82666f21da4b">
  <xsd:schema xmlns:xsd="http://www.w3.org/2001/XMLSchema" xmlns:xs="http://www.w3.org/2001/XMLSchema" xmlns:p="http://schemas.microsoft.com/office/2006/metadata/properties" xmlns:ns3="6a3aa372-8461-47a2-9d8d-d0af0cb80c0c" targetNamespace="http://schemas.microsoft.com/office/2006/metadata/properties" ma:root="true" ma:fieldsID="f676845e7451d01c26c27b4f0a754c42" ns3:_="">
    <xsd:import namespace="6a3aa372-8461-47a2-9d8d-d0af0cb80c0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3aa372-8461-47a2-9d8d-d0af0cb80c0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a3aa372-8461-47a2-9d8d-d0af0cb80c0c" xsi:nil="true"/>
  </documentManagement>
</p:properties>
</file>

<file path=customXml/itemProps1.xml><?xml version="1.0" encoding="utf-8"?>
<ds:datastoreItem xmlns:ds="http://schemas.openxmlformats.org/officeDocument/2006/customXml" ds:itemID="{8F30759C-8C59-4564-B81B-6BD1247763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3aa372-8461-47a2-9d8d-d0af0cb80c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2C2233-1593-4580-B685-48863B34AF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0B15D8-10B3-4B40-AB96-2B5D655DBB9C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6a3aa372-8461-47a2-9d8d-d0af0cb80c0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4720</TotalTime>
  <Words>2089</Words>
  <Application>Microsoft Office PowerPoint</Application>
  <PresentationFormat>Widescreen</PresentationFormat>
  <Paragraphs>191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Arial Black</vt:lpstr>
      <vt:lpstr>Calibri</vt:lpstr>
      <vt:lpstr>Calibri Light</vt:lpstr>
      <vt:lpstr>Candara Light</vt:lpstr>
      <vt:lpstr>Century</vt:lpstr>
      <vt:lpstr>Segoe Sans</vt:lpstr>
      <vt:lpstr>Times New Roman</vt:lpstr>
      <vt:lpstr>Wingdings</vt:lpstr>
      <vt:lpstr>Office Theme</vt:lpstr>
      <vt:lpstr>July 2025</vt:lpstr>
      <vt:lpstr>Orthogonal Chirp-Frequency Division Multiplexing</vt:lpstr>
      <vt:lpstr>Conclusion</vt:lpstr>
      <vt:lpstr>Uplink Multi-User OTFS: Transmitter Design Based on Statistical Channel Information</vt:lpstr>
      <vt:lpstr>PowerPoint Presentation</vt:lpstr>
      <vt:lpstr>Deep Learning-Based CSI Feedback for RIS-Assisted Multi-User Systems </vt:lpstr>
      <vt:lpstr>PowerPoint Presentation</vt:lpstr>
      <vt:lpstr>PowerPoint Presentation</vt:lpstr>
      <vt:lpstr>Event-Triggered Communications Over AWGN Channels</vt:lpstr>
      <vt:lpstr>PowerPoint Presentation</vt:lpstr>
      <vt:lpstr>DISCRETE ORTHONORMAL S-TRANSFORM</vt:lpstr>
      <vt:lpstr>PowerPoint Presentation</vt:lpstr>
      <vt:lpstr>Discrete Modular Chirp Transform</vt:lpstr>
      <vt:lpstr>OCFDM</vt:lpstr>
      <vt:lpstr>Why Change in the Objective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Nekkanti Guna Sai Kiran</dc:creator>
  <cp:lastModifiedBy>Nekkanti Guna Sai Kiran</cp:lastModifiedBy>
  <cp:revision>12</cp:revision>
  <dcterms:created xsi:type="dcterms:W3CDTF">2025-08-07T05:46:36Z</dcterms:created>
  <dcterms:modified xsi:type="dcterms:W3CDTF">2025-08-23T05:00:56Z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0x0101001AD4C3C41E47044EA2AD423BF6FBFB74</vt:lpwstr>
  </property>
</Properties>
</file>